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502400"/>
  <p:notesSz cx="11430000" cy="650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A94A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E0D6D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A94A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E0D6D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A94A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A94A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3625" y="1911350"/>
            <a:ext cx="5842634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A94A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2631439"/>
            <a:ext cx="5861684" cy="1863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E0D6D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900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2016125"/>
            <a:ext cx="559181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210"/>
              <a:t>International</a:t>
            </a:r>
            <a:r>
              <a:rPr dirty="0" spc="-220"/>
              <a:t> </a:t>
            </a:r>
            <a:r>
              <a:rPr dirty="0" spc="-85"/>
              <a:t>StudieS: </a:t>
            </a:r>
            <a:r>
              <a:rPr dirty="0" spc="-215"/>
              <a:t>UnderStanding</a:t>
            </a:r>
            <a:r>
              <a:rPr dirty="0" spc="-260"/>
              <a:t> </a:t>
            </a:r>
            <a:r>
              <a:rPr dirty="0" spc="-150"/>
              <a:t>a</a:t>
            </a:r>
            <a:r>
              <a:rPr dirty="0" spc="-260"/>
              <a:t> </a:t>
            </a:r>
            <a:r>
              <a:rPr dirty="0" spc="-245"/>
              <a:t>World</a:t>
            </a:r>
            <a:r>
              <a:rPr dirty="0" spc="-260"/>
              <a:t> </a:t>
            </a:r>
            <a:r>
              <a:rPr dirty="0" spc="-330"/>
              <a:t>That</a:t>
            </a:r>
            <a:r>
              <a:rPr dirty="0" spc="-254"/>
              <a:t> </a:t>
            </a:r>
            <a:r>
              <a:rPr dirty="0" spc="-204"/>
              <a:t>TalkS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3269615"/>
            <a:ext cx="5908040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Have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you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ever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wondered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how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something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that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happens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in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country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can 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affect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people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all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over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world?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Imagine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world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as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giant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group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chat.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Every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country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is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sending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messages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345">
                <a:solidFill>
                  <a:srgbClr val="E0D6DE"/>
                </a:solidFill>
                <a:latin typeface="Trebuchet MS"/>
                <a:cs typeface="Trebuchet MS"/>
              </a:rPr>
              <a:t>4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sometimes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friendly,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sometimes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confusing,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and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sometimes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in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all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caps.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Yet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everything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they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do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still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affects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everyone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else.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778000"/>
            <a:ext cx="399986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335"/>
              <a:t>The</a:t>
            </a:r>
            <a:r>
              <a:rPr dirty="0" spc="-270"/>
              <a:t> </a:t>
            </a:r>
            <a:r>
              <a:rPr dirty="0" spc="-235"/>
              <a:t>Ripple</a:t>
            </a:r>
            <a:r>
              <a:rPr dirty="0" spc="-265"/>
              <a:t> </a:t>
            </a:r>
            <a:r>
              <a:rPr dirty="0" spc="-310"/>
              <a:t>Effect:</a:t>
            </a:r>
            <a:r>
              <a:rPr dirty="0" spc="-265"/>
              <a:t> </a:t>
            </a:r>
            <a:r>
              <a:rPr dirty="0" spc="-275"/>
              <a:t>Global </a:t>
            </a:r>
            <a:r>
              <a:rPr dirty="0" spc="-85"/>
              <a:t>Connections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3050539"/>
            <a:ext cx="5925820" cy="15779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drought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in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one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country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can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raise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food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prices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in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another.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political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decision</a:t>
            </a:r>
            <a:r>
              <a:rPr dirty="0" sz="1350" spc="50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continent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can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shake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economies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another.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Even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trend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started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by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one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teenager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can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spread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globally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overnight.</a:t>
            </a:r>
            <a:endParaRPr sz="1350">
              <a:latin typeface="Trebuchet MS"/>
              <a:cs typeface="Trebuchet MS"/>
            </a:endParaRPr>
          </a:p>
          <a:p>
            <a:pPr marL="12700" marR="114935">
              <a:lnSpc>
                <a:spcPct val="134300"/>
              </a:lnSpc>
              <a:spcBef>
                <a:spcPts val="1500"/>
              </a:spcBef>
            </a:pP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This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exactly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what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International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Studies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tries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to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understand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345">
                <a:solidFill>
                  <a:srgbClr val="E0D6DE"/>
                </a:solidFill>
                <a:latin typeface="Trebuchet MS"/>
                <a:cs typeface="Trebuchet MS"/>
              </a:rPr>
              <a:t>4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how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countries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communicate,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argue,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cooperate,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shape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world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we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live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in.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168400"/>
            <a:ext cx="50495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85"/>
              <a:t>What</a:t>
            </a:r>
            <a:r>
              <a:rPr dirty="0" spc="-240"/>
              <a:t> </a:t>
            </a:r>
            <a:r>
              <a:rPr dirty="0"/>
              <a:t>is</a:t>
            </a:r>
            <a:r>
              <a:rPr dirty="0" spc="-240"/>
              <a:t> </a:t>
            </a:r>
            <a:r>
              <a:rPr dirty="0" spc="-210"/>
              <a:t>International</a:t>
            </a:r>
            <a:r>
              <a:rPr dirty="0" spc="-240"/>
              <a:t> </a:t>
            </a:r>
            <a:r>
              <a:rPr dirty="0" spc="-50"/>
              <a:t>Studies?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67275" y="1952624"/>
            <a:ext cx="5962650" cy="1581150"/>
            <a:chOff x="4867275" y="1952624"/>
            <a:chExt cx="5962650" cy="1581150"/>
          </a:xfrm>
        </p:grpSpPr>
        <p:sp>
          <p:nvSpPr>
            <p:cNvPr id="5" name="object 5" descr=""/>
            <p:cNvSpPr/>
            <p:nvPr/>
          </p:nvSpPr>
          <p:spPr>
            <a:xfrm>
              <a:off x="4886325" y="1962149"/>
              <a:ext cx="5934075" cy="1562100"/>
            </a:xfrm>
            <a:custGeom>
              <a:avLst/>
              <a:gdLst/>
              <a:ahLst/>
              <a:cxnLst/>
              <a:rect l="l" t="t" r="r" b="b"/>
              <a:pathLst>
                <a:path w="5934075" h="156210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95425"/>
                  </a:lnTo>
                  <a:lnTo>
                    <a:pt x="0" y="1499806"/>
                  </a:lnTo>
                  <a:lnTo>
                    <a:pt x="15621" y="1536103"/>
                  </a:lnTo>
                  <a:lnTo>
                    <a:pt x="51663" y="1558696"/>
                  </a:lnTo>
                  <a:lnTo>
                    <a:pt x="71196" y="1562100"/>
                  </a:lnTo>
                  <a:lnTo>
                    <a:pt x="5925451" y="1562100"/>
                  </a:lnTo>
                  <a:lnTo>
                    <a:pt x="5928258" y="1560931"/>
                  </a:lnTo>
                  <a:lnTo>
                    <a:pt x="5932906" y="1556283"/>
                  </a:lnTo>
                  <a:lnTo>
                    <a:pt x="5934075" y="1553476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87163" y="1952637"/>
              <a:ext cx="5942965" cy="1581150"/>
            </a:xfrm>
            <a:custGeom>
              <a:avLst/>
              <a:gdLst/>
              <a:ahLst/>
              <a:cxnLst/>
              <a:rect l="l" t="t" r="r" b="b"/>
              <a:pathLst>
                <a:path w="5942965" h="158115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561312"/>
                  </a:lnTo>
                  <a:lnTo>
                    <a:pt x="5923305" y="1561706"/>
                  </a:lnTo>
                  <a:lnTo>
                    <a:pt x="5922911" y="1562100"/>
                  </a:lnTo>
                  <a:lnTo>
                    <a:pt x="75349" y="1562100"/>
                  </a:lnTo>
                  <a:lnTo>
                    <a:pt x="67843" y="1561820"/>
                  </a:lnTo>
                  <a:lnTo>
                    <a:pt x="27038" y="1549146"/>
                  </a:lnTo>
                  <a:lnTo>
                    <a:pt x="1079" y="1519821"/>
                  </a:lnTo>
                  <a:lnTo>
                    <a:pt x="0" y="1515706"/>
                  </a:lnTo>
                  <a:lnTo>
                    <a:pt x="609" y="1519821"/>
                  </a:lnTo>
                  <a:lnTo>
                    <a:pt x="2413" y="1527035"/>
                  </a:lnTo>
                  <a:lnTo>
                    <a:pt x="4864" y="1533829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5927242" y="1581150"/>
                  </a:lnTo>
                  <a:lnTo>
                    <a:pt x="5932284" y="1579054"/>
                  </a:lnTo>
                  <a:lnTo>
                    <a:pt x="5936475" y="1574863"/>
                  </a:lnTo>
                  <a:lnTo>
                    <a:pt x="5936945" y="1574393"/>
                  </a:lnTo>
                  <a:lnTo>
                    <a:pt x="5940653" y="1570685"/>
                  </a:lnTo>
                  <a:lnTo>
                    <a:pt x="5942749" y="1565643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67275" y="19526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559725"/>
                  </a:lnTo>
                  <a:lnTo>
                    <a:pt x="0" y="1562557"/>
                  </a:lnTo>
                  <a:lnTo>
                    <a:pt x="18592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A94A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121275" y="2135187"/>
            <a:ext cx="545147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0">
                <a:solidFill>
                  <a:srgbClr val="E0D6DE"/>
                </a:solidFill>
                <a:latin typeface="Trebuchet MS"/>
                <a:cs typeface="Trebuchet MS"/>
              </a:rPr>
              <a:t>InterdiSciplinary</a:t>
            </a:r>
            <a:r>
              <a:rPr dirty="0" sz="1650" spc="1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E0D6DE"/>
                </a:solidFill>
                <a:latin typeface="Trebuchet MS"/>
                <a:cs typeface="Trebuchet MS"/>
              </a:rPr>
              <a:t>Approach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International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Studies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is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interdisciplinary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85">
                <a:solidFill>
                  <a:srgbClr val="E0D6DE"/>
                </a:solidFill>
                <a:latin typeface="Trebuchet MS"/>
                <a:cs typeface="Trebuchet MS"/>
              </a:rPr>
              <a:t>major,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combining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politics,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economics,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history,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culture,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communication.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We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study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them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together because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world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doesn9t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operate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in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separate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boxes.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867275" y="3705225"/>
            <a:ext cx="5962650" cy="1571625"/>
            <a:chOff x="4867275" y="3705225"/>
            <a:chExt cx="5962650" cy="1571625"/>
          </a:xfrm>
        </p:grpSpPr>
        <p:sp>
          <p:nvSpPr>
            <p:cNvPr id="10" name="object 10" descr=""/>
            <p:cNvSpPr/>
            <p:nvPr/>
          </p:nvSpPr>
          <p:spPr>
            <a:xfrm>
              <a:off x="4886325" y="3714750"/>
              <a:ext cx="5934075" cy="1552575"/>
            </a:xfrm>
            <a:custGeom>
              <a:avLst/>
              <a:gdLst/>
              <a:ahLst/>
              <a:cxnLst/>
              <a:rect l="l" t="t" r="r" b="b"/>
              <a:pathLst>
                <a:path w="5934075" h="1552575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85901"/>
                  </a:lnTo>
                  <a:lnTo>
                    <a:pt x="0" y="1490276"/>
                  </a:lnTo>
                  <a:lnTo>
                    <a:pt x="15621" y="1526580"/>
                  </a:lnTo>
                  <a:lnTo>
                    <a:pt x="51663" y="1549172"/>
                  </a:lnTo>
                  <a:lnTo>
                    <a:pt x="71196" y="1552576"/>
                  </a:lnTo>
                  <a:lnTo>
                    <a:pt x="5925451" y="1552576"/>
                  </a:lnTo>
                  <a:lnTo>
                    <a:pt x="5928258" y="1551410"/>
                  </a:lnTo>
                  <a:lnTo>
                    <a:pt x="5932906" y="1546762"/>
                  </a:lnTo>
                  <a:lnTo>
                    <a:pt x="5934075" y="1543954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87163" y="3705237"/>
              <a:ext cx="5942965" cy="1571625"/>
            </a:xfrm>
            <a:custGeom>
              <a:avLst/>
              <a:gdLst/>
              <a:ahLst/>
              <a:cxnLst/>
              <a:rect l="l" t="t" r="r" b="b"/>
              <a:pathLst>
                <a:path w="5942965" h="1571625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551774"/>
                  </a:lnTo>
                  <a:lnTo>
                    <a:pt x="5923305" y="1552181"/>
                  </a:lnTo>
                  <a:lnTo>
                    <a:pt x="592291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79" y="1510284"/>
                  </a:lnTo>
                  <a:lnTo>
                    <a:pt x="0" y="1506181"/>
                  </a:lnTo>
                  <a:lnTo>
                    <a:pt x="609" y="1510284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5927242" y="1571625"/>
                  </a:lnTo>
                  <a:lnTo>
                    <a:pt x="5932284" y="1569529"/>
                  </a:lnTo>
                  <a:lnTo>
                    <a:pt x="5936475" y="1565338"/>
                  </a:lnTo>
                  <a:lnTo>
                    <a:pt x="5936945" y="1564868"/>
                  </a:lnTo>
                  <a:lnTo>
                    <a:pt x="5940653" y="1561160"/>
                  </a:lnTo>
                  <a:lnTo>
                    <a:pt x="5942749" y="1556105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67275" y="3705225"/>
              <a:ext cx="76200" cy="1571625"/>
            </a:xfrm>
            <a:custGeom>
              <a:avLst/>
              <a:gdLst/>
              <a:ahLst/>
              <a:cxnLst/>
              <a:rect l="l" t="t" r="r" b="b"/>
              <a:pathLst>
                <a:path w="76200" h="1571625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550195"/>
                  </a:lnTo>
                  <a:lnTo>
                    <a:pt x="0" y="1553032"/>
                  </a:lnTo>
                  <a:lnTo>
                    <a:pt x="18592" y="1571626"/>
                  </a:lnTo>
                  <a:lnTo>
                    <a:pt x="76200" y="157162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A94A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121275" y="3887787"/>
            <a:ext cx="5525770" cy="1160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>
                <a:solidFill>
                  <a:srgbClr val="E0D6DE"/>
                </a:solidFill>
                <a:latin typeface="Trebuchet MS"/>
                <a:cs typeface="Trebuchet MS"/>
              </a:rPr>
              <a:t>Connected</a:t>
            </a:r>
            <a:r>
              <a:rPr dirty="0" sz="16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E0D6DE"/>
                </a:solidFill>
                <a:latin typeface="Trebuchet MS"/>
                <a:cs typeface="Trebuchet MS"/>
              </a:rPr>
              <a:t>World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1900"/>
              </a:lnSpc>
              <a:spcBef>
                <a:spcPts val="505"/>
              </a:spcBef>
            </a:pP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political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decision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can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affect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economy.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cultural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misunderstanding can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affect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diplomacy.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historical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conflict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can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influence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relationships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even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today.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4" name="object 14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720725"/>
            <a:ext cx="50469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35"/>
              <a:t>The</a:t>
            </a:r>
            <a:r>
              <a:rPr dirty="0" spc="-270"/>
              <a:t> </a:t>
            </a:r>
            <a:r>
              <a:rPr dirty="0" spc="-265"/>
              <a:t>Global</a:t>
            </a:r>
            <a:r>
              <a:rPr dirty="0" spc="-270"/>
              <a:t> </a:t>
            </a:r>
            <a:r>
              <a:rPr dirty="0" spc="-185"/>
              <a:t>ClaSSroom</a:t>
            </a:r>
            <a:r>
              <a:rPr dirty="0" spc="-270"/>
              <a:t> </a:t>
            </a:r>
            <a:r>
              <a:rPr dirty="0" spc="-150"/>
              <a:t>Analogy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1593214"/>
            <a:ext cx="5962015" cy="2254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To</a:t>
            </a:r>
            <a:r>
              <a:rPr dirty="0" sz="1350" spc="-8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make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it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simple,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think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of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world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as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huge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classroom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each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country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a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student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with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different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background,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language,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personality.</a:t>
            </a:r>
            <a:endParaRPr sz="1350">
              <a:latin typeface="Trebuchet MS"/>
              <a:cs typeface="Trebuchet MS"/>
            </a:endParaRPr>
          </a:p>
          <a:p>
            <a:pPr marL="12700" marR="33655">
              <a:lnSpc>
                <a:spcPct val="131900"/>
              </a:lnSpc>
              <a:spcBef>
                <a:spcPts val="1235"/>
              </a:spcBef>
            </a:pP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Some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students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are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quiet,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some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are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loud,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some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love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teamwork,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some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prefer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independence.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14">
                <a:solidFill>
                  <a:srgbClr val="E0D6DE"/>
                </a:solidFill>
                <a:latin typeface="Trebuchet MS"/>
                <a:cs typeface="Trebuchet MS"/>
              </a:rPr>
              <a:t>&lt;teacher,=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which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we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might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imagine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United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Nations,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tries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to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keep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peace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help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everyone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work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together.</a:t>
            </a:r>
            <a:endParaRPr sz="1350">
              <a:latin typeface="Trebuchet MS"/>
              <a:cs typeface="Trebuchet MS"/>
            </a:endParaRPr>
          </a:p>
          <a:p>
            <a:pPr marL="12700" marR="421005">
              <a:lnSpc>
                <a:spcPct val="134300"/>
              </a:lnSpc>
              <a:spcBef>
                <a:spcPts val="1200"/>
              </a:spcBef>
            </a:pP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Understanding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this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global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classroom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helps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us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make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sense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of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international behavior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global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challenges.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0875" y="1695449"/>
            <a:ext cx="3838574" cy="3838573"/>
          </a:xfrm>
          <a:prstGeom prst="rect">
            <a:avLst/>
          </a:prstGeom>
        </p:spPr>
      </p:pic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711325"/>
            <a:ext cx="48494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0"/>
              <a:t>Examining</a:t>
            </a:r>
            <a:r>
              <a:rPr dirty="0" spc="-235"/>
              <a:t> </a:t>
            </a:r>
            <a:r>
              <a:rPr dirty="0" spc="-245"/>
              <a:t>Real-World</a:t>
            </a:r>
            <a:r>
              <a:rPr dirty="0" spc="-235"/>
              <a:t> </a:t>
            </a:r>
            <a:r>
              <a:rPr dirty="0" spc="-90"/>
              <a:t>ISSueS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2597150"/>
            <a:ext cx="95027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In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our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85">
                <a:solidFill>
                  <a:srgbClr val="E0D6DE"/>
                </a:solidFill>
                <a:latin typeface="Trebuchet MS"/>
                <a:cs typeface="Trebuchet MS"/>
              </a:rPr>
              <a:t>major,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we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examine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real-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world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issues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345">
                <a:solidFill>
                  <a:srgbClr val="E0D6DE"/>
                </a:solidFill>
                <a:latin typeface="Trebuchet MS"/>
                <a:cs typeface="Trebuchet MS"/>
              </a:rPr>
              <a:t>4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but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not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as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isolated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events.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We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look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at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how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they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connect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influence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each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other.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00075" y="3057524"/>
            <a:ext cx="10229850" cy="685800"/>
            <a:chOff x="600075" y="3057524"/>
            <a:chExt cx="10229850" cy="685800"/>
          </a:xfrm>
        </p:grpSpPr>
        <p:sp>
          <p:nvSpPr>
            <p:cNvPr id="5" name="object 5" descr=""/>
            <p:cNvSpPr/>
            <p:nvPr/>
          </p:nvSpPr>
          <p:spPr>
            <a:xfrm>
              <a:off x="600075" y="3057524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5529" y="3267805"/>
              <a:ext cx="268565" cy="2557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010025" y="3057524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5479" y="3302616"/>
              <a:ext cx="268565" cy="18534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419975" y="3057524"/>
              <a:ext cx="3409950" cy="685800"/>
            </a:xfrm>
            <a:custGeom>
              <a:avLst/>
              <a:gdLst/>
              <a:ahLst/>
              <a:cxnLst/>
              <a:rect l="l" t="t" r="r" b="b"/>
              <a:pathLst>
                <a:path w="3409950" h="685800">
                  <a:moveTo>
                    <a:pt x="3238500" y="0"/>
                  </a:moveTo>
                  <a:lnTo>
                    <a:pt x="0" y="0"/>
                  </a:lnTo>
                  <a:lnTo>
                    <a:pt x="171450" y="342900"/>
                  </a:lnTo>
                  <a:lnTo>
                    <a:pt x="0" y="685800"/>
                  </a:lnTo>
                  <a:lnTo>
                    <a:pt x="3238500" y="685800"/>
                  </a:lnTo>
                  <a:lnTo>
                    <a:pt x="3409950" y="342900"/>
                  </a:lnTo>
                  <a:lnTo>
                    <a:pt x="323850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14098" y="3261379"/>
              <a:ext cx="231227" cy="268565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758825" y="3906837"/>
            <a:ext cx="170942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4">
                <a:solidFill>
                  <a:srgbClr val="E0D6DE"/>
                </a:solidFill>
                <a:latin typeface="Trebuchet MS"/>
                <a:cs typeface="Trebuchet MS"/>
              </a:rPr>
              <a:t>Conflict</a:t>
            </a:r>
            <a:r>
              <a:rPr dirty="0" sz="16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E0D6DE"/>
                </a:solidFill>
                <a:latin typeface="Trebuchet MS"/>
                <a:cs typeface="Trebuchet MS"/>
              </a:rPr>
              <a:t>OriginS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Why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do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conflicts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start?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68775" y="3906837"/>
            <a:ext cx="192786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0">
                <a:solidFill>
                  <a:srgbClr val="E0D6DE"/>
                </a:solidFill>
                <a:latin typeface="Trebuchet MS"/>
                <a:cs typeface="Trebuchet MS"/>
              </a:rPr>
              <a:t>Peace</a:t>
            </a:r>
            <a:r>
              <a:rPr dirty="0" sz="1650" spc="-10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E0D6DE"/>
                </a:solidFill>
                <a:latin typeface="Trebuchet MS"/>
                <a:cs typeface="Trebuchet MS"/>
              </a:rPr>
              <a:t>NegotiationS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How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peace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negotiated?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578725" y="3906837"/>
            <a:ext cx="309435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>
                <a:solidFill>
                  <a:srgbClr val="E0D6DE"/>
                </a:solidFill>
                <a:latin typeface="Trebuchet MS"/>
                <a:cs typeface="Trebuchet MS"/>
              </a:rPr>
              <a:t>Culture'S</a:t>
            </a:r>
            <a:r>
              <a:rPr dirty="0" sz="1650" spc="-9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E0D6DE"/>
                </a:solidFill>
                <a:latin typeface="Trebuchet MS"/>
                <a:cs typeface="Trebuchet MS"/>
              </a:rPr>
              <a:t>Role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How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does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culture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shape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communication?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4" name="object 14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644650"/>
            <a:ext cx="557466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335"/>
              <a:t>The</a:t>
            </a:r>
            <a:r>
              <a:rPr dirty="0" spc="-270"/>
              <a:t> </a:t>
            </a:r>
            <a:r>
              <a:rPr dirty="0" spc="-114"/>
              <a:t>Snack</a:t>
            </a:r>
            <a:r>
              <a:rPr dirty="0" spc="-270"/>
              <a:t> </a:t>
            </a:r>
            <a:r>
              <a:rPr dirty="0" spc="-310"/>
              <a:t>Trade:</a:t>
            </a:r>
            <a:r>
              <a:rPr dirty="0" spc="-265"/>
              <a:t> </a:t>
            </a:r>
            <a:r>
              <a:rPr dirty="0" spc="-360"/>
              <a:t>A</a:t>
            </a:r>
            <a:r>
              <a:rPr dirty="0" spc="-270"/>
              <a:t> </a:t>
            </a:r>
            <a:r>
              <a:rPr dirty="0" spc="-110"/>
              <a:t>MicrocoSm</a:t>
            </a:r>
            <a:r>
              <a:rPr dirty="0" spc="-270"/>
              <a:t> </a:t>
            </a:r>
            <a:r>
              <a:rPr dirty="0" spc="-160"/>
              <a:t>of </a:t>
            </a:r>
            <a:r>
              <a:rPr dirty="0" spc="-265"/>
              <a:t>Global</a:t>
            </a:r>
            <a:r>
              <a:rPr dirty="0" spc="-280"/>
              <a:t> </a:t>
            </a:r>
            <a:r>
              <a:rPr dirty="0" spc="-90"/>
              <a:t>MiSunderStanding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2898139"/>
            <a:ext cx="5819775" cy="186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0500">
              <a:lnSpc>
                <a:spcPct val="134300"/>
              </a:lnSpc>
              <a:spcBef>
                <a:spcPts val="100"/>
              </a:spcBef>
            </a:pP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Imagine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two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kids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trading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snacks.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One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says,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45">
                <a:solidFill>
                  <a:srgbClr val="E0D6DE"/>
                </a:solidFill>
                <a:latin typeface="Trebuchet MS"/>
                <a:cs typeface="Trebuchet MS"/>
              </a:rPr>
              <a:t>&lt;I9ll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give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you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my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cookies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for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your 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chips,=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but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other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refuses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because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in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their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culture,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sharing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about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friendship,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not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trading.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31900"/>
              </a:lnSpc>
              <a:spcBef>
                <a:spcPts val="1535"/>
              </a:spcBef>
            </a:pP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tiny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misunderstanding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like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that,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global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level,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can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grow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into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a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diplomatic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issue.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5">
                <a:solidFill>
                  <a:srgbClr val="E0D6DE"/>
                </a:solidFill>
                <a:latin typeface="Trebuchet MS"/>
                <a:cs typeface="Trebuchet MS"/>
              </a:rPr>
              <a:t>That9s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why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we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study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cultural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signals,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global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power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dynamics,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critical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decision-making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between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nations.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6496050"/>
          </a:xfrm>
          <a:custGeom>
            <a:avLst/>
            <a:gdLst/>
            <a:ahLst/>
            <a:cxnLst/>
            <a:rect l="l" t="t" r="r" b="b"/>
            <a:pathLst>
              <a:path w="11430000" h="6496050">
                <a:moveTo>
                  <a:pt x="11430000" y="0"/>
                </a:moveTo>
                <a:lnTo>
                  <a:pt x="0" y="0"/>
                </a:lnTo>
                <a:lnTo>
                  <a:pt x="0" y="6496050"/>
                </a:lnTo>
                <a:lnTo>
                  <a:pt x="11430000" y="6496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4"/>
            <a:ext cx="11430000" cy="214287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7375" y="2625725"/>
            <a:ext cx="56927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4"/>
              <a:t>ESSential</a:t>
            </a:r>
            <a:r>
              <a:rPr dirty="0" spc="-275"/>
              <a:t> </a:t>
            </a:r>
            <a:r>
              <a:rPr dirty="0" spc="-130"/>
              <a:t>SkillS</a:t>
            </a:r>
            <a:r>
              <a:rPr dirty="0" spc="-260"/>
              <a:t> </a:t>
            </a:r>
            <a:r>
              <a:rPr dirty="0" spc="-215"/>
              <a:t>for</a:t>
            </a:r>
            <a:r>
              <a:rPr dirty="0" spc="-265"/>
              <a:t> </a:t>
            </a:r>
            <a:r>
              <a:rPr dirty="0" spc="-150"/>
              <a:t>a</a:t>
            </a:r>
            <a:r>
              <a:rPr dirty="0" spc="-260"/>
              <a:t> </a:t>
            </a:r>
            <a:r>
              <a:rPr dirty="0" spc="-265"/>
              <a:t>Global</a:t>
            </a:r>
            <a:r>
              <a:rPr dirty="0" spc="-260"/>
              <a:t> </a:t>
            </a:r>
            <a:r>
              <a:rPr dirty="0" spc="-265"/>
              <a:t>Future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87375" y="3416300"/>
            <a:ext cx="722820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Studying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International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Studies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equips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us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with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vital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skills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for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navigating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our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interconnected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world.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00075" y="3876675"/>
            <a:ext cx="5029200" cy="990600"/>
          </a:xfrm>
          <a:custGeom>
            <a:avLst/>
            <a:gdLst/>
            <a:ahLst/>
            <a:cxnLst/>
            <a:rect l="l" t="t" r="r" b="b"/>
            <a:pathLst>
              <a:path w="5029200" h="990600">
                <a:moveTo>
                  <a:pt x="5029200" y="0"/>
                </a:moveTo>
                <a:lnTo>
                  <a:pt x="342900" y="0"/>
                </a:lnTo>
                <a:lnTo>
                  <a:pt x="334481" y="102"/>
                </a:lnTo>
                <a:lnTo>
                  <a:pt x="292585" y="3711"/>
                </a:lnTo>
                <a:lnTo>
                  <a:pt x="251447" y="12422"/>
                </a:lnTo>
                <a:lnTo>
                  <a:pt x="211678" y="26098"/>
                </a:lnTo>
                <a:lnTo>
                  <a:pt x="173883" y="44547"/>
                </a:lnTo>
                <a:lnTo>
                  <a:pt x="138636" y="67478"/>
                </a:lnTo>
                <a:lnTo>
                  <a:pt x="106459" y="94554"/>
                </a:lnTo>
                <a:lnTo>
                  <a:pt x="77837" y="125374"/>
                </a:lnTo>
                <a:lnTo>
                  <a:pt x="53198" y="159453"/>
                </a:lnTo>
                <a:lnTo>
                  <a:pt x="32921" y="196288"/>
                </a:lnTo>
                <a:lnTo>
                  <a:pt x="17305" y="235332"/>
                </a:lnTo>
                <a:lnTo>
                  <a:pt x="6588" y="275996"/>
                </a:lnTo>
                <a:lnTo>
                  <a:pt x="929" y="317682"/>
                </a:lnTo>
                <a:lnTo>
                  <a:pt x="0" y="342900"/>
                </a:lnTo>
                <a:lnTo>
                  <a:pt x="0" y="990600"/>
                </a:lnTo>
                <a:lnTo>
                  <a:pt x="4686300" y="990600"/>
                </a:lnTo>
                <a:lnTo>
                  <a:pt x="4694715" y="990497"/>
                </a:lnTo>
                <a:lnTo>
                  <a:pt x="4736615" y="986888"/>
                </a:lnTo>
                <a:lnTo>
                  <a:pt x="4777753" y="978177"/>
                </a:lnTo>
                <a:lnTo>
                  <a:pt x="4817516" y="964501"/>
                </a:lnTo>
                <a:lnTo>
                  <a:pt x="4855315" y="946052"/>
                </a:lnTo>
                <a:lnTo>
                  <a:pt x="4890566" y="923116"/>
                </a:lnTo>
                <a:lnTo>
                  <a:pt x="4922738" y="896045"/>
                </a:lnTo>
                <a:lnTo>
                  <a:pt x="4951361" y="865238"/>
                </a:lnTo>
                <a:lnTo>
                  <a:pt x="4976003" y="831144"/>
                </a:lnTo>
                <a:lnTo>
                  <a:pt x="4996278" y="794307"/>
                </a:lnTo>
                <a:lnTo>
                  <a:pt x="5011891" y="755265"/>
                </a:lnTo>
                <a:lnTo>
                  <a:pt x="5022608" y="714590"/>
                </a:lnTo>
                <a:lnTo>
                  <a:pt x="5028273" y="672922"/>
                </a:lnTo>
                <a:lnTo>
                  <a:pt x="5029200" y="647700"/>
                </a:lnTo>
                <a:lnTo>
                  <a:pt x="5029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58825" y="4040187"/>
            <a:ext cx="247777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5">
                <a:solidFill>
                  <a:srgbClr val="E0D6DE"/>
                </a:solidFill>
                <a:latin typeface="Trebuchet MS"/>
                <a:cs typeface="Trebuchet MS"/>
              </a:rPr>
              <a:t>Critical</a:t>
            </a:r>
            <a:r>
              <a:rPr dirty="0" sz="16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E0D6DE"/>
                </a:solidFill>
                <a:latin typeface="Trebuchet MS"/>
                <a:cs typeface="Trebuchet MS"/>
              </a:rPr>
              <a:t>Thinking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Analyzing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complex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global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events.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800725" y="3876675"/>
            <a:ext cx="5029200" cy="990600"/>
          </a:xfrm>
          <a:custGeom>
            <a:avLst/>
            <a:gdLst/>
            <a:ahLst/>
            <a:cxnLst/>
            <a:rect l="l" t="t" r="r" b="b"/>
            <a:pathLst>
              <a:path w="5029200" h="990600">
                <a:moveTo>
                  <a:pt x="5029200" y="0"/>
                </a:moveTo>
                <a:lnTo>
                  <a:pt x="342900" y="0"/>
                </a:lnTo>
                <a:lnTo>
                  <a:pt x="334484" y="102"/>
                </a:lnTo>
                <a:lnTo>
                  <a:pt x="292584" y="3711"/>
                </a:lnTo>
                <a:lnTo>
                  <a:pt x="251452" y="12422"/>
                </a:lnTo>
                <a:lnTo>
                  <a:pt x="211683" y="26098"/>
                </a:lnTo>
                <a:lnTo>
                  <a:pt x="173879" y="44547"/>
                </a:lnTo>
                <a:lnTo>
                  <a:pt x="138633" y="67478"/>
                </a:lnTo>
                <a:lnTo>
                  <a:pt x="106455" y="94554"/>
                </a:lnTo>
                <a:lnTo>
                  <a:pt x="77838" y="125374"/>
                </a:lnTo>
                <a:lnTo>
                  <a:pt x="53196" y="159453"/>
                </a:lnTo>
                <a:lnTo>
                  <a:pt x="32921" y="196288"/>
                </a:lnTo>
                <a:lnTo>
                  <a:pt x="17308" y="235332"/>
                </a:lnTo>
                <a:lnTo>
                  <a:pt x="6591" y="275996"/>
                </a:lnTo>
                <a:lnTo>
                  <a:pt x="926" y="317682"/>
                </a:lnTo>
                <a:lnTo>
                  <a:pt x="0" y="342900"/>
                </a:lnTo>
                <a:lnTo>
                  <a:pt x="0" y="990600"/>
                </a:lnTo>
                <a:lnTo>
                  <a:pt x="4686300" y="990600"/>
                </a:lnTo>
                <a:lnTo>
                  <a:pt x="4694715" y="990497"/>
                </a:lnTo>
                <a:lnTo>
                  <a:pt x="4736614" y="986888"/>
                </a:lnTo>
                <a:lnTo>
                  <a:pt x="4777752" y="978177"/>
                </a:lnTo>
                <a:lnTo>
                  <a:pt x="4817516" y="964501"/>
                </a:lnTo>
                <a:lnTo>
                  <a:pt x="4855315" y="946052"/>
                </a:lnTo>
                <a:lnTo>
                  <a:pt x="4890566" y="923116"/>
                </a:lnTo>
                <a:lnTo>
                  <a:pt x="4922738" y="896045"/>
                </a:lnTo>
                <a:lnTo>
                  <a:pt x="4951361" y="865238"/>
                </a:lnTo>
                <a:lnTo>
                  <a:pt x="4976003" y="831144"/>
                </a:lnTo>
                <a:lnTo>
                  <a:pt x="4996278" y="794307"/>
                </a:lnTo>
                <a:lnTo>
                  <a:pt x="5011891" y="755265"/>
                </a:lnTo>
                <a:lnTo>
                  <a:pt x="5022608" y="714590"/>
                </a:lnTo>
                <a:lnTo>
                  <a:pt x="5028273" y="672922"/>
                </a:lnTo>
                <a:lnTo>
                  <a:pt x="5029200" y="647700"/>
                </a:lnTo>
                <a:lnTo>
                  <a:pt x="5029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959475" y="4040187"/>
            <a:ext cx="338391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>
                <a:solidFill>
                  <a:srgbClr val="E0D6DE"/>
                </a:solidFill>
                <a:latin typeface="Trebuchet MS"/>
                <a:cs typeface="Trebuchet MS"/>
              </a:rPr>
              <a:t>Problem-</a:t>
            </a:r>
            <a:r>
              <a:rPr dirty="0" sz="1650" spc="-10">
                <a:solidFill>
                  <a:srgbClr val="E0D6DE"/>
                </a:solidFill>
                <a:latin typeface="Trebuchet MS"/>
                <a:cs typeface="Trebuchet MS"/>
              </a:rPr>
              <a:t>Solving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Finding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solutions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to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international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challenges.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00075" y="5038725"/>
            <a:ext cx="5029200" cy="981075"/>
          </a:xfrm>
          <a:custGeom>
            <a:avLst/>
            <a:gdLst/>
            <a:ahLst/>
            <a:cxnLst/>
            <a:rect l="l" t="t" r="r" b="b"/>
            <a:pathLst>
              <a:path w="5029200" h="981075">
                <a:moveTo>
                  <a:pt x="5029200" y="0"/>
                </a:moveTo>
                <a:lnTo>
                  <a:pt x="342900" y="0"/>
                </a:lnTo>
                <a:lnTo>
                  <a:pt x="334481" y="102"/>
                </a:lnTo>
                <a:lnTo>
                  <a:pt x="292585" y="3711"/>
                </a:lnTo>
                <a:lnTo>
                  <a:pt x="251447" y="12422"/>
                </a:lnTo>
                <a:lnTo>
                  <a:pt x="211678" y="26098"/>
                </a:lnTo>
                <a:lnTo>
                  <a:pt x="173883" y="44547"/>
                </a:lnTo>
                <a:lnTo>
                  <a:pt x="138636" y="67478"/>
                </a:lnTo>
                <a:lnTo>
                  <a:pt x="106459" y="94554"/>
                </a:lnTo>
                <a:lnTo>
                  <a:pt x="77837" y="125374"/>
                </a:lnTo>
                <a:lnTo>
                  <a:pt x="53198" y="159453"/>
                </a:lnTo>
                <a:lnTo>
                  <a:pt x="32921" y="196289"/>
                </a:lnTo>
                <a:lnTo>
                  <a:pt x="17305" y="235335"/>
                </a:lnTo>
                <a:lnTo>
                  <a:pt x="6588" y="276002"/>
                </a:lnTo>
                <a:lnTo>
                  <a:pt x="929" y="317678"/>
                </a:lnTo>
                <a:lnTo>
                  <a:pt x="0" y="342901"/>
                </a:lnTo>
                <a:lnTo>
                  <a:pt x="0" y="981076"/>
                </a:lnTo>
                <a:lnTo>
                  <a:pt x="4686300" y="981076"/>
                </a:lnTo>
                <a:lnTo>
                  <a:pt x="4694715" y="980972"/>
                </a:lnTo>
                <a:lnTo>
                  <a:pt x="4736615" y="977363"/>
                </a:lnTo>
                <a:lnTo>
                  <a:pt x="4777753" y="968652"/>
                </a:lnTo>
                <a:lnTo>
                  <a:pt x="4817516" y="954971"/>
                </a:lnTo>
                <a:lnTo>
                  <a:pt x="4855315" y="936525"/>
                </a:lnTo>
                <a:lnTo>
                  <a:pt x="4890566" y="913593"/>
                </a:lnTo>
                <a:lnTo>
                  <a:pt x="4922738" y="886521"/>
                </a:lnTo>
                <a:lnTo>
                  <a:pt x="4951361" y="855708"/>
                </a:lnTo>
                <a:lnTo>
                  <a:pt x="4976003" y="821622"/>
                </a:lnTo>
                <a:lnTo>
                  <a:pt x="4996278" y="784782"/>
                </a:lnTo>
                <a:lnTo>
                  <a:pt x="5011891" y="745737"/>
                </a:lnTo>
                <a:lnTo>
                  <a:pt x="5022608" y="705069"/>
                </a:lnTo>
                <a:lnTo>
                  <a:pt x="5028273" y="663399"/>
                </a:lnTo>
                <a:lnTo>
                  <a:pt x="5029200" y="638176"/>
                </a:lnTo>
                <a:lnTo>
                  <a:pt x="5029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58825" y="5202239"/>
            <a:ext cx="242760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5">
                <a:solidFill>
                  <a:srgbClr val="E0D6DE"/>
                </a:solidFill>
                <a:latin typeface="Trebuchet MS"/>
                <a:cs typeface="Trebuchet MS"/>
              </a:rPr>
              <a:t>Intercultural</a:t>
            </a:r>
            <a:r>
              <a:rPr dirty="0" sz="16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85">
                <a:solidFill>
                  <a:srgbClr val="E0D6DE"/>
                </a:solidFill>
                <a:latin typeface="Trebuchet MS"/>
                <a:cs typeface="Trebuchet MS"/>
              </a:rPr>
              <a:t>Communication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Bridging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cultural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divides.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5800725" y="5038725"/>
            <a:ext cx="5029200" cy="981075"/>
          </a:xfrm>
          <a:custGeom>
            <a:avLst/>
            <a:gdLst/>
            <a:ahLst/>
            <a:cxnLst/>
            <a:rect l="l" t="t" r="r" b="b"/>
            <a:pathLst>
              <a:path w="5029200" h="981075">
                <a:moveTo>
                  <a:pt x="5029200" y="0"/>
                </a:moveTo>
                <a:lnTo>
                  <a:pt x="342900" y="0"/>
                </a:lnTo>
                <a:lnTo>
                  <a:pt x="334484" y="102"/>
                </a:lnTo>
                <a:lnTo>
                  <a:pt x="292584" y="3711"/>
                </a:lnTo>
                <a:lnTo>
                  <a:pt x="251452" y="12422"/>
                </a:lnTo>
                <a:lnTo>
                  <a:pt x="211683" y="26098"/>
                </a:lnTo>
                <a:lnTo>
                  <a:pt x="173879" y="44547"/>
                </a:lnTo>
                <a:lnTo>
                  <a:pt x="138633" y="67478"/>
                </a:lnTo>
                <a:lnTo>
                  <a:pt x="106455" y="94554"/>
                </a:lnTo>
                <a:lnTo>
                  <a:pt x="77838" y="125374"/>
                </a:lnTo>
                <a:lnTo>
                  <a:pt x="53196" y="159453"/>
                </a:lnTo>
                <a:lnTo>
                  <a:pt x="32921" y="196289"/>
                </a:lnTo>
                <a:lnTo>
                  <a:pt x="17308" y="235335"/>
                </a:lnTo>
                <a:lnTo>
                  <a:pt x="6591" y="276002"/>
                </a:lnTo>
                <a:lnTo>
                  <a:pt x="926" y="317678"/>
                </a:lnTo>
                <a:lnTo>
                  <a:pt x="0" y="342901"/>
                </a:lnTo>
                <a:lnTo>
                  <a:pt x="0" y="981076"/>
                </a:lnTo>
                <a:lnTo>
                  <a:pt x="4686300" y="981076"/>
                </a:lnTo>
                <a:lnTo>
                  <a:pt x="4694715" y="980972"/>
                </a:lnTo>
                <a:lnTo>
                  <a:pt x="4736614" y="977363"/>
                </a:lnTo>
                <a:lnTo>
                  <a:pt x="4777752" y="968652"/>
                </a:lnTo>
                <a:lnTo>
                  <a:pt x="4817516" y="954971"/>
                </a:lnTo>
                <a:lnTo>
                  <a:pt x="4855315" y="936525"/>
                </a:lnTo>
                <a:lnTo>
                  <a:pt x="4890566" y="913593"/>
                </a:lnTo>
                <a:lnTo>
                  <a:pt x="4922738" y="886521"/>
                </a:lnTo>
                <a:lnTo>
                  <a:pt x="4951361" y="855708"/>
                </a:lnTo>
                <a:lnTo>
                  <a:pt x="4976003" y="821622"/>
                </a:lnTo>
                <a:lnTo>
                  <a:pt x="4996278" y="784782"/>
                </a:lnTo>
                <a:lnTo>
                  <a:pt x="5011891" y="745737"/>
                </a:lnTo>
                <a:lnTo>
                  <a:pt x="5022608" y="705069"/>
                </a:lnTo>
                <a:lnTo>
                  <a:pt x="5028273" y="663399"/>
                </a:lnTo>
                <a:lnTo>
                  <a:pt x="5029200" y="638176"/>
                </a:lnTo>
                <a:lnTo>
                  <a:pt x="50292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959475" y="5202239"/>
            <a:ext cx="2603500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>
                <a:solidFill>
                  <a:srgbClr val="E0D6DE"/>
                </a:solidFill>
                <a:latin typeface="Trebuchet MS"/>
                <a:cs typeface="Trebuchet MS"/>
              </a:rPr>
              <a:t>Multiple</a:t>
            </a:r>
            <a:r>
              <a:rPr dirty="0" sz="1650" spc="-9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E0D6DE"/>
                </a:solidFill>
                <a:latin typeface="Trebuchet MS"/>
                <a:cs typeface="Trebuchet MS"/>
              </a:rPr>
              <a:t>PerSpectiveS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Understanding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diverse</a:t>
            </a: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viewpoints.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4" name="object 14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87034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730375"/>
            <a:ext cx="35153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5"/>
              <a:t>DiverSe</a:t>
            </a:r>
            <a:r>
              <a:rPr dirty="0" spc="-254"/>
              <a:t> </a:t>
            </a:r>
            <a:r>
              <a:rPr dirty="0" spc="-229"/>
              <a:t>Career</a:t>
            </a:r>
            <a:r>
              <a:rPr dirty="0" spc="-250"/>
              <a:t> </a:t>
            </a:r>
            <a:r>
              <a:rPr dirty="0" spc="-175"/>
              <a:t>PathS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2606675"/>
            <a:ext cx="69627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One</a:t>
            </a:r>
            <a:r>
              <a:rPr dirty="0" sz="1350" spc="-8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of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strongest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reasons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to</a:t>
            </a:r>
            <a:r>
              <a:rPr dirty="0" sz="1350" spc="-8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study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International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Studies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is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its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wide</a:t>
            </a:r>
            <a:r>
              <a:rPr dirty="0" sz="1350" spc="-8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range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of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opportunities.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00075" y="3082886"/>
            <a:ext cx="514350" cy="483234"/>
          </a:xfrm>
          <a:custGeom>
            <a:avLst/>
            <a:gdLst/>
            <a:ahLst/>
            <a:cxnLst/>
            <a:rect l="l" t="t" r="r" b="b"/>
            <a:pathLst>
              <a:path w="514350" h="483235">
                <a:moveTo>
                  <a:pt x="241170" y="55524"/>
                </a:moveTo>
                <a:lnTo>
                  <a:pt x="209583" y="71168"/>
                </a:lnTo>
                <a:lnTo>
                  <a:pt x="197747" y="79895"/>
                </a:lnTo>
              </a:path>
              <a:path w="514350" h="483235">
                <a:moveTo>
                  <a:pt x="88239" y="161010"/>
                </a:moveTo>
                <a:lnTo>
                  <a:pt x="51018" y="188429"/>
                </a:lnTo>
              </a:path>
              <a:path w="514350" h="483235">
                <a:moveTo>
                  <a:pt x="293672" y="337007"/>
                </a:moveTo>
                <a:lnTo>
                  <a:pt x="278075" y="296837"/>
                </a:lnTo>
                <a:lnTo>
                  <a:pt x="241642" y="278930"/>
                </a:lnTo>
                <a:lnTo>
                  <a:pt x="232126" y="278853"/>
                </a:lnTo>
                <a:lnTo>
                  <a:pt x="226039" y="279603"/>
                </a:lnTo>
                <a:lnTo>
                  <a:pt x="189800" y="303250"/>
                </a:lnTo>
                <a:lnTo>
                  <a:pt x="179485" y="356663"/>
                </a:lnTo>
                <a:lnTo>
                  <a:pt x="179199" y="390055"/>
                </a:lnTo>
              </a:path>
              <a:path w="514350" h="483235">
                <a:moveTo>
                  <a:pt x="110628" y="269011"/>
                </a:moveTo>
                <a:lnTo>
                  <a:pt x="59119" y="269240"/>
                </a:lnTo>
              </a:path>
              <a:path w="514350" h="483235">
                <a:moveTo>
                  <a:pt x="110708" y="329590"/>
                </a:moveTo>
                <a:lnTo>
                  <a:pt x="110628" y="269011"/>
                </a:lnTo>
              </a:path>
              <a:path w="514350" h="483235">
                <a:moveTo>
                  <a:pt x="110708" y="329590"/>
                </a:moveTo>
                <a:lnTo>
                  <a:pt x="59089" y="329311"/>
                </a:lnTo>
                <a:lnTo>
                  <a:pt x="59119" y="269240"/>
                </a:lnTo>
              </a:path>
              <a:path w="514350" h="483235">
                <a:moveTo>
                  <a:pt x="293697" y="482676"/>
                </a:moveTo>
                <a:lnTo>
                  <a:pt x="293672" y="337007"/>
                </a:lnTo>
              </a:path>
              <a:path w="514350" h="483235">
                <a:moveTo>
                  <a:pt x="472241" y="482028"/>
                </a:moveTo>
                <a:lnTo>
                  <a:pt x="0" y="482142"/>
                </a:lnTo>
              </a:path>
              <a:path w="514350" h="483235">
                <a:moveTo>
                  <a:pt x="471695" y="188595"/>
                </a:moveTo>
                <a:lnTo>
                  <a:pt x="49" y="188429"/>
                </a:lnTo>
              </a:path>
              <a:path w="514350" h="483235">
                <a:moveTo>
                  <a:pt x="472241" y="482028"/>
                </a:moveTo>
                <a:lnTo>
                  <a:pt x="471695" y="188595"/>
                </a:lnTo>
              </a:path>
              <a:path w="514350" h="483235">
                <a:moveTo>
                  <a:pt x="0" y="482142"/>
                </a:moveTo>
                <a:lnTo>
                  <a:pt x="49" y="188429"/>
                </a:lnTo>
              </a:path>
              <a:path w="514350" h="483235">
                <a:moveTo>
                  <a:pt x="387722" y="163144"/>
                </a:moveTo>
                <a:lnTo>
                  <a:pt x="241170" y="55524"/>
                </a:lnTo>
              </a:path>
              <a:path w="514350" h="483235">
                <a:moveTo>
                  <a:pt x="388807" y="188468"/>
                </a:moveTo>
                <a:lnTo>
                  <a:pt x="387860" y="13576"/>
                </a:lnTo>
              </a:path>
              <a:path w="514350" h="483235">
                <a:moveTo>
                  <a:pt x="513764" y="16281"/>
                </a:moveTo>
                <a:lnTo>
                  <a:pt x="387766" y="16014"/>
                </a:lnTo>
              </a:path>
              <a:path w="514350" h="483235">
                <a:moveTo>
                  <a:pt x="197747" y="79895"/>
                </a:moveTo>
                <a:lnTo>
                  <a:pt x="88239" y="161010"/>
                </a:lnTo>
              </a:path>
              <a:path w="514350" h="483235">
                <a:moveTo>
                  <a:pt x="514350" y="104330"/>
                </a:moveTo>
                <a:lnTo>
                  <a:pt x="513764" y="16281"/>
                </a:lnTo>
              </a:path>
              <a:path w="514350" h="483235">
                <a:moveTo>
                  <a:pt x="514350" y="104330"/>
                </a:moveTo>
                <a:lnTo>
                  <a:pt x="387756" y="104381"/>
                </a:lnTo>
              </a:path>
              <a:path w="514350" h="483235">
                <a:moveTo>
                  <a:pt x="387860" y="13576"/>
                </a:moveTo>
                <a:lnTo>
                  <a:pt x="387896" y="0"/>
                </a:lnTo>
              </a:path>
              <a:path w="514350" h="483235">
                <a:moveTo>
                  <a:pt x="413920" y="270306"/>
                </a:moveTo>
                <a:lnTo>
                  <a:pt x="362207" y="269328"/>
                </a:lnTo>
              </a:path>
              <a:path w="514350" h="483235">
                <a:moveTo>
                  <a:pt x="413920" y="270306"/>
                </a:moveTo>
                <a:lnTo>
                  <a:pt x="413950" y="329082"/>
                </a:lnTo>
                <a:lnTo>
                  <a:pt x="362748" y="329692"/>
                </a:lnTo>
                <a:lnTo>
                  <a:pt x="362207" y="269328"/>
                </a:lnTo>
              </a:path>
              <a:path w="514350" h="483235">
                <a:moveTo>
                  <a:pt x="179199" y="390055"/>
                </a:moveTo>
                <a:lnTo>
                  <a:pt x="179179" y="482676"/>
                </a:lnTo>
              </a:path>
            </a:pathLst>
          </a:custGeom>
          <a:ln w="22794">
            <a:solidFill>
              <a:srgbClr val="FA94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7375" y="3792537"/>
            <a:ext cx="3243580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5">
                <a:solidFill>
                  <a:srgbClr val="E0D6DE"/>
                </a:solidFill>
                <a:latin typeface="Trebuchet MS"/>
                <a:cs typeface="Trebuchet MS"/>
              </a:rPr>
              <a:t>Diplomacy</a:t>
            </a:r>
            <a:r>
              <a:rPr dirty="0" sz="1650" spc="-11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295">
                <a:solidFill>
                  <a:srgbClr val="E0D6DE"/>
                </a:solidFill>
                <a:latin typeface="Trebuchet MS"/>
                <a:cs typeface="Trebuchet MS"/>
              </a:rPr>
              <a:t>&amp;</a:t>
            </a:r>
            <a:r>
              <a:rPr dirty="0" sz="1650" spc="-10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20">
                <a:solidFill>
                  <a:srgbClr val="E0D6DE"/>
                </a:solidFill>
                <a:latin typeface="Trebuchet MS"/>
                <a:cs typeface="Trebuchet MS"/>
              </a:rPr>
              <a:t>NGOS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Embassies,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UN,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 international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organizations,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human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 rights,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 education,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development.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074697" y="3095120"/>
            <a:ext cx="537845" cy="458470"/>
            <a:chOff x="4074697" y="3095120"/>
            <a:chExt cx="537845" cy="458470"/>
          </a:xfrm>
        </p:grpSpPr>
        <p:sp>
          <p:nvSpPr>
            <p:cNvPr id="7" name="object 7" descr=""/>
            <p:cNvSpPr/>
            <p:nvPr/>
          </p:nvSpPr>
          <p:spPr>
            <a:xfrm>
              <a:off x="4251477" y="3360280"/>
              <a:ext cx="6350" cy="43815"/>
            </a:xfrm>
            <a:custGeom>
              <a:avLst/>
              <a:gdLst/>
              <a:ahLst/>
              <a:cxnLst/>
              <a:rect l="l" t="t" r="r" b="b"/>
              <a:pathLst>
                <a:path w="6350" h="43814">
                  <a:moveTo>
                    <a:pt x="0" y="0"/>
                  </a:moveTo>
                  <a:lnTo>
                    <a:pt x="6184" y="43789"/>
                  </a:lnTo>
                </a:path>
              </a:pathLst>
            </a:custGeom>
            <a:ln w="22775">
              <a:solidFill>
                <a:srgbClr val="FA94A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9111" y="3456423"/>
              <a:ext cx="88434" cy="6591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086085" y="3106508"/>
              <a:ext cx="514984" cy="435609"/>
            </a:xfrm>
            <a:custGeom>
              <a:avLst/>
              <a:gdLst/>
              <a:ahLst/>
              <a:cxnLst/>
              <a:rect l="l" t="t" r="r" b="b"/>
              <a:pathLst>
                <a:path w="514985" h="435610">
                  <a:moveTo>
                    <a:pt x="292315" y="288137"/>
                  </a:moveTo>
                  <a:lnTo>
                    <a:pt x="273745" y="250409"/>
                  </a:lnTo>
                  <a:lnTo>
                    <a:pt x="241681" y="224497"/>
                  </a:lnTo>
                  <a:lnTo>
                    <a:pt x="204342" y="214204"/>
                  </a:lnTo>
                  <a:lnTo>
                    <a:pt x="183920" y="213469"/>
                  </a:lnTo>
                  <a:lnTo>
                    <a:pt x="171145" y="213436"/>
                  </a:lnTo>
                </a:path>
                <a:path w="514985" h="435610">
                  <a:moveTo>
                    <a:pt x="416039" y="294487"/>
                  </a:moveTo>
                  <a:lnTo>
                    <a:pt x="356374" y="295262"/>
                  </a:lnTo>
                </a:path>
                <a:path w="514985" h="435610">
                  <a:moveTo>
                    <a:pt x="416128" y="406882"/>
                  </a:moveTo>
                  <a:lnTo>
                    <a:pt x="416039" y="294487"/>
                  </a:lnTo>
                </a:path>
                <a:path w="514985" h="435610">
                  <a:moveTo>
                    <a:pt x="294347" y="407339"/>
                  </a:moveTo>
                  <a:lnTo>
                    <a:pt x="514489" y="407136"/>
                  </a:lnTo>
                </a:path>
                <a:path w="514985" h="435610">
                  <a:moveTo>
                    <a:pt x="356374" y="295262"/>
                  </a:moveTo>
                  <a:lnTo>
                    <a:pt x="356031" y="406882"/>
                  </a:lnTo>
                </a:path>
                <a:path w="514985" h="435610">
                  <a:moveTo>
                    <a:pt x="165392" y="253771"/>
                  </a:moveTo>
                  <a:lnTo>
                    <a:pt x="128384" y="254317"/>
                  </a:lnTo>
                </a:path>
                <a:path w="514985" h="435610">
                  <a:moveTo>
                    <a:pt x="294297" y="435025"/>
                  </a:moveTo>
                  <a:lnTo>
                    <a:pt x="292315" y="288137"/>
                  </a:lnTo>
                </a:path>
                <a:path w="514985" h="435610">
                  <a:moveTo>
                    <a:pt x="183121" y="213309"/>
                  </a:moveTo>
                  <a:lnTo>
                    <a:pt x="165392" y="253771"/>
                  </a:lnTo>
                </a:path>
                <a:path w="514985" h="435610">
                  <a:moveTo>
                    <a:pt x="128384" y="254317"/>
                  </a:moveTo>
                  <a:lnTo>
                    <a:pt x="110629" y="213575"/>
                  </a:lnTo>
                </a:path>
                <a:path w="514985" h="435610">
                  <a:moveTo>
                    <a:pt x="294297" y="435025"/>
                  </a:moveTo>
                  <a:lnTo>
                    <a:pt x="673" y="435152"/>
                  </a:lnTo>
                </a:path>
                <a:path w="514985" h="435610">
                  <a:moveTo>
                    <a:pt x="53390" y="339763"/>
                  </a:moveTo>
                  <a:lnTo>
                    <a:pt x="53771" y="435419"/>
                  </a:lnTo>
                </a:path>
                <a:path w="514985" h="435610">
                  <a:moveTo>
                    <a:pt x="422236" y="0"/>
                  </a:moveTo>
                  <a:lnTo>
                    <a:pt x="341731" y="63"/>
                  </a:lnTo>
                </a:path>
                <a:path w="514985" h="435610">
                  <a:moveTo>
                    <a:pt x="422643" y="50406"/>
                  </a:moveTo>
                  <a:lnTo>
                    <a:pt x="422236" y="0"/>
                  </a:lnTo>
                </a:path>
                <a:path w="514985" h="435610">
                  <a:moveTo>
                    <a:pt x="493941" y="51054"/>
                  </a:moveTo>
                  <a:lnTo>
                    <a:pt x="275196" y="50482"/>
                  </a:lnTo>
                </a:path>
                <a:path w="514985" h="435610">
                  <a:moveTo>
                    <a:pt x="341731" y="63"/>
                  </a:moveTo>
                  <a:lnTo>
                    <a:pt x="341160" y="50482"/>
                  </a:lnTo>
                </a:path>
                <a:path w="514985" h="435610">
                  <a:moveTo>
                    <a:pt x="275196" y="50482"/>
                  </a:moveTo>
                  <a:lnTo>
                    <a:pt x="275132" y="202158"/>
                  </a:lnTo>
                </a:path>
                <a:path w="514985" h="435610">
                  <a:moveTo>
                    <a:pt x="494576" y="406984"/>
                  </a:moveTo>
                  <a:lnTo>
                    <a:pt x="493941" y="51054"/>
                  </a:lnTo>
                </a:path>
                <a:path w="514985" h="435610">
                  <a:moveTo>
                    <a:pt x="171577" y="297561"/>
                  </a:moveTo>
                  <a:lnTo>
                    <a:pt x="180073" y="361302"/>
                  </a:lnTo>
                </a:path>
                <a:path w="514985" h="435610">
                  <a:moveTo>
                    <a:pt x="114414" y="362013"/>
                  </a:moveTo>
                  <a:lnTo>
                    <a:pt x="128384" y="254317"/>
                  </a:lnTo>
                </a:path>
                <a:path w="514985" h="435610">
                  <a:moveTo>
                    <a:pt x="227761" y="102489"/>
                  </a:moveTo>
                  <a:lnTo>
                    <a:pt x="227761" y="107772"/>
                  </a:lnTo>
                  <a:lnTo>
                    <a:pt x="227241" y="112991"/>
                  </a:lnTo>
                  <a:lnTo>
                    <a:pt x="226212" y="118160"/>
                  </a:lnTo>
                  <a:lnTo>
                    <a:pt x="225183" y="123329"/>
                  </a:lnTo>
                  <a:lnTo>
                    <a:pt x="223659" y="128346"/>
                  </a:lnTo>
                  <a:lnTo>
                    <a:pt x="221640" y="133223"/>
                  </a:lnTo>
                  <a:lnTo>
                    <a:pt x="219633" y="138087"/>
                  </a:lnTo>
                  <a:lnTo>
                    <a:pt x="217157" y="142709"/>
                  </a:lnTo>
                  <a:lnTo>
                    <a:pt x="214223" y="147091"/>
                  </a:lnTo>
                  <a:lnTo>
                    <a:pt x="211302" y="151472"/>
                  </a:lnTo>
                  <a:lnTo>
                    <a:pt x="207975" y="155536"/>
                  </a:lnTo>
                  <a:lnTo>
                    <a:pt x="204241" y="159258"/>
                  </a:lnTo>
                  <a:lnTo>
                    <a:pt x="200520" y="162991"/>
                  </a:lnTo>
                  <a:lnTo>
                    <a:pt x="163144" y="181229"/>
                  </a:lnTo>
                  <a:lnTo>
                    <a:pt x="157975" y="182257"/>
                  </a:lnTo>
                  <a:lnTo>
                    <a:pt x="152755" y="182778"/>
                  </a:lnTo>
                  <a:lnTo>
                    <a:pt x="147485" y="182778"/>
                  </a:lnTo>
                  <a:lnTo>
                    <a:pt x="142214" y="182778"/>
                  </a:lnTo>
                  <a:lnTo>
                    <a:pt x="136994" y="182257"/>
                  </a:lnTo>
                  <a:lnTo>
                    <a:pt x="131826" y="181229"/>
                  </a:lnTo>
                  <a:lnTo>
                    <a:pt x="126657" y="180200"/>
                  </a:lnTo>
                  <a:lnTo>
                    <a:pt x="121627" y="178676"/>
                  </a:lnTo>
                  <a:lnTo>
                    <a:pt x="116763" y="176657"/>
                  </a:lnTo>
                  <a:lnTo>
                    <a:pt x="111899" y="174637"/>
                  </a:lnTo>
                  <a:lnTo>
                    <a:pt x="107264" y="172173"/>
                  </a:lnTo>
                  <a:lnTo>
                    <a:pt x="102882" y="169240"/>
                  </a:lnTo>
                  <a:lnTo>
                    <a:pt x="98501" y="166306"/>
                  </a:lnTo>
                  <a:lnTo>
                    <a:pt x="94449" y="162991"/>
                  </a:lnTo>
                  <a:lnTo>
                    <a:pt x="90716" y="159258"/>
                  </a:lnTo>
                  <a:lnTo>
                    <a:pt x="86995" y="155536"/>
                  </a:lnTo>
                  <a:lnTo>
                    <a:pt x="68745" y="118160"/>
                  </a:lnTo>
                  <a:lnTo>
                    <a:pt x="67716" y="112991"/>
                  </a:lnTo>
                  <a:lnTo>
                    <a:pt x="67208" y="107772"/>
                  </a:lnTo>
                  <a:lnTo>
                    <a:pt x="67208" y="102489"/>
                  </a:lnTo>
                  <a:lnTo>
                    <a:pt x="67208" y="97231"/>
                  </a:lnTo>
                  <a:lnTo>
                    <a:pt x="73317" y="71780"/>
                  </a:lnTo>
                  <a:lnTo>
                    <a:pt x="75336" y="66903"/>
                  </a:lnTo>
                  <a:lnTo>
                    <a:pt x="102882" y="35750"/>
                  </a:lnTo>
                  <a:lnTo>
                    <a:pt x="107264" y="32816"/>
                  </a:lnTo>
                  <a:lnTo>
                    <a:pt x="142214" y="22225"/>
                  </a:lnTo>
                  <a:lnTo>
                    <a:pt x="147485" y="22225"/>
                  </a:lnTo>
                  <a:lnTo>
                    <a:pt x="152755" y="22225"/>
                  </a:lnTo>
                  <a:lnTo>
                    <a:pt x="192087" y="35750"/>
                  </a:lnTo>
                  <a:lnTo>
                    <a:pt x="196469" y="38671"/>
                  </a:lnTo>
                  <a:lnTo>
                    <a:pt x="200520" y="42011"/>
                  </a:lnTo>
                  <a:lnTo>
                    <a:pt x="204241" y="45732"/>
                  </a:lnTo>
                  <a:lnTo>
                    <a:pt x="207975" y="49466"/>
                  </a:lnTo>
                  <a:lnTo>
                    <a:pt x="211302" y="53517"/>
                  </a:lnTo>
                  <a:lnTo>
                    <a:pt x="214223" y="57899"/>
                  </a:lnTo>
                  <a:lnTo>
                    <a:pt x="217157" y="62280"/>
                  </a:lnTo>
                  <a:lnTo>
                    <a:pt x="219633" y="66903"/>
                  </a:lnTo>
                  <a:lnTo>
                    <a:pt x="221640" y="71780"/>
                  </a:lnTo>
                  <a:lnTo>
                    <a:pt x="223659" y="76644"/>
                  </a:lnTo>
                  <a:lnTo>
                    <a:pt x="225183" y="81661"/>
                  </a:lnTo>
                  <a:lnTo>
                    <a:pt x="226212" y="86829"/>
                  </a:lnTo>
                  <a:lnTo>
                    <a:pt x="227241" y="91998"/>
                  </a:lnTo>
                  <a:lnTo>
                    <a:pt x="227761" y="97231"/>
                  </a:lnTo>
                  <a:lnTo>
                    <a:pt x="227761" y="102489"/>
                  </a:lnTo>
                  <a:close/>
                </a:path>
                <a:path w="514985" h="435610">
                  <a:moveTo>
                    <a:pt x="328523" y="116814"/>
                  </a:moveTo>
                  <a:lnTo>
                    <a:pt x="328676" y="138836"/>
                  </a:lnTo>
                </a:path>
                <a:path w="514985" h="435610">
                  <a:moveTo>
                    <a:pt x="383819" y="117360"/>
                  </a:moveTo>
                  <a:lnTo>
                    <a:pt x="383844" y="139115"/>
                  </a:lnTo>
                </a:path>
                <a:path w="514985" h="435610">
                  <a:moveTo>
                    <a:pt x="439369" y="117576"/>
                  </a:moveTo>
                  <a:lnTo>
                    <a:pt x="439394" y="137515"/>
                  </a:lnTo>
                </a:path>
                <a:path w="514985" h="435610">
                  <a:moveTo>
                    <a:pt x="328676" y="202844"/>
                  </a:moveTo>
                  <a:lnTo>
                    <a:pt x="328815" y="220306"/>
                  </a:lnTo>
                </a:path>
                <a:path w="514985" h="435610">
                  <a:moveTo>
                    <a:pt x="439115" y="221056"/>
                  </a:moveTo>
                  <a:lnTo>
                    <a:pt x="439407" y="201193"/>
                  </a:lnTo>
                </a:path>
                <a:path w="514985" h="435610">
                  <a:moveTo>
                    <a:pt x="383781" y="221195"/>
                  </a:moveTo>
                  <a:lnTo>
                    <a:pt x="383806" y="202184"/>
                  </a:lnTo>
                </a:path>
                <a:path w="514985" h="435610">
                  <a:moveTo>
                    <a:pt x="171145" y="213436"/>
                  </a:moveTo>
                  <a:lnTo>
                    <a:pt x="78359" y="215595"/>
                  </a:lnTo>
                </a:path>
                <a:path w="514985" h="435610">
                  <a:moveTo>
                    <a:pt x="78422" y="215963"/>
                  </a:moveTo>
                  <a:lnTo>
                    <a:pt x="44145" y="229323"/>
                  </a:lnTo>
                  <a:lnTo>
                    <a:pt x="38925" y="232638"/>
                  </a:lnTo>
                  <a:lnTo>
                    <a:pt x="34074" y="236435"/>
                  </a:lnTo>
                  <a:lnTo>
                    <a:pt x="29591" y="240715"/>
                  </a:lnTo>
                  <a:lnTo>
                    <a:pt x="25107" y="244983"/>
                  </a:lnTo>
                  <a:lnTo>
                    <a:pt x="21082" y="249643"/>
                  </a:lnTo>
                  <a:lnTo>
                    <a:pt x="17513" y="254711"/>
                  </a:lnTo>
                  <a:lnTo>
                    <a:pt x="13944" y="259765"/>
                  </a:lnTo>
                  <a:lnTo>
                    <a:pt x="10896" y="265112"/>
                  </a:lnTo>
                  <a:lnTo>
                    <a:pt x="8382" y="270776"/>
                  </a:lnTo>
                  <a:lnTo>
                    <a:pt x="5854" y="276428"/>
                  </a:lnTo>
                  <a:lnTo>
                    <a:pt x="3898" y="282270"/>
                  </a:lnTo>
                  <a:lnTo>
                    <a:pt x="2527" y="288302"/>
                  </a:lnTo>
                  <a:lnTo>
                    <a:pt x="1143" y="294347"/>
                  </a:lnTo>
                  <a:lnTo>
                    <a:pt x="368" y="300456"/>
                  </a:lnTo>
                  <a:lnTo>
                    <a:pt x="177" y="306641"/>
                  </a:lnTo>
                  <a:lnTo>
                    <a:pt x="0" y="312826"/>
                  </a:lnTo>
                  <a:lnTo>
                    <a:pt x="406" y="318973"/>
                  </a:lnTo>
                  <a:lnTo>
                    <a:pt x="1435" y="325081"/>
                  </a:lnTo>
                </a:path>
                <a:path w="514985" h="435610">
                  <a:moveTo>
                    <a:pt x="457" y="325247"/>
                  </a:moveTo>
                  <a:lnTo>
                    <a:pt x="673" y="435152"/>
                  </a:lnTo>
                </a:path>
              </a:pathLst>
            </a:custGeom>
            <a:ln w="22775">
              <a:solidFill>
                <a:srgbClr val="FA94A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068762" y="3792537"/>
            <a:ext cx="2888615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30">
                <a:solidFill>
                  <a:srgbClr val="E0D6DE"/>
                </a:solidFill>
                <a:latin typeface="Trebuchet MS"/>
                <a:cs typeface="Trebuchet MS"/>
              </a:rPr>
              <a:t>Global</a:t>
            </a:r>
            <a:r>
              <a:rPr dirty="0" sz="1650" spc="-9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E0D6DE"/>
                </a:solidFill>
                <a:latin typeface="Trebuchet MS"/>
                <a:cs typeface="Trebuchet MS"/>
              </a:rPr>
              <a:t>BuSineSS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Multinational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companies,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global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trade,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tourism.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562850" y="3067062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>
                <a:moveTo>
                  <a:pt x="0" y="462965"/>
                </a:moveTo>
                <a:lnTo>
                  <a:pt x="22903" y="451824"/>
                </a:lnTo>
                <a:lnTo>
                  <a:pt x="42987" y="442225"/>
                </a:lnTo>
                <a:lnTo>
                  <a:pt x="59841" y="434213"/>
                </a:lnTo>
                <a:lnTo>
                  <a:pt x="73050" y="427837"/>
                </a:lnTo>
              </a:path>
              <a:path w="514350" h="514350">
                <a:moveTo>
                  <a:pt x="117094" y="404723"/>
                </a:moveTo>
                <a:lnTo>
                  <a:pt x="122610" y="400553"/>
                </a:lnTo>
                <a:lnTo>
                  <a:pt x="132921" y="391042"/>
                </a:lnTo>
                <a:lnTo>
                  <a:pt x="152752" y="371458"/>
                </a:lnTo>
                <a:lnTo>
                  <a:pt x="186829" y="337070"/>
                </a:lnTo>
              </a:path>
              <a:path w="514350" h="514350">
                <a:moveTo>
                  <a:pt x="420662" y="101523"/>
                </a:moveTo>
                <a:lnTo>
                  <a:pt x="448912" y="70012"/>
                </a:lnTo>
                <a:lnTo>
                  <a:pt x="454113" y="46774"/>
                </a:lnTo>
                <a:lnTo>
                  <a:pt x="452412" y="37617"/>
                </a:lnTo>
                <a:lnTo>
                  <a:pt x="429907" y="6731"/>
                </a:lnTo>
                <a:lnTo>
                  <a:pt x="404990" y="0"/>
                </a:lnTo>
                <a:lnTo>
                  <a:pt x="399503" y="355"/>
                </a:lnTo>
                <a:lnTo>
                  <a:pt x="394030" y="1511"/>
                </a:lnTo>
                <a:lnTo>
                  <a:pt x="390271" y="2806"/>
                </a:lnTo>
                <a:lnTo>
                  <a:pt x="385953" y="5041"/>
                </a:lnTo>
                <a:lnTo>
                  <a:pt x="381368" y="8102"/>
                </a:lnTo>
                <a:lnTo>
                  <a:pt x="376504" y="11988"/>
                </a:lnTo>
              </a:path>
              <a:path w="514350" h="514350">
                <a:moveTo>
                  <a:pt x="465848" y="326898"/>
                </a:moveTo>
                <a:lnTo>
                  <a:pt x="445147" y="307352"/>
                </a:lnTo>
                <a:lnTo>
                  <a:pt x="444665" y="304330"/>
                </a:lnTo>
              </a:path>
              <a:path w="514350" h="514350">
                <a:moveTo>
                  <a:pt x="513981" y="326974"/>
                </a:moveTo>
                <a:lnTo>
                  <a:pt x="514210" y="330441"/>
                </a:lnTo>
                <a:lnTo>
                  <a:pt x="514337" y="338201"/>
                </a:lnTo>
                <a:lnTo>
                  <a:pt x="514350" y="350253"/>
                </a:lnTo>
              </a:path>
              <a:path w="514350" h="514350">
                <a:moveTo>
                  <a:pt x="514311" y="498805"/>
                </a:moveTo>
                <a:lnTo>
                  <a:pt x="496633" y="514108"/>
                </a:lnTo>
                <a:lnTo>
                  <a:pt x="494245" y="514324"/>
                </a:lnTo>
              </a:path>
              <a:path w="514350" h="514350">
                <a:moveTo>
                  <a:pt x="320052" y="514324"/>
                </a:moveTo>
                <a:lnTo>
                  <a:pt x="301244" y="501992"/>
                </a:lnTo>
                <a:lnTo>
                  <a:pt x="300837" y="498805"/>
                </a:lnTo>
              </a:path>
              <a:path w="514350" h="514350">
                <a:moveTo>
                  <a:pt x="300939" y="271780"/>
                </a:moveTo>
                <a:lnTo>
                  <a:pt x="316052" y="257759"/>
                </a:lnTo>
                <a:lnTo>
                  <a:pt x="319341" y="257416"/>
                </a:lnTo>
              </a:path>
              <a:path w="514350" h="514350">
                <a:moveTo>
                  <a:pt x="97066" y="294347"/>
                </a:moveTo>
                <a:lnTo>
                  <a:pt x="64349" y="328418"/>
                </a:lnTo>
                <a:lnTo>
                  <a:pt x="43319" y="365147"/>
                </a:lnTo>
                <a:lnTo>
                  <a:pt x="16459" y="427545"/>
                </a:lnTo>
                <a:lnTo>
                  <a:pt x="0" y="462965"/>
                </a:lnTo>
              </a:path>
              <a:path w="514350" h="514350">
                <a:moveTo>
                  <a:pt x="436613" y="155194"/>
                </a:moveTo>
                <a:lnTo>
                  <a:pt x="449935" y="129374"/>
                </a:lnTo>
                <a:lnTo>
                  <a:pt x="449516" y="124244"/>
                </a:lnTo>
                <a:lnTo>
                  <a:pt x="436905" y="105346"/>
                </a:lnTo>
                <a:lnTo>
                  <a:pt x="424129" y="98031"/>
                </a:lnTo>
              </a:path>
              <a:path w="514350" h="514350">
                <a:moveTo>
                  <a:pt x="156578" y="367842"/>
                </a:moveTo>
                <a:lnTo>
                  <a:pt x="90017" y="301637"/>
                </a:lnTo>
              </a:path>
              <a:path w="514350" h="514350">
                <a:moveTo>
                  <a:pt x="420662" y="101523"/>
                </a:moveTo>
                <a:lnTo>
                  <a:pt x="354050" y="34823"/>
                </a:lnTo>
              </a:path>
              <a:path w="514350" h="514350">
                <a:moveTo>
                  <a:pt x="285915" y="237299"/>
                </a:moveTo>
                <a:lnTo>
                  <a:pt x="424129" y="98031"/>
                </a:lnTo>
              </a:path>
              <a:path w="514350" h="514350">
                <a:moveTo>
                  <a:pt x="367207" y="225056"/>
                </a:moveTo>
                <a:lnTo>
                  <a:pt x="436613" y="155194"/>
                </a:lnTo>
              </a:path>
              <a:path w="514350" h="514350">
                <a:moveTo>
                  <a:pt x="73050" y="427837"/>
                </a:moveTo>
                <a:lnTo>
                  <a:pt x="117094" y="404723"/>
                </a:lnTo>
              </a:path>
              <a:path w="514350" h="514350">
                <a:moveTo>
                  <a:pt x="186829" y="337070"/>
                </a:moveTo>
                <a:lnTo>
                  <a:pt x="278942" y="244335"/>
                </a:lnTo>
              </a:path>
              <a:path w="514350" h="514350">
                <a:moveTo>
                  <a:pt x="349707" y="421538"/>
                </a:moveTo>
                <a:lnTo>
                  <a:pt x="464604" y="421424"/>
                </a:lnTo>
              </a:path>
              <a:path w="514350" h="514350">
                <a:moveTo>
                  <a:pt x="513981" y="326974"/>
                </a:moveTo>
                <a:lnTo>
                  <a:pt x="444500" y="257352"/>
                </a:lnTo>
              </a:path>
              <a:path w="514350" h="514350">
                <a:moveTo>
                  <a:pt x="376504" y="11988"/>
                </a:moveTo>
                <a:lnTo>
                  <a:pt x="328561" y="61328"/>
                </a:lnTo>
              </a:path>
              <a:path w="514350" h="514350">
                <a:moveTo>
                  <a:pt x="513981" y="326974"/>
                </a:moveTo>
                <a:lnTo>
                  <a:pt x="465848" y="326898"/>
                </a:lnTo>
              </a:path>
              <a:path w="514350" h="514350">
                <a:moveTo>
                  <a:pt x="444665" y="304330"/>
                </a:moveTo>
                <a:lnTo>
                  <a:pt x="444500" y="257352"/>
                </a:lnTo>
              </a:path>
              <a:path w="514350" h="514350">
                <a:moveTo>
                  <a:pt x="514350" y="350253"/>
                </a:moveTo>
                <a:lnTo>
                  <a:pt x="514311" y="498805"/>
                </a:lnTo>
              </a:path>
              <a:path w="514350" h="514350">
                <a:moveTo>
                  <a:pt x="350253" y="375310"/>
                </a:moveTo>
                <a:lnTo>
                  <a:pt x="446938" y="375323"/>
                </a:lnTo>
              </a:path>
              <a:path w="514350" h="514350">
                <a:moveTo>
                  <a:pt x="494245" y="514324"/>
                </a:moveTo>
                <a:lnTo>
                  <a:pt x="320052" y="514324"/>
                </a:lnTo>
              </a:path>
              <a:path w="514350" h="514350">
                <a:moveTo>
                  <a:pt x="300837" y="498805"/>
                </a:moveTo>
                <a:lnTo>
                  <a:pt x="300939" y="271780"/>
                </a:lnTo>
              </a:path>
              <a:path w="514350" h="514350">
                <a:moveTo>
                  <a:pt x="319341" y="257416"/>
                </a:moveTo>
                <a:lnTo>
                  <a:pt x="444500" y="257352"/>
                </a:lnTo>
              </a:path>
              <a:path w="514350" h="514350">
                <a:moveTo>
                  <a:pt x="328561" y="61328"/>
                </a:moveTo>
                <a:lnTo>
                  <a:pt x="97066" y="294347"/>
                </a:lnTo>
              </a:path>
            </a:pathLst>
          </a:custGeom>
          <a:ln w="22606">
            <a:solidFill>
              <a:srgbClr val="FA94A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550150" y="3792537"/>
            <a:ext cx="2750185" cy="8839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5">
                <a:solidFill>
                  <a:srgbClr val="E0D6DE"/>
                </a:solidFill>
                <a:latin typeface="Trebuchet MS"/>
                <a:cs typeface="Trebuchet MS"/>
              </a:rPr>
              <a:t>Information</a:t>
            </a:r>
            <a:r>
              <a:rPr dirty="0" sz="1650" spc="-9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295">
                <a:solidFill>
                  <a:srgbClr val="E0D6DE"/>
                </a:solidFill>
                <a:latin typeface="Trebuchet MS"/>
                <a:cs typeface="Trebuchet MS"/>
              </a:rPr>
              <a:t>&amp;</a:t>
            </a:r>
            <a:r>
              <a:rPr dirty="0" sz="1650" spc="-9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E0D6DE"/>
                </a:solidFill>
                <a:latin typeface="Trebuchet MS"/>
                <a:cs typeface="Trebuchet MS"/>
              </a:rPr>
              <a:t>AnalySiS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dirty="0" sz="1350" spc="-50">
                <a:solidFill>
                  <a:srgbClr val="E0D6DE"/>
                </a:solidFill>
                <a:latin typeface="Trebuchet MS"/>
                <a:cs typeface="Trebuchet MS"/>
              </a:rPr>
              <a:t>Journalism,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research,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policy</a:t>
            </a: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analysis, education.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3" name="object 13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7375" y="3397250"/>
            <a:ext cx="632333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90">
                <a:solidFill>
                  <a:srgbClr val="FA94AE"/>
                </a:solidFill>
                <a:latin typeface="Trebuchet MS"/>
                <a:cs typeface="Trebuchet MS"/>
              </a:rPr>
              <a:t>Making</a:t>
            </a:r>
            <a:r>
              <a:rPr dirty="0" sz="3350" spc="-260">
                <a:solidFill>
                  <a:srgbClr val="FA94AE"/>
                </a:solidFill>
                <a:latin typeface="Trebuchet MS"/>
                <a:cs typeface="Trebuchet MS"/>
              </a:rPr>
              <a:t> </a:t>
            </a:r>
            <a:r>
              <a:rPr dirty="0" sz="3350" spc="-235">
                <a:solidFill>
                  <a:srgbClr val="FA94AE"/>
                </a:solidFill>
                <a:latin typeface="Trebuchet MS"/>
                <a:cs typeface="Trebuchet MS"/>
              </a:rPr>
              <a:t>the</a:t>
            </a:r>
            <a:r>
              <a:rPr dirty="0" sz="3350" spc="-254">
                <a:solidFill>
                  <a:srgbClr val="FA94AE"/>
                </a:solidFill>
                <a:latin typeface="Trebuchet MS"/>
                <a:cs typeface="Trebuchet MS"/>
              </a:rPr>
              <a:t> </a:t>
            </a:r>
            <a:r>
              <a:rPr dirty="0" sz="3350" spc="-245">
                <a:solidFill>
                  <a:srgbClr val="FA94AE"/>
                </a:solidFill>
                <a:latin typeface="Trebuchet MS"/>
                <a:cs typeface="Trebuchet MS"/>
              </a:rPr>
              <a:t>World</a:t>
            </a:r>
            <a:r>
              <a:rPr dirty="0" sz="3350" spc="-260">
                <a:solidFill>
                  <a:srgbClr val="FA94AE"/>
                </a:solidFill>
                <a:latin typeface="Trebuchet MS"/>
                <a:cs typeface="Trebuchet MS"/>
              </a:rPr>
              <a:t> </a:t>
            </a:r>
            <a:r>
              <a:rPr dirty="0" sz="3350" spc="-245">
                <a:solidFill>
                  <a:srgbClr val="FA94AE"/>
                </a:solidFill>
                <a:latin typeface="Trebuchet MS"/>
                <a:cs typeface="Trebuchet MS"/>
              </a:rPr>
              <a:t>Run</a:t>
            </a:r>
            <a:r>
              <a:rPr dirty="0" sz="3350" spc="-254">
                <a:solidFill>
                  <a:srgbClr val="FA94AE"/>
                </a:solidFill>
                <a:latin typeface="Trebuchet MS"/>
                <a:cs typeface="Trebuchet MS"/>
              </a:rPr>
              <a:t> </a:t>
            </a:r>
            <a:r>
              <a:rPr dirty="0" sz="3350" spc="-110">
                <a:solidFill>
                  <a:srgbClr val="FA94AE"/>
                </a:solidFill>
                <a:latin typeface="Trebuchet MS"/>
                <a:cs typeface="Trebuchet MS"/>
              </a:rPr>
              <a:t>More</a:t>
            </a:r>
            <a:r>
              <a:rPr dirty="0" sz="3350" spc="-260">
                <a:solidFill>
                  <a:srgbClr val="FA94AE"/>
                </a:solidFill>
                <a:latin typeface="Trebuchet MS"/>
                <a:cs typeface="Trebuchet MS"/>
              </a:rPr>
              <a:t> </a:t>
            </a:r>
            <a:r>
              <a:rPr dirty="0" sz="3350" spc="-160">
                <a:solidFill>
                  <a:srgbClr val="FA94AE"/>
                </a:solidFill>
                <a:latin typeface="Trebuchet MS"/>
                <a:cs typeface="Trebuchet MS"/>
              </a:rPr>
              <a:t>Smoothly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4117340"/>
            <a:ext cx="10168890" cy="1044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5">
                <a:solidFill>
                  <a:srgbClr val="E0D6DE"/>
                </a:solidFill>
                <a:latin typeface="Trebuchet MS"/>
                <a:cs typeface="Trebuchet MS"/>
              </a:rPr>
              <a:t>If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world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were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machine,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International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Studies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graduates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E0D6DE"/>
                </a:solidFill>
                <a:latin typeface="Trebuchet MS"/>
                <a:cs typeface="Trebuchet MS"/>
              </a:rPr>
              <a:t>are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people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who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understand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how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all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parts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connect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how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to</a:t>
            </a:r>
            <a:r>
              <a:rPr dirty="0" sz="1350" spc="-7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make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it</a:t>
            </a:r>
            <a:r>
              <a:rPr dirty="0" sz="1350" spc="-8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run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more</a:t>
            </a:r>
            <a:r>
              <a:rPr dirty="0" sz="1350" spc="-7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smoothly.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350" spc="-140">
                <a:solidFill>
                  <a:srgbClr val="E0D6DE"/>
                </a:solidFill>
                <a:latin typeface="Trebuchet MS"/>
                <a:cs typeface="Trebuchet MS"/>
              </a:rPr>
              <a:t>We9re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ones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who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grow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up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to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help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countries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E0D6DE"/>
                </a:solidFill>
                <a:latin typeface="Trebuchet MS"/>
                <a:cs typeface="Trebuchet MS"/>
              </a:rPr>
              <a:t>cooperate,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E0D6DE"/>
                </a:solidFill>
                <a:latin typeface="Trebuchet MS"/>
                <a:cs typeface="Trebuchet MS"/>
              </a:rPr>
              <a:t>communicate,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and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avoid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turning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30">
                <a:solidFill>
                  <a:srgbClr val="E0D6DE"/>
                </a:solidFill>
                <a:latin typeface="Trebuchet MS"/>
                <a:cs typeface="Trebuchet MS"/>
              </a:rPr>
              <a:t>the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whole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0">
                <a:solidFill>
                  <a:srgbClr val="E0D6DE"/>
                </a:solidFill>
                <a:latin typeface="Trebuchet MS"/>
                <a:cs typeface="Trebuchet MS"/>
              </a:rPr>
              <a:t>world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E0D6DE"/>
                </a:solidFill>
                <a:latin typeface="Trebuchet MS"/>
                <a:cs typeface="Trebuchet MS"/>
              </a:rPr>
              <a:t>into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E0D6DE"/>
                </a:solidFill>
                <a:latin typeface="Trebuchet MS"/>
                <a:cs typeface="Trebuchet MS"/>
              </a:rPr>
              <a:t>a</a:t>
            </a:r>
            <a:r>
              <a:rPr dirty="0" sz="1350" spc="-60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playground</a:t>
            </a:r>
            <a:r>
              <a:rPr dirty="0" sz="1350" spc="-65">
                <a:solidFill>
                  <a:srgbClr val="E0D6DE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E0D6DE"/>
                </a:solidFill>
                <a:latin typeface="Trebuchet MS"/>
                <a:cs typeface="Trebuchet MS"/>
              </a:rPr>
              <a:t>fight.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4" name="object 4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0"/>
              <a:t>Beyond</a:t>
            </a:r>
            <a:r>
              <a:rPr dirty="0" spc="-254"/>
              <a:t> </a:t>
            </a:r>
            <a:r>
              <a:rPr dirty="0" spc="-229"/>
              <a:t>FlagS:</a:t>
            </a:r>
            <a:r>
              <a:rPr dirty="0" spc="-250"/>
              <a:t> </a:t>
            </a:r>
            <a:r>
              <a:rPr dirty="0" spc="-360"/>
              <a:t>A</a:t>
            </a:r>
            <a:r>
              <a:rPr dirty="0" spc="-254"/>
              <a:t> </a:t>
            </a:r>
            <a:r>
              <a:rPr dirty="0" spc="-225"/>
              <a:t>Connected</a:t>
            </a:r>
            <a:r>
              <a:rPr dirty="0" spc="-250"/>
              <a:t> </a:t>
            </a:r>
            <a:r>
              <a:rPr dirty="0" spc="-140"/>
              <a:t>SyStem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pc="-25"/>
              <a:t>International</a:t>
            </a:r>
            <a:r>
              <a:rPr dirty="0" spc="-70"/>
              <a:t> </a:t>
            </a:r>
            <a:r>
              <a:rPr dirty="0"/>
              <a:t>Studies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 spc="-10"/>
              <a:t>not</a:t>
            </a:r>
            <a:r>
              <a:rPr dirty="0" spc="-65"/>
              <a:t> </a:t>
            </a:r>
            <a:r>
              <a:rPr dirty="0" spc="-10"/>
              <a:t>about</a:t>
            </a:r>
            <a:r>
              <a:rPr dirty="0" spc="-65"/>
              <a:t> </a:t>
            </a:r>
            <a:r>
              <a:rPr dirty="0" spc="-25"/>
              <a:t>memorizing</a:t>
            </a:r>
            <a:r>
              <a:rPr dirty="0" spc="-65"/>
              <a:t> </a:t>
            </a:r>
            <a:r>
              <a:rPr dirty="0" spc="-25"/>
              <a:t>flags</a:t>
            </a:r>
            <a:r>
              <a:rPr dirty="0" spc="-65"/>
              <a:t> </a:t>
            </a:r>
            <a:r>
              <a:rPr dirty="0"/>
              <a:t>or</a:t>
            </a:r>
            <a:r>
              <a:rPr dirty="0" spc="-65"/>
              <a:t> </a:t>
            </a:r>
            <a:r>
              <a:rPr dirty="0" spc="-20"/>
              <a:t>learning</a:t>
            </a:r>
            <a:r>
              <a:rPr dirty="0" spc="-65"/>
              <a:t> </a:t>
            </a:r>
            <a:r>
              <a:rPr dirty="0"/>
              <a:t>random</a:t>
            </a:r>
            <a:r>
              <a:rPr dirty="0" spc="-65"/>
              <a:t> </a:t>
            </a:r>
            <a:r>
              <a:rPr dirty="0" spc="-10"/>
              <a:t>facts about</a:t>
            </a:r>
            <a:r>
              <a:rPr dirty="0" spc="-65"/>
              <a:t> </a:t>
            </a:r>
            <a:r>
              <a:rPr dirty="0" spc="-40"/>
              <a:t>countries.</a:t>
            </a:r>
            <a:r>
              <a:rPr dirty="0" spc="-65"/>
              <a:t> </a:t>
            </a:r>
            <a:r>
              <a:rPr dirty="0" spc="-130"/>
              <a:t>It9s</a:t>
            </a:r>
            <a:r>
              <a:rPr dirty="0" spc="-65"/>
              <a:t> </a:t>
            </a:r>
            <a:r>
              <a:rPr dirty="0" spc="-10"/>
              <a:t>about</a:t>
            </a:r>
            <a:r>
              <a:rPr dirty="0" spc="-60"/>
              <a:t> </a:t>
            </a:r>
            <a:r>
              <a:rPr dirty="0" spc="-10"/>
              <a:t>understanding</a:t>
            </a:r>
            <a:r>
              <a:rPr dirty="0" spc="-65"/>
              <a:t> </a:t>
            </a:r>
            <a:r>
              <a:rPr dirty="0"/>
              <a:t>how</a:t>
            </a:r>
            <a:r>
              <a:rPr dirty="0" spc="-65"/>
              <a:t> </a:t>
            </a:r>
            <a:r>
              <a:rPr dirty="0" spc="-30"/>
              <a:t>the</a:t>
            </a:r>
            <a:r>
              <a:rPr dirty="0" spc="-65"/>
              <a:t> </a:t>
            </a:r>
            <a:r>
              <a:rPr dirty="0" spc="-20"/>
              <a:t>world</a:t>
            </a:r>
            <a:r>
              <a:rPr dirty="0" spc="-60"/>
              <a:t> </a:t>
            </a:r>
            <a:r>
              <a:rPr dirty="0" spc="-40"/>
              <a:t>actually</a:t>
            </a:r>
            <a:r>
              <a:rPr dirty="0" spc="-65"/>
              <a:t> </a:t>
            </a:r>
            <a:r>
              <a:rPr dirty="0" spc="-10"/>
              <a:t>works</a:t>
            </a:r>
            <a:r>
              <a:rPr dirty="0" spc="-65"/>
              <a:t> </a:t>
            </a:r>
            <a:r>
              <a:rPr dirty="0" spc="345"/>
              <a:t>4</a:t>
            </a:r>
            <a:r>
              <a:rPr dirty="0" spc="-65"/>
              <a:t> </a:t>
            </a:r>
            <a:r>
              <a:rPr dirty="0" spc="-25"/>
              <a:t>how </a:t>
            </a:r>
            <a:r>
              <a:rPr dirty="0" spc="-10"/>
              <a:t>economies</a:t>
            </a:r>
            <a:r>
              <a:rPr dirty="0" spc="-55"/>
              <a:t> </a:t>
            </a:r>
            <a:r>
              <a:rPr dirty="0"/>
              <a:t>depend</a:t>
            </a:r>
            <a:r>
              <a:rPr dirty="0" spc="-55"/>
              <a:t> </a:t>
            </a:r>
            <a:r>
              <a:rPr dirty="0"/>
              <a:t>on</a:t>
            </a:r>
            <a:r>
              <a:rPr dirty="0" spc="-55"/>
              <a:t> </a:t>
            </a:r>
            <a:r>
              <a:rPr dirty="0" spc="-20"/>
              <a:t>each</a:t>
            </a:r>
            <a:r>
              <a:rPr dirty="0" spc="-55"/>
              <a:t> </a:t>
            </a:r>
            <a:r>
              <a:rPr dirty="0" spc="-75"/>
              <a:t>other,</a:t>
            </a:r>
            <a:r>
              <a:rPr dirty="0" spc="-55"/>
              <a:t> </a:t>
            </a:r>
            <a:r>
              <a:rPr dirty="0"/>
              <a:t>how</a:t>
            </a:r>
            <a:r>
              <a:rPr dirty="0" spc="-55"/>
              <a:t> </a:t>
            </a:r>
            <a:r>
              <a:rPr dirty="0" spc="-30"/>
              <a:t>cultures</a:t>
            </a:r>
            <a:r>
              <a:rPr dirty="0" spc="-50"/>
              <a:t> </a:t>
            </a:r>
            <a:r>
              <a:rPr dirty="0"/>
              <a:t>shape</a:t>
            </a:r>
            <a:r>
              <a:rPr dirty="0" spc="-55"/>
              <a:t> </a:t>
            </a:r>
            <a:r>
              <a:rPr dirty="0" spc="-25"/>
              <a:t>decisions,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25"/>
              <a:t>how cooperation</a:t>
            </a:r>
            <a:r>
              <a:rPr dirty="0" spc="-70"/>
              <a:t> </a:t>
            </a:r>
            <a:r>
              <a:rPr dirty="0" spc="-10"/>
              <a:t>can</a:t>
            </a:r>
            <a:r>
              <a:rPr dirty="0" spc="-65"/>
              <a:t> </a:t>
            </a:r>
            <a:r>
              <a:rPr dirty="0" spc="-10"/>
              <a:t>solve</a:t>
            </a:r>
            <a:r>
              <a:rPr dirty="0" spc="-70"/>
              <a:t> </a:t>
            </a:r>
            <a:r>
              <a:rPr dirty="0" spc="-10"/>
              <a:t>global</a:t>
            </a:r>
            <a:r>
              <a:rPr dirty="0" spc="-65"/>
              <a:t> </a:t>
            </a:r>
            <a:r>
              <a:rPr dirty="0" spc="-10"/>
              <a:t>problems.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</a:p>
          <a:p>
            <a:pPr marL="12700" marR="267335">
              <a:lnSpc>
                <a:spcPct val="129600"/>
              </a:lnSpc>
            </a:pPr>
            <a:r>
              <a:rPr dirty="0" spc="-25"/>
              <a:t>This</a:t>
            </a:r>
            <a:r>
              <a:rPr dirty="0" spc="-55"/>
              <a:t> </a:t>
            </a:r>
            <a:r>
              <a:rPr dirty="0" spc="-40"/>
              <a:t>major</a:t>
            </a:r>
            <a:r>
              <a:rPr dirty="0" spc="-55"/>
              <a:t> </a:t>
            </a:r>
            <a:r>
              <a:rPr dirty="0" spc="-30"/>
              <a:t>teaches</a:t>
            </a:r>
            <a:r>
              <a:rPr dirty="0" spc="-55"/>
              <a:t> </a:t>
            </a:r>
            <a:r>
              <a:rPr dirty="0"/>
              <a:t>us</a:t>
            </a:r>
            <a:r>
              <a:rPr dirty="0" spc="-55"/>
              <a:t> </a:t>
            </a:r>
            <a:r>
              <a:rPr dirty="0" spc="-30"/>
              <a:t>to</a:t>
            </a:r>
            <a:r>
              <a:rPr dirty="0" spc="-55"/>
              <a:t> </a:t>
            </a:r>
            <a:r>
              <a:rPr dirty="0" spc="-20"/>
              <a:t>think</a:t>
            </a:r>
            <a:r>
              <a:rPr dirty="0" spc="-55"/>
              <a:t> </a:t>
            </a:r>
            <a:r>
              <a:rPr dirty="0" spc="-50"/>
              <a:t>globally, </a:t>
            </a:r>
            <a:r>
              <a:rPr dirty="0" spc="-30"/>
              <a:t>communicate</a:t>
            </a:r>
            <a:r>
              <a:rPr dirty="0" spc="-55"/>
              <a:t> </a:t>
            </a:r>
            <a:r>
              <a:rPr dirty="0" spc="-65"/>
              <a:t>wisely,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20"/>
              <a:t>imagine</a:t>
            </a:r>
            <a:r>
              <a:rPr dirty="0" spc="-55"/>
              <a:t> </a:t>
            </a:r>
            <a:r>
              <a:rPr dirty="0" spc="-50"/>
              <a:t>a </a:t>
            </a:r>
            <a:r>
              <a:rPr dirty="0" spc="-20"/>
              <a:t>world</a:t>
            </a:r>
            <a:r>
              <a:rPr dirty="0" spc="-60"/>
              <a:t> </a:t>
            </a:r>
            <a:r>
              <a:rPr dirty="0" spc="-40"/>
              <a:t>where</a:t>
            </a:r>
            <a:r>
              <a:rPr dirty="0" spc="-55"/>
              <a:t> </a:t>
            </a:r>
            <a:r>
              <a:rPr dirty="0" spc="-25"/>
              <a:t>cooperation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 spc="-25"/>
              <a:t>stronger</a:t>
            </a:r>
            <a:r>
              <a:rPr dirty="0" spc="-55"/>
              <a:t> </a:t>
            </a:r>
            <a:r>
              <a:rPr dirty="0" spc="-10"/>
              <a:t>than</a:t>
            </a:r>
            <a:r>
              <a:rPr dirty="0" spc="-55"/>
              <a:t> </a:t>
            </a:r>
            <a:r>
              <a:rPr dirty="0" spc="-10"/>
              <a:t>conflict.</a:t>
            </a: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2025-11-18T04:32:16Z</dcterms:created>
  <dcterms:modified xsi:type="dcterms:W3CDTF">2025-11-18T04:32:16Z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2025-11-17T00:00:00Z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2025-11-18T00:00:00Z</vt:filetime>
  </property>
  <property fmtid="{D5CDD505-2E9C-101B-9397-08002B2CF9AE}" pid="5" name="Producer">
    <vt:lpwstr>GPL Ghostscript 9.56.1</vt:lpwstr>
  </property>
</Properties>
</file>