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1" r:id="rId15"/>
    <p:sldId id="272" r:id="rId16"/>
    <p:sldId id="274" r:id="rId17"/>
    <p:sldId id="275" r:id="rId18"/>
    <p:sldId id="276" r:id="rId19"/>
    <p:sldId id="277" r:id="rId20"/>
    <p:sldId id="278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1459507-7FA5-4245-B875-23B34D260F9B}">
          <p14:sldIdLst>
            <p14:sldId id="256"/>
            <p14:sldId id="257"/>
          </p14:sldIdLst>
        </p14:section>
        <p14:section name="What is Electronic Engineering" id="{372C868E-3CEA-4292-8421-56BF76E80E37}">
          <p14:sldIdLst>
            <p14:sldId id="259"/>
            <p14:sldId id="260"/>
          </p14:sldIdLst>
        </p14:section>
        <p14:section name="Applications 1 — PCB &amp; Basic Electronics" id="{211D81F3-66D8-4208-8944-440A137755A6}">
          <p14:sldIdLst>
            <p14:sldId id="261"/>
            <p14:sldId id="262"/>
          </p14:sldIdLst>
        </p14:section>
        <p14:section name="Applications 2 — Communication Systems" id="{25037B53-C6F6-4E6A-9C4F-E8477920867F}">
          <p14:sldIdLst>
            <p14:sldId id="263"/>
            <p14:sldId id="264"/>
          </p14:sldIdLst>
        </p14:section>
        <p14:section name="Applications 3 — Advanced Technologies" id="{1D73B13C-8AB2-442B-B648-857549EDC0D7}">
          <p14:sldIdLst>
            <p14:sldId id="265"/>
            <p14:sldId id="266"/>
            <p14:sldId id="267"/>
          </p14:sldIdLst>
        </p14:section>
        <p14:section name="My Project Example" id="{22338342-659D-4D3C-BABA-A3731D18C014}">
          <p14:sldIdLst>
            <p14:sldId id="268"/>
            <p14:sldId id="269"/>
          </p14:sldIdLst>
        </p14:section>
        <p14:section name="Core Theories and Real-Life Examples" id="{AC5F68DD-F114-46F4-B95F-E0D3CE74A391}">
          <p14:sldIdLst>
            <p14:sldId id="271"/>
            <p14:sldId id="272"/>
            <p14:sldId id="274"/>
          </p14:sldIdLst>
        </p14:section>
        <p14:section name="Conclusion" id="{3172BBBA-6D39-4482-8108-66F121180822}">
          <p14:sldIdLst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19" autoAdjust="0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3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7001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26" Type="http://schemas.openxmlformats.org/officeDocument/2006/relationships/image" Target="../media/image39.png"/><Relationship Id="rId3" Type="http://schemas.openxmlformats.org/officeDocument/2006/relationships/image" Target="../media/image10.png"/><Relationship Id="rId21" Type="http://schemas.openxmlformats.org/officeDocument/2006/relationships/image" Target="../media/image34.png"/><Relationship Id="rId7" Type="http://schemas.openxmlformats.org/officeDocument/2006/relationships/image" Target="../media/image14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5" Type="http://schemas.openxmlformats.org/officeDocument/2006/relationships/image" Target="../media/image3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24.png"/><Relationship Id="rId24" Type="http://schemas.openxmlformats.org/officeDocument/2006/relationships/image" Target="../media/image37.png"/><Relationship Id="rId5" Type="http://schemas.openxmlformats.org/officeDocument/2006/relationships/image" Target="../media/image12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28" Type="http://schemas.openxmlformats.org/officeDocument/2006/relationships/image" Target="../media/image41.png"/><Relationship Id="rId10" Type="http://schemas.openxmlformats.org/officeDocument/2006/relationships/image" Target="../media/image16.png"/><Relationship Id="rId19" Type="http://schemas.openxmlformats.org/officeDocument/2006/relationships/image" Target="../media/image32.png"/><Relationship Id="rId4" Type="http://schemas.openxmlformats.org/officeDocument/2006/relationships/image" Target="../media/image11.png"/><Relationship Id="rId9" Type="http://schemas.openxmlformats.org/officeDocument/2006/relationships/image" Target="../media/image23.png"/><Relationship Id="rId14" Type="http://schemas.openxmlformats.org/officeDocument/2006/relationships/image" Target="../media/image27.png"/><Relationship Id="rId22" Type="http://schemas.openxmlformats.org/officeDocument/2006/relationships/image" Target="../media/image35.png"/><Relationship Id="rId27" Type="http://schemas.openxmlformats.org/officeDocument/2006/relationships/image" Target="../media/image4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44.png"/><Relationship Id="rId17" Type="http://schemas.openxmlformats.org/officeDocument/2006/relationships/image" Target="../media/image49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43.png"/><Relationship Id="rId5" Type="http://schemas.openxmlformats.org/officeDocument/2006/relationships/image" Target="../media/image12.png"/><Relationship Id="rId15" Type="http://schemas.openxmlformats.org/officeDocument/2006/relationships/image" Target="../media/image47.png"/><Relationship Id="rId10" Type="http://schemas.openxmlformats.org/officeDocument/2006/relationships/image" Target="../media/image16.png"/><Relationship Id="rId19" Type="http://schemas.openxmlformats.org/officeDocument/2006/relationships/image" Target="../media/image51.png"/><Relationship Id="rId4" Type="http://schemas.openxmlformats.org/officeDocument/2006/relationships/image" Target="../media/image11.png"/><Relationship Id="rId9" Type="http://schemas.openxmlformats.org/officeDocument/2006/relationships/image" Target="../media/image42.png"/><Relationship Id="rId14" Type="http://schemas.openxmlformats.org/officeDocument/2006/relationships/image" Target="../media/image4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57.png"/><Relationship Id="rId18" Type="http://schemas.openxmlformats.org/officeDocument/2006/relationships/image" Target="../media/image62.png"/><Relationship Id="rId3" Type="http://schemas.openxmlformats.org/officeDocument/2006/relationships/image" Target="../media/image10.png"/><Relationship Id="rId21" Type="http://schemas.openxmlformats.org/officeDocument/2006/relationships/image" Target="../media/image65.png"/><Relationship Id="rId7" Type="http://schemas.openxmlformats.org/officeDocument/2006/relationships/image" Target="../media/image13.png"/><Relationship Id="rId12" Type="http://schemas.openxmlformats.org/officeDocument/2006/relationships/image" Target="../media/image56.png"/><Relationship Id="rId17" Type="http://schemas.openxmlformats.org/officeDocument/2006/relationships/image" Target="../media/image61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0.png"/><Relationship Id="rId20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55.png"/><Relationship Id="rId24" Type="http://schemas.openxmlformats.org/officeDocument/2006/relationships/image" Target="../media/image22.png"/><Relationship Id="rId5" Type="http://schemas.openxmlformats.org/officeDocument/2006/relationships/image" Target="../media/image11.png"/><Relationship Id="rId15" Type="http://schemas.openxmlformats.org/officeDocument/2006/relationships/image" Target="../media/image59.png"/><Relationship Id="rId23" Type="http://schemas.openxmlformats.org/officeDocument/2006/relationships/image" Target="../media/image67.png"/><Relationship Id="rId10" Type="http://schemas.openxmlformats.org/officeDocument/2006/relationships/image" Target="../media/image54.png"/><Relationship Id="rId19" Type="http://schemas.openxmlformats.org/officeDocument/2006/relationships/image" Target="../media/image63.png"/><Relationship Id="rId4" Type="http://schemas.openxmlformats.org/officeDocument/2006/relationships/image" Target="../media/image52.png"/><Relationship Id="rId9" Type="http://schemas.openxmlformats.org/officeDocument/2006/relationships/image" Target="../media/image53.png"/><Relationship Id="rId14" Type="http://schemas.openxmlformats.org/officeDocument/2006/relationships/image" Target="../media/image58.png"/><Relationship Id="rId22" Type="http://schemas.openxmlformats.org/officeDocument/2006/relationships/image" Target="../media/image6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10.png"/><Relationship Id="rId7" Type="http://schemas.openxmlformats.org/officeDocument/2006/relationships/image" Target="../media/image69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76.png"/><Relationship Id="rId20" Type="http://schemas.openxmlformats.org/officeDocument/2006/relationships/image" Target="../media/image8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11" Type="http://schemas.openxmlformats.org/officeDocument/2006/relationships/image" Target="../media/image71.png"/><Relationship Id="rId5" Type="http://schemas.openxmlformats.org/officeDocument/2006/relationships/image" Target="../media/image15.png"/><Relationship Id="rId15" Type="http://schemas.openxmlformats.org/officeDocument/2006/relationships/image" Target="../media/image75.png"/><Relationship Id="rId10" Type="http://schemas.openxmlformats.org/officeDocument/2006/relationships/image" Target="../media/image16.png"/><Relationship Id="rId19" Type="http://schemas.openxmlformats.org/officeDocument/2006/relationships/image" Target="../media/image79.jpeg"/><Relationship Id="rId4" Type="http://schemas.openxmlformats.org/officeDocument/2006/relationships/image" Target="../media/image14.png"/><Relationship Id="rId9" Type="http://schemas.openxmlformats.org/officeDocument/2006/relationships/image" Target="../media/image70.png"/><Relationship Id="rId14" Type="http://schemas.openxmlformats.org/officeDocument/2006/relationships/image" Target="../media/image7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13" Type="http://schemas.openxmlformats.org/officeDocument/2006/relationships/image" Target="../media/image87.png"/><Relationship Id="rId18" Type="http://schemas.openxmlformats.org/officeDocument/2006/relationships/image" Target="../media/image92.png"/><Relationship Id="rId3" Type="http://schemas.openxmlformats.org/officeDocument/2006/relationships/image" Target="../media/image81.png"/><Relationship Id="rId21" Type="http://schemas.openxmlformats.org/officeDocument/2006/relationships/image" Target="../media/image95.png"/><Relationship Id="rId7" Type="http://schemas.openxmlformats.org/officeDocument/2006/relationships/image" Target="../media/image15.png"/><Relationship Id="rId12" Type="http://schemas.openxmlformats.org/officeDocument/2006/relationships/image" Target="../media/image86.png"/><Relationship Id="rId17" Type="http://schemas.openxmlformats.org/officeDocument/2006/relationships/image" Target="../media/image91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90.png"/><Relationship Id="rId20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55.png"/><Relationship Id="rId5" Type="http://schemas.openxmlformats.org/officeDocument/2006/relationships/image" Target="../media/image14.png"/><Relationship Id="rId15" Type="http://schemas.openxmlformats.org/officeDocument/2006/relationships/image" Target="../media/image89.png"/><Relationship Id="rId23" Type="http://schemas.openxmlformats.org/officeDocument/2006/relationships/image" Target="../media/image97.png"/><Relationship Id="rId10" Type="http://schemas.openxmlformats.org/officeDocument/2006/relationships/image" Target="../media/image85.png"/><Relationship Id="rId19" Type="http://schemas.openxmlformats.org/officeDocument/2006/relationships/image" Target="../media/image93.png"/><Relationship Id="rId4" Type="http://schemas.openxmlformats.org/officeDocument/2006/relationships/image" Target="../media/image82.png"/><Relationship Id="rId9" Type="http://schemas.openxmlformats.org/officeDocument/2006/relationships/image" Target="../media/image84.png"/><Relationship Id="rId14" Type="http://schemas.openxmlformats.org/officeDocument/2006/relationships/image" Target="../media/image88.png"/><Relationship Id="rId22" Type="http://schemas.openxmlformats.org/officeDocument/2006/relationships/image" Target="../media/image9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101.png"/><Relationship Id="rId18" Type="http://schemas.openxmlformats.org/officeDocument/2006/relationships/image" Target="../media/image106.png"/><Relationship Id="rId26" Type="http://schemas.openxmlformats.org/officeDocument/2006/relationships/image" Target="../media/image114.png"/><Relationship Id="rId3" Type="http://schemas.openxmlformats.org/officeDocument/2006/relationships/image" Target="../media/image10.png"/><Relationship Id="rId21" Type="http://schemas.openxmlformats.org/officeDocument/2006/relationships/image" Target="../media/image109.png"/><Relationship Id="rId7" Type="http://schemas.openxmlformats.org/officeDocument/2006/relationships/image" Target="../media/image98.png"/><Relationship Id="rId12" Type="http://schemas.openxmlformats.org/officeDocument/2006/relationships/image" Target="../media/image100.png"/><Relationship Id="rId17" Type="http://schemas.openxmlformats.org/officeDocument/2006/relationships/image" Target="../media/image105.png"/><Relationship Id="rId25" Type="http://schemas.openxmlformats.org/officeDocument/2006/relationships/image" Target="../media/image11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04.png"/><Relationship Id="rId20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99.png"/><Relationship Id="rId24" Type="http://schemas.openxmlformats.org/officeDocument/2006/relationships/image" Target="../media/image112.png"/><Relationship Id="rId5" Type="http://schemas.openxmlformats.org/officeDocument/2006/relationships/image" Target="../media/image15.png"/><Relationship Id="rId15" Type="http://schemas.openxmlformats.org/officeDocument/2006/relationships/image" Target="../media/image103.png"/><Relationship Id="rId23" Type="http://schemas.openxmlformats.org/officeDocument/2006/relationships/image" Target="../media/image111.png"/><Relationship Id="rId10" Type="http://schemas.openxmlformats.org/officeDocument/2006/relationships/image" Target="../media/image55.png"/><Relationship Id="rId19" Type="http://schemas.openxmlformats.org/officeDocument/2006/relationships/image" Target="../media/image107.png"/><Relationship Id="rId4" Type="http://schemas.openxmlformats.org/officeDocument/2006/relationships/image" Target="../media/image14.png"/><Relationship Id="rId9" Type="http://schemas.openxmlformats.org/officeDocument/2006/relationships/image" Target="../media/image54.png"/><Relationship Id="rId14" Type="http://schemas.openxmlformats.org/officeDocument/2006/relationships/image" Target="../media/image102.png"/><Relationship Id="rId22" Type="http://schemas.openxmlformats.org/officeDocument/2006/relationships/image" Target="../media/image110.png"/><Relationship Id="rId27" Type="http://schemas.openxmlformats.org/officeDocument/2006/relationships/image" Target="../media/image1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118.png"/><Relationship Id="rId18" Type="http://schemas.openxmlformats.org/officeDocument/2006/relationships/image" Target="../media/image123.png"/><Relationship Id="rId3" Type="http://schemas.openxmlformats.org/officeDocument/2006/relationships/image" Target="../media/image10.png"/><Relationship Id="rId7" Type="http://schemas.openxmlformats.org/officeDocument/2006/relationships/image" Target="../media/image98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16.png"/><Relationship Id="rId5" Type="http://schemas.openxmlformats.org/officeDocument/2006/relationships/image" Target="../media/image15.png"/><Relationship Id="rId15" Type="http://schemas.openxmlformats.org/officeDocument/2006/relationships/image" Target="../media/image120.png"/><Relationship Id="rId10" Type="http://schemas.openxmlformats.org/officeDocument/2006/relationships/image" Target="../media/image55.png"/><Relationship Id="rId19" Type="http://schemas.openxmlformats.org/officeDocument/2006/relationships/image" Target="../media/image124.png"/><Relationship Id="rId4" Type="http://schemas.openxmlformats.org/officeDocument/2006/relationships/image" Target="../media/image14.png"/><Relationship Id="rId9" Type="http://schemas.openxmlformats.org/officeDocument/2006/relationships/image" Target="../media/image54.png"/><Relationship Id="rId14" Type="http://schemas.openxmlformats.org/officeDocument/2006/relationships/image" Target="../media/image1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27.png"/><Relationship Id="rId18" Type="http://schemas.openxmlformats.org/officeDocument/2006/relationships/image" Target="../media/image132.png"/><Relationship Id="rId26" Type="http://schemas.openxmlformats.org/officeDocument/2006/relationships/image" Target="../media/image140.png"/><Relationship Id="rId3" Type="http://schemas.openxmlformats.org/officeDocument/2006/relationships/image" Target="../media/image10.png"/><Relationship Id="rId21" Type="http://schemas.openxmlformats.org/officeDocument/2006/relationships/image" Target="../media/image135.png"/><Relationship Id="rId7" Type="http://schemas.openxmlformats.org/officeDocument/2006/relationships/image" Target="../media/image14.png"/><Relationship Id="rId12" Type="http://schemas.openxmlformats.org/officeDocument/2006/relationships/image" Target="../media/image126.png"/><Relationship Id="rId17" Type="http://schemas.openxmlformats.org/officeDocument/2006/relationships/image" Target="../media/image131.png"/><Relationship Id="rId25" Type="http://schemas.openxmlformats.org/officeDocument/2006/relationships/image" Target="../media/image139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30.png"/><Relationship Id="rId20" Type="http://schemas.openxmlformats.org/officeDocument/2006/relationships/image" Target="../media/image134.png"/><Relationship Id="rId29" Type="http://schemas.openxmlformats.org/officeDocument/2006/relationships/image" Target="../media/image1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25.png"/><Relationship Id="rId24" Type="http://schemas.openxmlformats.org/officeDocument/2006/relationships/image" Target="../media/image138.png"/><Relationship Id="rId5" Type="http://schemas.openxmlformats.org/officeDocument/2006/relationships/image" Target="../media/image12.png"/><Relationship Id="rId15" Type="http://schemas.openxmlformats.org/officeDocument/2006/relationships/image" Target="../media/image129.png"/><Relationship Id="rId23" Type="http://schemas.openxmlformats.org/officeDocument/2006/relationships/image" Target="../media/image137.png"/><Relationship Id="rId28" Type="http://schemas.openxmlformats.org/officeDocument/2006/relationships/image" Target="../media/image142.png"/><Relationship Id="rId10" Type="http://schemas.openxmlformats.org/officeDocument/2006/relationships/image" Target="../media/image55.png"/><Relationship Id="rId19" Type="http://schemas.openxmlformats.org/officeDocument/2006/relationships/image" Target="../media/image133.png"/><Relationship Id="rId31" Type="http://schemas.openxmlformats.org/officeDocument/2006/relationships/image" Target="../media/image145.png"/><Relationship Id="rId4" Type="http://schemas.openxmlformats.org/officeDocument/2006/relationships/image" Target="../media/image11.png"/><Relationship Id="rId9" Type="http://schemas.openxmlformats.org/officeDocument/2006/relationships/image" Target="../media/image42.png"/><Relationship Id="rId14" Type="http://schemas.openxmlformats.org/officeDocument/2006/relationships/image" Target="../media/image128.png"/><Relationship Id="rId22" Type="http://schemas.openxmlformats.org/officeDocument/2006/relationships/image" Target="../media/image136.png"/><Relationship Id="rId27" Type="http://schemas.openxmlformats.org/officeDocument/2006/relationships/image" Target="../media/image141.png"/><Relationship Id="rId30" Type="http://schemas.openxmlformats.org/officeDocument/2006/relationships/image" Target="../media/image14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49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4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47.png"/><Relationship Id="rId5" Type="http://schemas.openxmlformats.org/officeDocument/2006/relationships/image" Target="../media/image12.png"/><Relationship Id="rId15" Type="http://schemas.openxmlformats.org/officeDocument/2006/relationships/image" Target="../media/image151.png"/><Relationship Id="rId10" Type="http://schemas.openxmlformats.org/officeDocument/2006/relationships/image" Target="../media/image146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15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54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53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5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52.png"/><Relationship Id="rId5" Type="http://schemas.openxmlformats.org/officeDocument/2006/relationships/image" Target="../media/image12.png"/><Relationship Id="rId15" Type="http://schemas.openxmlformats.org/officeDocument/2006/relationships/image" Target="../media/image156.png"/><Relationship Id="rId10" Type="http://schemas.openxmlformats.org/officeDocument/2006/relationships/image" Target="../media/image55.png"/><Relationship Id="rId4" Type="http://schemas.openxmlformats.org/officeDocument/2006/relationships/image" Target="../media/image11.png"/><Relationship Id="rId9" Type="http://schemas.openxmlformats.org/officeDocument/2006/relationships/image" Target="../media/image23.png"/><Relationship Id="rId14" Type="http://schemas.openxmlformats.org/officeDocument/2006/relationships/image" Target="../media/image15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160.png"/><Relationship Id="rId18" Type="http://schemas.openxmlformats.org/officeDocument/2006/relationships/image" Target="../media/image165.png"/><Relationship Id="rId26" Type="http://schemas.openxmlformats.org/officeDocument/2006/relationships/image" Target="../media/image173.jpg"/><Relationship Id="rId3" Type="http://schemas.openxmlformats.org/officeDocument/2006/relationships/image" Target="../media/image10.png"/><Relationship Id="rId21" Type="http://schemas.openxmlformats.org/officeDocument/2006/relationships/image" Target="../media/image168.png"/><Relationship Id="rId7" Type="http://schemas.openxmlformats.org/officeDocument/2006/relationships/image" Target="../media/image14.png"/><Relationship Id="rId12" Type="http://schemas.openxmlformats.org/officeDocument/2006/relationships/image" Target="../media/image159.png"/><Relationship Id="rId17" Type="http://schemas.openxmlformats.org/officeDocument/2006/relationships/image" Target="../media/image164.png"/><Relationship Id="rId25" Type="http://schemas.openxmlformats.org/officeDocument/2006/relationships/image" Target="../media/image172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63.png"/><Relationship Id="rId20" Type="http://schemas.openxmlformats.org/officeDocument/2006/relationships/image" Target="../media/image16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58.png"/><Relationship Id="rId24" Type="http://schemas.openxmlformats.org/officeDocument/2006/relationships/image" Target="../media/image171.png"/><Relationship Id="rId5" Type="http://schemas.openxmlformats.org/officeDocument/2006/relationships/image" Target="../media/image15.png"/><Relationship Id="rId15" Type="http://schemas.openxmlformats.org/officeDocument/2006/relationships/image" Target="../media/image162.png"/><Relationship Id="rId23" Type="http://schemas.openxmlformats.org/officeDocument/2006/relationships/image" Target="../media/image170.png"/><Relationship Id="rId10" Type="http://schemas.openxmlformats.org/officeDocument/2006/relationships/image" Target="../media/image16.png"/><Relationship Id="rId19" Type="http://schemas.openxmlformats.org/officeDocument/2006/relationships/image" Target="../media/image166.png"/><Relationship Id="rId4" Type="http://schemas.openxmlformats.org/officeDocument/2006/relationships/image" Target="../media/image11.png"/><Relationship Id="rId9" Type="http://schemas.openxmlformats.org/officeDocument/2006/relationships/image" Target="../media/image54.png"/><Relationship Id="rId14" Type="http://schemas.openxmlformats.org/officeDocument/2006/relationships/image" Target="../media/image161.png"/><Relationship Id="rId22" Type="http://schemas.openxmlformats.org/officeDocument/2006/relationships/image" Target="../media/image16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7.png"/><Relationship Id="rId13" Type="http://schemas.openxmlformats.org/officeDocument/2006/relationships/image" Target="../media/image182.png"/><Relationship Id="rId18" Type="http://schemas.openxmlformats.org/officeDocument/2006/relationships/image" Target="../media/image187.jpeg"/><Relationship Id="rId3" Type="http://schemas.openxmlformats.org/officeDocument/2006/relationships/image" Target="../media/image10.png"/><Relationship Id="rId7" Type="http://schemas.openxmlformats.org/officeDocument/2006/relationships/image" Target="../media/image176.png"/><Relationship Id="rId12" Type="http://schemas.openxmlformats.org/officeDocument/2006/relationships/image" Target="../media/image181.png"/><Relationship Id="rId17" Type="http://schemas.openxmlformats.org/officeDocument/2006/relationships/image" Target="../media/image186.jpe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1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5.png"/><Relationship Id="rId11" Type="http://schemas.openxmlformats.org/officeDocument/2006/relationships/image" Target="../media/image180.png"/><Relationship Id="rId5" Type="http://schemas.openxmlformats.org/officeDocument/2006/relationships/image" Target="../media/image55.png"/><Relationship Id="rId15" Type="http://schemas.openxmlformats.org/officeDocument/2006/relationships/image" Target="../media/image184.png"/><Relationship Id="rId10" Type="http://schemas.openxmlformats.org/officeDocument/2006/relationships/image" Target="../media/image179.png"/><Relationship Id="rId4" Type="http://schemas.openxmlformats.org/officeDocument/2006/relationships/image" Target="../media/image174.png"/><Relationship Id="rId9" Type="http://schemas.openxmlformats.org/officeDocument/2006/relationships/image" Target="../media/image178.png"/><Relationship Id="rId14" Type="http://schemas.openxmlformats.org/officeDocument/2006/relationships/image" Target="../media/image18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91.png"/><Relationship Id="rId18" Type="http://schemas.openxmlformats.org/officeDocument/2006/relationships/image" Target="../media/image196.png"/><Relationship Id="rId3" Type="http://schemas.openxmlformats.org/officeDocument/2006/relationships/image" Target="../media/image10.png"/><Relationship Id="rId21" Type="http://schemas.openxmlformats.org/officeDocument/2006/relationships/image" Target="../media/image199.png"/><Relationship Id="rId7" Type="http://schemas.openxmlformats.org/officeDocument/2006/relationships/image" Target="../media/image14.png"/><Relationship Id="rId12" Type="http://schemas.openxmlformats.org/officeDocument/2006/relationships/image" Target="../media/image190.png"/><Relationship Id="rId17" Type="http://schemas.openxmlformats.org/officeDocument/2006/relationships/image" Target="../media/image195.png"/><Relationship Id="rId25" Type="http://schemas.openxmlformats.org/officeDocument/2006/relationships/image" Target="../media/image203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94.png"/><Relationship Id="rId20" Type="http://schemas.openxmlformats.org/officeDocument/2006/relationships/image" Target="../media/image1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9.png"/><Relationship Id="rId24" Type="http://schemas.openxmlformats.org/officeDocument/2006/relationships/image" Target="../media/image202.png"/><Relationship Id="rId5" Type="http://schemas.openxmlformats.org/officeDocument/2006/relationships/image" Target="../media/image12.png"/><Relationship Id="rId15" Type="http://schemas.openxmlformats.org/officeDocument/2006/relationships/image" Target="../media/image193.png"/><Relationship Id="rId23" Type="http://schemas.openxmlformats.org/officeDocument/2006/relationships/image" Target="../media/image201.png"/><Relationship Id="rId10" Type="http://schemas.openxmlformats.org/officeDocument/2006/relationships/image" Target="../media/image188.png"/><Relationship Id="rId19" Type="http://schemas.openxmlformats.org/officeDocument/2006/relationships/image" Target="../media/image19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192.png"/><Relationship Id="rId22" Type="http://schemas.openxmlformats.org/officeDocument/2006/relationships/image" Target="../media/image20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6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205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209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204.png"/><Relationship Id="rId5" Type="http://schemas.openxmlformats.org/officeDocument/2006/relationships/image" Target="../media/image12.png"/><Relationship Id="rId15" Type="http://schemas.openxmlformats.org/officeDocument/2006/relationships/image" Target="../media/image208.png"/><Relationship Id="rId10" Type="http://schemas.openxmlformats.org/officeDocument/2006/relationships/image" Target="../media/image190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0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215.png"/><Relationship Id="rId18" Type="http://schemas.openxmlformats.org/officeDocument/2006/relationships/image" Target="../media/image220.png"/><Relationship Id="rId3" Type="http://schemas.openxmlformats.org/officeDocument/2006/relationships/image" Target="../media/image210.png"/><Relationship Id="rId21" Type="http://schemas.openxmlformats.org/officeDocument/2006/relationships/image" Target="../media/image223.png"/><Relationship Id="rId7" Type="http://schemas.openxmlformats.org/officeDocument/2006/relationships/image" Target="../media/image15.png"/><Relationship Id="rId12" Type="http://schemas.openxmlformats.org/officeDocument/2006/relationships/image" Target="../media/image214.png"/><Relationship Id="rId17" Type="http://schemas.openxmlformats.org/officeDocument/2006/relationships/image" Target="../media/image219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218.png"/><Relationship Id="rId20" Type="http://schemas.openxmlformats.org/officeDocument/2006/relationships/image" Target="../media/image2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213.png"/><Relationship Id="rId5" Type="http://schemas.openxmlformats.org/officeDocument/2006/relationships/image" Target="../media/image14.png"/><Relationship Id="rId15" Type="http://schemas.openxmlformats.org/officeDocument/2006/relationships/image" Target="../media/image217.png"/><Relationship Id="rId23" Type="http://schemas.openxmlformats.org/officeDocument/2006/relationships/image" Target="../media/image225.png"/><Relationship Id="rId10" Type="http://schemas.openxmlformats.org/officeDocument/2006/relationships/image" Target="../media/image212.png"/><Relationship Id="rId19" Type="http://schemas.openxmlformats.org/officeDocument/2006/relationships/image" Target="../media/image221.png"/><Relationship Id="rId4" Type="http://schemas.openxmlformats.org/officeDocument/2006/relationships/image" Target="../media/image82.png"/><Relationship Id="rId9" Type="http://schemas.openxmlformats.org/officeDocument/2006/relationships/image" Target="../media/image211.png"/><Relationship Id="rId14" Type="http://schemas.openxmlformats.org/officeDocument/2006/relationships/image" Target="../media/image216.png"/><Relationship Id="rId22" Type="http://schemas.openxmlformats.org/officeDocument/2006/relationships/image" Target="../media/image22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28.png"/><Relationship Id="rId18" Type="http://schemas.openxmlformats.org/officeDocument/2006/relationships/image" Target="../media/image233.png"/><Relationship Id="rId3" Type="http://schemas.openxmlformats.org/officeDocument/2006/relationships/image" Target="../media/image10.png"/><Relationship Id="rId21" Type="http://schemas.openxmlformats.org/officeDocument/2006/relationships/image" Target="../media/image235.png"/><Relationship Id="rId7" Type="http://schemas.openxmlformats.org/officeDocument/2006/relationships/image" Target="../media/image14.png"/><Relationship Id="rId12" Type="http://schemas.openxmlformats.org/officeDocument/2006/relationships/image" Target="../media/image227.png"/><Relationship Id="rId17" Type="http://schemas.openxmlformats.org/officeDocument/2006/relationships/image" Target="../media/image232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231.png"/><Relationship Id="rId20" Type="http://schemas.openxmlformats.org/officeDocument/2006/relationships/image" Target="../media/image2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226.png"/><Relationship Id="rId5" Type="http://schemas.openxmlformats.org/officeDocument/2006/relationships/image" Target="../media/image12.png"/><Relationship Id="rId15" Type="http://schemas.openxmlformats.org/officeDocument/2006/relationships/image" Target="../media/image230.png"/><Relationship Id="rId23" Type="http://schemas.openxmlformats.org/officeDocument/2006/relationships/image" Target="../media/image237.png"/><Relationship Id="rId10" Type="http://schemas.openxmlformats.org/officeDocument/2006/relationships/image" Target="../media/image16.png"/><Relationship Id="rId19" Type="http://schemas.openxmlformats.org/officeDocument/2006/relationships/image" Target="../media/image129.png"/><Relationship Id="rId4" Type="http://schemas.openxmlformats.org/officeDocument/2006/relationships/image" Target="../media/image11.png"/><Relationship Id="rId9" Type="http://schemas.openxmlformats.org/officeDocument/2006/relationships/image" Target="../media/image42.png"/><Relationship Id="rId14" Type="http://schemas.openxmlformats.org/officeDocument/2006/relationships/image" Target="../media/image229.png"/><Relationship Id="rId22" Type="http://schemas.openxmlformats.org/officeDocument/2006/relationships/image" Target="../media/image23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8.png"/><Relationship Id="rId13" Type="http://schemas.openxmlformats.org/officeDocument/2006/relationships/image" Target="../media/image241.png"/><Relationship Id="rId3" Type="http://schemas.openxmlformats.org/officeDocument/2006/relationships/image" Target="../media/image10.png"/><Relationship Id="rId7" Type="http://schemas.openxmlformats.org/officeDocument/2006/relationships/image" Target="../media/image69.png"/><Relationship Id="rId12" Type="http://schemas.openxmlformats.org/officeDocument/2006/relationships/image" Target="../media/image240.png"/><Relationship Id="rId17" Type="http://schemas.openxmlformats.org/officeDocument/2006/relationships/image" Target="../media/image245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2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239.png"/><Relationship Id="rId5" Type="http://schemas.openxmlformats.org/officeDocument/2006/relationships/image" Target="../media/image12.png"/><Relationship Id="rId15" Type="http://schemas.openxmlformats.org/officeDocument/2006/relationships/image" Target="../media/image243.png"/><Relationship Id="rId10" Type="http://schemas.openxmlformats.org/officeDocument/2006/relationships/image" Target="../media/image55.png"/><Relationship Id="rId4" Type="http://schemas.openxmlformats.org/officeDocument/2006/relationships/image" Target="../media/image11.png"/><Relationship Id="rId9" Type="http://schemas.openxmlformats.org/officeDocument/2006/relationships/image" Target="../media/image54.png"/><Relationship Id="rId14" Type="http://schemas.openxmlformats.org/officeDocument/2006/relationships/image" Target="../media/image24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249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248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2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247.png"/><Relationship Id="rId5" Type="http://schemas.openxmlformats.org/officeDocument/2006/relationships/image" Target="../media/image15.png"/><Relationship Id="rId15" Type="http://schemas.openxmlformats.org/officeDocument/2006/relationships/image" Target="../media/image251.png"/><Relationship Id="rId10" Type="http://schemas.openxmlformats.org/officeDocument/2006/relationships/image" Target="../media/image246.png"/><Relationship Id="rId4" Type="http://schemas.openxmlformats.org/officeDocument/2006/relationships/image" Target="../media/image11.png"/><Relationship Id="rId9" Type="http://schemas.openxmlformats.org/officeDocument/2006/relationships/image" Target="../media/image12.png"/><Relationship Id="rId14" Type="http://schemas.openxmlformats.org/officeDocument/2006/relationships/image" Target="../media/image2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600" y="1733550"/>
            <a:ext cx="7924800" cy="2209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33600" y="4591050"/>
            <a:ext cx="17145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33600" y="4895850"/>
            <a:ext cx="171450" cy="190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53450" y="4838700"/>
            <a:ext cx="285750" cy="2857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0" y="4838700"/>
            <a:ext cx="323850" cy="2857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72650" y="4838700"/>
            <a:ext cx="285750" cy="2857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1" name="Text 0"/>
          <p:cNvSpPr/>
          <p:nvPr/>
        </p:nvSpPr>
        <p:spPr>
          <a:xfrm>
            <a:off x="2438400" y="2038350"/>
            <a:ext cx="7315200" cy="1143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4500"/>
              </a:lnSpc>
              <a:buNone/>
            </a:pPr>
            <a:r>
              <a:rPr lang="en-US" sz="4500" b="1" kern="0" spc="-9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Introduction to </a:t>
            </a:r>
            <a:r>
              <a:rPr lang="en-US" sz="4500" b="1" kern="0" spc="-90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Engineering</a:t>
            </a:r>
            <a:endParaRPr lang="en-US" sz="4500" dirty="0"/>
          </a:p>
        </p:txBody>
      </p:sp>
      <p:sp>
        <p:nvSpPr>
          <p:cNvPr id="12" name="Text 1"/>
          <p:cNvSpPr/>
          <p:nvPr/>
        </p:nvSpPr>
        <p:spPr>
          <a:xfrm>
            <a:off x="2438400" y="3333750"/>
            <a:ext cx="87782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i="1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Invisible Power Behind Modern Technology</a:t>
            </a:r>
            <a:endParaRPr lang="en-US" sz="1800" dirty="0"/>
          </a:p>
        </p:txBody>
      </p:sp>
      <p:sp>
        <p:nvSpPr>
          <p:cNvPr id="13" name="Text 2"/>
          <p:cNvSpPr/>
          <p:nvPr/>
        </p:nvSpPr>
        <p:spPr>
          <a:xfrm>
            <a:off x="2419350" y="4552950"/>
            <a:ext cx="343614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Speaker: Daniel</a:t>
            </a:r>
            <a:endParaRPr lang="en-US" sz="1500" dirty="0"/>
          </a:p>
        </p:txBody>
      </p:sp>
      <p:sp>
        <p:nvSpPr>
          <p:cNvPr id="14" name="Text 3"/>
          <p:cNvSpPr/>
          <p:nvPr/>
        </p:nvSpPr>
        <p:spPr>
          <a:xfrm>
            <a:off x="2419350" y="4857750"/>
            <a:ext cx="343614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Date: Nov 18, 2025</a:t>
            </a:r>
            <a:endParaRPr lang="en-US" sz="1500" dirty="0"/>
          </a:p>
        </p:txBody>
      </p:sp>
      <p:pic>
        <p:nvPicPr>
          <p:cNvPr id="16" name="图片 15" descr="徽标">
            <a:extLst>
              <a:ext uri="{FF2B5EF4-FFF2-40B4-BE49-F238E27FC236}">
                <a16:creationId xmlns:a16="http://schemas.microsoft.com/office/drawing/2014/main" id="{C1197FBD-D9B5-C4FF-B9BF-8A129A51F00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07530" y="262255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952500"/>
            <a:ext cx="190500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" y="952500"/>
            <a:ext cx="19050" cy="14287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" y="95250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0750" y="5410200"/>
            <a:ext cx="142875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20450" y="4476750"/>
            <a:ext cx="19050" cy="952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63300" y="535305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990600"/>
            <a:ext cx="914400" cy="38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3314700"/>
            <a:ext cx="190500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695700"/>
            <a:ext cx="238125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4076700"/>
            <a:ext cx="190500" cy="266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4457700"/>
            <a:ext cx="219075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00800" y="2533650"/>
            <a:ext cx="5334000" cy="21336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601450" y="5010150"/>
            <a:ext cx="133350" cy="1524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457200" y="457200"/>
            <a:ext cx="11277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About Me</a:t>
            </a:r>
            <a:endParaRPr lang="en-US" sz="3600" dirty="0"/>
          </a:p>
        </p:txBody>
      </p:sp>
      <p:sp>
        <p:nvSpPr>
          <p:cNvPr id="17" name="Text 1"/>
          <p:cNvSpPr/>
          <p:nvPr/>
        </p:nvSpPr>
        <p:spPr>
          <a:xfrm>
            <a:off x="457200" y="1333500"/>
            <a:ext cx="53340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My name is Daniel, and I'm currently studying Electronic Engineering.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457200" y="2095500"/>
            <a:ext cx="53340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Many people think I'm a computer science student because of the software projects I've built.</a:t>
            </a:r>
            <a:endParaRPr lang="en-US" sz="1500" dirty="0"/>
          </a:p>
        </p:txBody>
      </p:sp>
      <p:sp>
        <p:nvSpPr>
          <p:cNvPr id="19" name="Text 3"/>
          <p:cNvSpPr/>
          <p:nvPr/>
        </p:nvSpPr>
        <p:spPr>
          <a:xfrm>
            <a:off x="457200" y="2933700"/>
            <a:ext cx="6400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Despite my major, I've developed:</a:t>
            </a:r>
            <a:endParaRPr lang="en-US" sz="1350" dirty="0"/>
          </a:p>
        </p:txBody>
      </p:sp>
      <p:sp>
        <p:nvSpPr>
          <p:cNvPr id="20" name="Text 4"/>
          <p:cNvSpPr/>
          <p:nvPr/>
        </p:nvSpPr>
        <p:spPr>
          <a:xfrm>
            <a:off x="762000" y="3333750"/>
            <a:ext cx="282035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 cinema broadcasting system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809625" y="3714750"/>
            <a:ext cx="331041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An airport announcement generator</a:t>
            </a:r>
            <a:endParaRPr lang="en-US" sz="1200" dirty="0"/>
          </a:p>
        </p:txBody>
      </p:sp>
      <p:sp>
        <p:nvSpPr>
          <p:cNvPr id="22" name="Text 6"/>
          <p:cNvSpPr/>
          <p:nvPr/>
        </p:nvSpPr>
        <p:spPr>
          <a:xfrm>
            <a:off x="762000" y="4095750"/>
            <a:ext cx="173968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 personal website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790575" y="4476750"/>
            <a:ext cx="28491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An online aviation chart viewer</a:t>
            </a:r>
            <a:endParaRPr lang="en-US" sz="1200" dirty="0"/>
          </a:p>
        </p:txBody>
      </p:sp>
      <p:sp>
        <p:nvSpPr>
          <p:cNvPr id="24" name="Text 8"/>
          <p:cNvSpPr/>
          <p:nvPr/>
        </p:nvSpPr>
        <p:spPr>
          <a:xfrm>
            <a:off x="6629400" y="2762250"/>
            <a:ext cx="585216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Truth About My Major</a:t>
            </a:r>
            <a:endParaRPr lang="en-US" sz="1800" dirty="0"/>
          </a:p>
        </p:txBody>
      </p:sp>
      <p:sp>
        <p:nvSpPr>
          <p:cNvPr id="25" name="Text 9"/>
          <p:cNvSpPr/>
          <p:nvPr/>
        </p:nvSpPr>
        <p:spPr>
          <a:xfrm>
            <a:off x="6629400" y="3219450"/>
            <a:ext cx="48768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While my projects might suggest computer science, my real passion lies in </a:t>
            </a:r>
            <a:r>
              <a:rPr lang="en-US" sz="135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Engineering</a:t>
            </a: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350" dirty="0"/>
          </a:p>
        </p:txBody>
      </p:sp>
      <p:sp>
        <p:nvSpPr>
          <p:cNvPr id="26" name="Text 10"/>
          <p:cNvSpPr/>
          <p:nvPr/>
        </p:nvSpPr>
        <p:spPr>
          <a:xfrm>
            <a:off x="6629400" y="3905250"/>
            <a:ext cx="48768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Today, I'll share with you why this field is both mysterious and omnipresent in our modern world.</a:t>
            </a:r>
            <a:endParaRPr lang="en-US" sz="1350" dirty="0"/>
          </a:p>
        </p:txBody>
      </p:sp>
      <p:sp>
        <p:nvSpPr>
          <p:cNvPr id="27" name="Text 11"/>
          <p:cNvSpPr/>
          <p:nvPr/>
        </p:nvSpPr>
        <p:spPr>
          <a:xfrm>
            <a:off x="7506295" y="4972050"/>
            <a:ext cx="47313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Let's explore what Electronic Engineering really is...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0" y="1428750"/>
            <a:ext cx="190500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0450" y="1428750"/>
            <a:ext cx="19050" cy="14287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63300" y="142875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5695950"/>
            <a:ext cx="142875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4762500"/>
            <a:ext cx="19050" cy="952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6388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990600"/>
            <a:ext cx="914400" cy="38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1333500"/>
            <a:ext cx="11277600" cy="990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2628900"/>
            <a:ext cx="3606701" cy="193357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74800" y="2819400"/>
            <a:ext cx="571500" cy="571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51013" y="2933700"/>
            <a:ext cx="219075" cy="3429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92501" y="2628900"/>
            <a:ext cx="3606850" cy="1933575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10101" y="2819400"/>
            <a:ext cx="571500" cy="5715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952976" y="2933700"/>
            <a:ext cx="285750" cy="3429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127950" y="2628900"/>
            <a:ext cx="3606701" cy="1933575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645551" y="2819400"/>
            <a:ext cx="571500" cy="571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88426" y="2933700"/>
            <a:ext cx="285750" cy="3429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057400" y="4867275"/>
            <a:ext cx="457200" cy="533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171700" y="4981575"/>
            <a:ext cx="228600" cy="3048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267200" y="5248275"/>
            <a:ext cx="3657600" cy="381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181600" y="5172075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096000" y="5172075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010400" y="5172075"/>
            <a:ext cx="1524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663113" y="4867275"/>
            <a:ext cx="485775" cy="533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777413" y="4981575"/>
            <a:ext cx="257175" cy="3048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457200" y="457200"/>
            <a:ext cx="1353312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What is Electronic Engineering?</a:t>
            </a:r>
            <a:endParaRPr lang="en-US" sz="3600" dirty="0"/>
          </a:p>
        </p:txBody>
      </p:sp>
      <p:sp>
        <p:nvSpPr>
          <p:cNvPr id="29" name="Text 1"/>
          <p:cNvSpPr/>
          <p:nvPr/>
        </p:nvSpPr>
        <p:spPr>
          <a:xfrm>
            <a:off x="685800" y="1562100"/>
            <a:ext cx="108204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engineering is the study of </a:t>
            </a: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how to design, build, and improve electronic systems</a:t>
            </a: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— from small circuits to huge communication networks.</a:t>
            </a:r>
            <a:endParaRPr lang="en-US" sz="1500" dirty="0"/>
          </a:p>
        </p:txBody>
      </p:sp>
      <p:sp>
        <p:nvSpPr>
          <p:cNvPr id="30" name="Text 2"/>
          <p:cNvSpPr/>
          <p:nvPr/>
        </p:nvSpPr>
        <p:spPr>
          <a:xfrm>
            <a:off x="325130" y="3533775"/>
            <a:ext cx="387084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Electric Signals</a:t>
            </a:r>
            <a:endParaRPr lang="en-US" sz="1500" dirty="0"/>
          </a:p>
        </p:txBody>
      </p:sp>
      <p:sp>
        <p:nvSpPr>
          <p:cNvPr id="31" name="Text 3"/>
          <p:cNvSpPr/>
          <p:nvPr/>
        </p:nvSpPr>
        <p:spPr>
          <a:xfrm>
            <a:off x="647700" y="3914775"/>
            <a:ext cx="32257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 learn how electric signals move and how to control their behavior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4160416" y="3533775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Signal Processing</a:t>
            </a:r>
            <a:endParaRPr lang="en-US" sz="1500" dirty="0"/>
          </a:p>
        </p:txBody>
      </p:sp>
      <p:sp>
        <p:nvSpPr>
          <p:cNvPr id="33" name="Text 5"/>
          <p:cNvSpPr/>
          <p:nvPr/>
        </p:nvSpPr>
        <p:spPr>
          <a:xfrm>
            <a:off x="4483001" y="3914775"/>
            <a:ext cx="32258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 study how to process and manipulate signals for various applications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7995880" y="3533775"/>
            <a:ext cx="387084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System Improvement</a:t>
            </a:r>
            <a:endParaRPr lang="en-US" sz="1500" dirty="0"/>
          </a:p>
        </p:txBody>
      </p:sp>
      <p:sp>
        <p:nvSpPr>
          <p:cNvPr id="35" name="Text 7"/>
          <p:cNvSpPr/>
          <p:nvPr/>
        </p:nvSpPr>
        <p:spPr>
          <a:xfrm>
            <a:off x="8318450" y="3914775"/>
            <a:ext cx="32257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 focus on making devices smarter, faster, and more efficient</a:t>
            </a:r>
            <a:endParaRPr lang="en-US" sz="1200" dirty="0"/>
          </a:p>
        </p:txBody>
      </p:sp>
      <p:sp>
        <p:nvSpPr>
          <p:cNvPr id="36" name="Text 8"/>
          <p:cNvSpPr/>
          <p:nvPr/>
        </p:nvSpPr>
        <p:spPr>
          <a:xfrm>
            <a:off x="457200" y="5476875"/>
            <a:ext cx="3657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Small Circuits</a:t>
            </a:r>
            <a:endParaRPr lang="en-US" sz="1050" dirty="0"/>
          </a:p>
        </p:txBody>
      </p:sp>
      <p:sp>
        <p:nvSpPr>
          <p:cNvPr id="37" name="Text 9"/>
          <p:cNvSpPr/>
          <p:nvPr/>
        </p:nvSpPr>
        <p:spPr>
          <a:xfrm>
            <a:off x="8077200" y="5476875"/>
            <a:ext cx="3657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Large Networks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1428750"/>
            <a:ext cx="190500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1428750"/>
            <a:ext cx="19050" cy="14287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142875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0" y="4933950"/>
            <a:ext cx="142875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4000500"/>
            <a:ext cx="19050" cy="952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7050" y="48768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990600"/>
            <a:ext cx="914400" cy="38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1409700"/>
            <a:ext cx="5486400" cy="2057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5800" y="1638300"/>
            <a:ext cx="762000" cy="762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8213" y="1828800"/>
            <a:ext cx="257175" cy="381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8400" y="1409700"/>
            <a:ext cx="5486400" cy="2057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1638300"/>
            <a:ext cx="762000" cy="762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43688" y="1828800"/>
            <a:ext cx="428625" cy="381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771900"/>
            <a:ext cx="5486400" cy="2057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5800" y="4000500"/>
            <a:ext cx="762000" cy="7620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95350" y="4191000"/>
            <a:ext cx="342900" cy="3810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8400" y="3771900"/>
            <a:ext cx="5486400" cy="2057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77000" y="4000500"/>
            <a:ext cx="762000" cy="7620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43688" y="4191000"/>
            <a:ext cx="428625" cy="381000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457200" y="457200"/>
            <a:ext cx="11277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Core Focus Areas</a:t>
            </a:r>
            <a:endParaRPr lang="en-US" sz="3600" dirty="0"/>
          </a:p>
        </p:txBody>
      </p:sp>
      <p:sp>
        <p:nvSpPr>
          <p:cNvPr id="23" name="Text 1"/>
          <p:cNvSpPr/>
          <p:nvPr/>
        </p:nvSpPr>
        <p:spPr>
          <a:xfrm>
            <a:off x="1638300" y="1638300"/>
            <a:ext cx="4892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Signal Movement</a:t>
            </a:r>
            <a:endParaRPr lang="en-US" sz="1800" dirty="0"/>
          </a:p>
        </p:txBody>
      </p:sp>
      <p:sp>
        <p:nvSpPr>
          <p:cNvPr id="24" name="Text 2"/>
          <p:cNvSpPr/>
          <p:nvPr/>
        </p:nvSpPr>
        <p:spPr>
          <a:xfrm>
            <a:off x="1638300" y="2057400"/>
            <a:ext cx="4076700" cy="1066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 study how electric signals travel through various mediums and components, understanding the fundamental principles that govern electrical phenomena.</a:t>
            </a:r>
            <a:endParaRPr lang="en-US" sz="1350" dirty="0"/>
          </a:p>
        </p:txBody>
      </p:sp>
      <p:sp>
        <p:nvSpPr>
          <p:cNvPr id="25" name="Text 3"/>
          <p:cNvSpPr/>
          <p:nvPr/>
        </p:nvSpPr>
        <p:spPr>
          <a:xfrm>
            <a:off x="7429500" y="1638300"/>
            <a:ext cx="4892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Signal Processing</a:t>
            </a:r>
            <a:endParaRPr lang="en-US" sz="1800" dirty="0"/>
          </a:p>
        </p:txBody>
      </p:sp>
      <p:sp>
        <p:nvSpPr>
          <p:cNvPr id="26" name="Text 4"/>
          <p:cNvSpPr/>
          <p:nvPr/>
        </p:nvSpPr>
        <p:spPr>
          <a:xfrm>
            <a:off x="7429500" y="2057400"/>
            <a:ext cx="4076700" cy="1066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 learn how to manipulate and transform signals to extract useful information, including filtering, modulation, and enhancement techniques.</a:t>
            </a:r>
            <a:endParaRPr lang="en-US" sz="1350" dirty="0"/>
          </a:p>
        </p:txBody>
      </p:sp>
      <p:sp>
        <p:nvSpPr>
          <p:cNvPr id="27" name="Text 5"/>
          <p:cNvSpPr/>
          <p:nvPr/>
        </p:nvSpPr>
        <p:spPr>
          <a:xfrm>
            <a:off x="1638300" y="4000500"/>
            <a:ext cx="4892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Device Optimization</a:t>
            </a:r>
            <a:endParaRPr lang="en-US" sz="1800" dirty="0"/>
          </a:p>
        </p:txBody>
      </p:sp>
      <p:sp>
        <p:nvSpPr>
          <p:cNvPr id="28" name="Text 6"/>
          <p:cNvSpPr/>
          <p:nvPr/>
        </p:nvSpPr>
        <p:spPr>
          <a:xfrm>
            <a:off x="1638300" y="4419600"/>
            <a:ext cx="4076700" cy="1066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 work on making electronic devices smarter, faster, and more efficient through innovative design and advanced manufacturing techniques.</a:t>
            </a:r>
            <a:endParaRPr lang="en-US" sz="1350" dirty="0"/>
          </a:p>
        </p:txBody>
      </p:sp>
      <p:sp>
        <p:nvSpPr>
          <p:cNvPr id="29" name="Text 7"/>
          <p:cNvSpPr/>
          <p:nvPr/>
        </p:nvSpPr>
        <p:spPr>
          <a:xfrm>
            <a:off x="7429500" y="4000500"/>
            <a:ext cx="4892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System Integration</a:t>
            </a:r>
            <a:endParaRPr lang="en-US" sz="1800" dirty="0"/>
          </a:p>
        </p:txBody>
      </p:sp>
      <p:sp>
        <p:nvSpPr>
          <p:cNvPr id="30" name="Text 8"/>
          <p:cNvSpPr/>
          <p:nvPr/>
        </p:nvSpPr>
        <p:spPr>
          <a:xfrm>
            <a:off x="7429500" y="4419600"/>
            <a:ext cx="4076700" cy="1066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 develop expertise in combining individual components into cohesive systems for specific applications, from small circuits to vast communication networks.</a:t>
            </a:r>
            <a:endParaRPr lang="en-US" sz="1350" dirty="0"/>
          </a:p>
        </p:txBody>
      </p:sp>
      <p:sp>
        <p:nvSpPr>
          <p:cNvPr id="31" name="Text 9"/>
          <p:cNvSpPr/>
          <p:nvPr/>
        </p:nvSpPr>
        <p:spPr>
          <a:xfrm>
            <a:off x="2750344" y="6134100"/>
            <a:ext cx="802939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i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These core areas form the foundation of all electronic engineering disciplines.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7200"/>
            <a:ext cx="117348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1428750"/>
            <a:ext cx="1905000" cy="190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1428750"/>
            <a:ext cx="19050" cy="952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" y="1428750"/>
            <a:ext cx="76200" cy="76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0" y="5695950"/>
            <a:ext cx="1428750" cy="190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44200" y="4953000"/>
            <a:ext cx="19050" cy="762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87050" y="5638800"/>
            <a:ext cx="76200" cy="76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990600"/>
            <a:ext cx="1219200" cy="381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1333500"/>
            <a:ext cx="5334000" cy="2171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3733800"/>
            <a:ext cx="609600" cy="609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9125" y="3867150"/>
            <a:ext cx="285750" cy="3429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00800" y="2095500"/>
            <a:ext cx="5334000" cy="30861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59637" y="2876550"/>
            <a:ext cx="457200" cy="4572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1285" y="3219450"/>
            <a:ext cx="209550" cy="304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81901" y="2876550"/>
            <a:ext cx="571500" cy="457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024467" y="3219450"/>
            <a:ext cx="209550" cy="304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761315" y="2781300"/>
            <a:ext cx="571500" cy="457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680200" y="4191000"/>
            <a:ext cx="4876800" cy="7620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4138" y="4354116"/>
            <a:ext cx="190500" cy="190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7200" y="6200775"/>
            <a:ext cx="1524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601450" y="6200775"/>
            <a:ext cx="133350" cy="152400"/>
          </a:xfrm>
          <a:prstGeom prst="rect">
            <a:avLst/>
          </a:prstGeom>
        </p:spPr>
      </p:pic>
      <p:sp>
        <p:nvSpPr>
          <p:cNvPr id="24" name="Text 0"/>
          <p:cNvSpPr/>
          <p:nvPr/>
        </p:nvSpPr>
        <p:spPr>
          <a:xfrm>
            <a:off x="457200" y="457200"/>
            <a:ext cx="11277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600"/>
              </a:lnSpc>
            </a:pPr>
            <a:r>
              <a:rPr lang="en-US" altLang="zh-CN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Application 1</a:t>
            </a: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: </a:t>
            </a:r>
            <a:r>
              <a:rPr lang="en-US" sz="3600" b="1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PCB &amp; Basic Electronics</a:t>
            </a:r>
            <a:endParaRPr lang="en-US" sz="3600" dirty="0"/>
          </a:p>
        </p:txBody>
      </p:sp>
      <p:sp>
        <p:nvSpPr>
          <p:cNvPr id="25" name="Text 1"/>
          <p:cNvSpPr/>
          <p:nvPr/>
        </p:nvSpPr>
        <p:spPr>
          <a:xfrm>
            <a:off x="685800" y="1562100"/>
            <a:ext cx="48768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What are PCBs?</a:t>
            </a:r>
            <a:endParaRPr lang="en-US" sz="2250" dirty="0"/>
          </a:p>
        </p:txBody>
      </p:sp>
      <p:sp>
        <p:nvSpPr>
          <p:cNvPr id="26" name="Text 2"/>
          <p:cNvSpPr/>
          <p:nvPr/>
        </p:nvSpPr>
        <p:spPr>
          <a:xfrm>
            <a:off x="685800" y="2057400"/>
            <a:ext cx="48768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Printed Circuit Boards are the </a:t>
            </a:r>
            <a:r>
              <a:rPr lang="en-US" sz="1500" b="1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"skeleton"</a:t>
            </a: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of all electronic devices.</a:t>
            </a:r>
            <a:endParaRPr lang="en-US" sz="1500" dirty="0"/>
          </a:p>
        </p:txBody>
      </p:sp>
      <p:sp>
        <p:nvSpPr>
          <p:cNvPr id="27" name="Text 3"/>
          <p:cNvSpPr/>
          <p:nvPr/>
        </p:nvSpPr>
        <p:spPr>
          <a:xfrm>
            <a:off x="685800" y="2743200"/>
            <a:ext cx="48768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They provide the foundation and structure that connects all electronic components together.</a:t>
            </a:r>
            <a:endParaRPr lang="en-US" sz="1500" dirty="0"/>
          </a:p>
        </p:txBody>
      </p:sp>
      <p:sp>
        <p:nvSpPr>
          <p:cNvPr id="28" name="Text 4"/>
          <p:cNvSpPr/>
          <p:nvPr/>
        </p:nvSpPr>
        <p:spPr>
          <a:xfrm>
            <a:off x="1219200" y="3905250"/>
            <a:ext cx="437733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From smartphones to industrial robots</a:t>
            </a:r>
            <a:endParaRPr lang="en-US" sz="1500" dirty="0"/>
          </a:p>
        </p:txBody>
      </p:sp>
      <p:sp>
        <p:nvSpPr>
          <p:cNvPr id="29" name="Text 5"/>
          <p:cNvSpPr/>
          <p:nvPr/>
        </p:nvSpPr>
        <p:spPr>
          <a:xfrm>
            <a:off x="6629400" y="2324100"/>
            <a:ext cx="4876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PCB to PCBA</a:t>
            </a:r>
            <a:endParaRPr lang="en-US" sz="1800" dirty="0"/>
          </a:p>
        </p:txBody>
      </p:sp>
      <p:sp>
        <p:nvSpPr>
          <p:cNvPr id="30" name="Text 6"/>
          <p:cNvSpPr/>
          <p:nvPr/>
        </p:nvSpPr>
        <p:spPr>
          <a:xfrm>
            <a:off x="6629400" y="3409950"/>
            <a:ext cx="91782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PCB</a:t>
            </a:r>
            <a:endParaRPr lang="en-US" sz="1500" dirty="0"/>
          </a:p>
        </p:txBody>
      </p:sp>
      <p:sp>
        <p:nvSpPr>
          <p:cNvPr id="31" name="Text 7"/>
          <p:cNvSpPr/>
          <p:nvPr/>
        </p:nvSpPr>
        <p:spPr>
          <a:xfrm>
            <a:off x="6537618" y="3676650"/>
            <a:ext cx="110138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Circuit Board</a:t>
            </a:r>
            <a:endParaRPr lang="en-US" sz="1050" dirty="0"/>
          </a:p>
        </p:txBody>
      </p:sp>
      <p:sp>
        <p:nvSpPr>
          <p:cNvPr id="32" name="Text 8"/>
          <p:cNvSpPr/>
          <p:nvPr/>
        </p:nvSpPr>
        <p:spPr>
          <a:xfrm>
            <a:off x="8344510" y="3409950"/>
            <a:ext cx="144643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Components</a:t>
            </a:r>
            <a:endParaRPr lang="en-US" sz="1500" dirty="0"/>
          </a:p>
        </p:txBody>
      </p:sp>
      <p:sp>
        <p:nvSpPr>
          <p:cNvPr id="33" name="Text 9"/>
          <p:cNvSpPr/>
          <p:nvPr/>
        </p:nvSpPr>
        <p:spPr>
          <a:xfrm>
            <a:off x="8344510" y="3676650"/>
            <a:ext cx="144643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Parts</a:t>
            </a:r>
            <a:endParaRPr lang="en-US" sz="1050" dirty="0"/>
          </a:p>
        </p:txBody>
      </p:sp>
      <p:sp>
        <p:nvSpPr>
          <p:cNvPr id="34" name="Text 10"/>
          <p:cNvSpPr/>
          <p:nvPr/>
        </p:nvSpPr>
        <p:spPr>
          <a:xfrm>
            <a:off x="10588228" y="3314700"/>
            <a:ext cx="91782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PCBA</a:t>
            </a:r>
            <a:endParaRPr lang="en-US" sz="1500" dirty="0"/>
          </a:p>
        </p:txBody>
      </p:sp>
      <p:sp>
        <p:nvSpPr>
          <p:cNvPr id="35" name="Text 11"/>
          <p:cNvSpPr/>
          <p:nvPr/>
        </p:nvSpPr>
        <p:spPr>
          <a:xfrm>
            <a:off x="10588228" y="3581400"/>
            <a:ext cx="917823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Circuit Board Assembly</a:t>
            </a:r>
            <a:endParaRPr lang="en-US" sz="1050" dirty="0"/>
          </a:p>
        </p:txBody>
      </p:sp>
      <p:sp>
        <p:nvSpPr>
          <p:cNvPr id="36" name="Text 12"/>
          <p:cNvSpPr/>
          <p:nvPr/>
        </p:nvSpPr>
        <p:spPr>
          <a:xfrm>
            <a:off x="6884094" y="4305300"/>
            <a:ext cx="46482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86EFA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Without PCBs, modern electronics simply wouldn't exist!</a:t>
            </a:r>
            <a:endParaRPr lang="en-US" sz="1500" dirty="0"/>
          </a:p>
        </p:txBody>
      </p:sp>
      <p:sp>
        <p:nvSpPr>
          <p:cNvPr id="37" name="Text 13"/>
          <p:cNvSpPr/>
          <p:nvPr/>
        </p:nvSpPr>
        <p:spPr>
          <a:xfrm>
            <a:off x="734318" y="6191250"/>
            <a:ext cx="51970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PCBs are the foundation of all modern electronic devices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9443442" y="6191250"/>
            <a:ext cx="243994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Next: Understanding PCBA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428750"/>
            <a:ext cx="142875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428750"/>
            <a:ext cx="19050" cy="952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142875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0" y="5695950"/>
            <a:ext cx="171450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9950" y="4953000"/>
            <a:ext cx="19050" cy="762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72800" y="56388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990600"/>
            <a:ext cx="914400" cy="38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24200" y="1333500"/>
            <a:ext cx="2438400" cy="2438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7400" y="2600325"/>
            <a:ext cx="457200" cy="4572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29400" y="1333500"/>
            <a:ext cx="2438400" cy="2438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595938" y="2447925"/>
            <a:ext cx="190500" cy="2667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62637" y="2447925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57913" y="2447925"/>
            <a:ext cx="142875" cy="2667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76987" y="2447925"/>
            <a:ext cx="190500" cy="2667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438400" y="4724400"/>
            <a:ext cx="7315200" cy="16764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457200" y="457200"/>
            <a:ext cx="11277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PCB to PCBA</a:t>
            </a:r>
            <a:endParaRPr lang="en-US" sz="3600" dirty="0"/>
          </a:p>
        </p:txBody>
      </p:sp>
      <p:sp>
        <p:nvSpPr>
          <p:cNvPr id="22" name="Text 1"/>
          <p:cNvSpPr/>
          <p:nvPr/>
        </p:nvSpPr>
        <p:spPr>
          <a:xfrm>
            <a:off x="4088547" y="3905250"/>
            <a:ext cx="50970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PCB</a:t>
            </a:r>
            <a:endParaRPr lang="en-US" sz="1500" dirty="0"/>
          </a:p>
        </p:txBody>
      </p:sp>
      <p:sp>
        <p:nvSpPr>
          <p:cNvPr id="23" name="Text 2"/>
          <p:cNvSpPr/>
          <p:nvPr/>
        </p:nvSpPr>
        <p:spPr>
          <a:xfrm>
            <a:off x="3453289" y="4152900"/>
            <a:ext cx="1780223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(Printed Circuit Board)</a:t>
            </a:r>
            <a:endParaRPr lang="en-US" sz="1050" dirty="0"/>
          </a:p>
        </p:txBody>
      </p:sp>
      <p:sp>
        <p:nvSpPr>
          <p:cNvPr id="24" name="Text 3"/>
          <p:cNvSpPr/>
          <p:nvPr/>
        </p:nvSpPr>
        <p:spPr>
          <a:xfrm>
            <a:off x="7505194" y="3905250"/>
            <a:ext cx="68651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60A5F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PCBA</a:t>
            </a:r>
            <a:endParaRPr lang="en-US" sz="1500" dirty="0"/>
          </a:p>
        </p:txBody>
      </p:sp>
      <p:sp>
        <p:nvSpPr>
          <p:cNvPr id="25" name="Text 4"/>
          <p:cNvSpPr/>
          <p:nvPr/>
        </p:nvSpPr>
        <p:spPr>
          <a:xfrm>
            <a:off x="6547381" y="4152900"/>
            <a:ext cx="26022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(Printed Circuit Board Assembly)</a:t>
            </a:r>
            <a:endParaRPr lang="en-US" sz="1050" dirty="0"/>
          </a:p>
        </p:txBody>
      </p:sp>
      <p:sp>
        <p:nvSpPr>
          <p:cNvPr id="26" name="Text 5"/>
          <p:cNvSpPr/>
          <p:nvPr/>
        </p:nvSpPr>
        <p:spPr>
          <a:xfrm>
            <a:off x="2667000" y="4953000"/>
            <a:ext cx="68580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PCB</a:t>
            </a: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is like the skeleton of electronic devices, providing the structure and connections.</a:t>
            </a:r>
            <a:endParaRPr lang="en-US" sz="1350" dirty="0"/>
          </a:p>
        </p:txBody>
      </p:sp>
      <p:sp>
        <p:nvSpPr>
          <p:cNvPr id="27" name="Text 6"/>
          <p:cNvSpPr/>
          <p:nvPr/>
        </p:nvSpPr>
        <p:spPr>
          <a:xfrm>
            <a:off x="2667000" y="5638800"/>
            <a:ext cx="68580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PCBA</a:t>
            </a: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is what happens when electronic components are mounted on the PCB, creating a functional electronic device ready for use.</a:t>
            </a:r>
            <a:endParaRPr lang="en-US" sz="1350" dirty="0"/>
          </a:p>
        </p:txBody>
      </p:sp>
      <p:pic>
        <p:nvPicPr>
          <p:cNvPr id="1026" name="Picture 2" descr="PCB Trace: The Backbone of Modern Circuit Design">
            <a:extLst>
              <a:ext uri="{FF2B5EF4-FFF2-40B4-BE49-F238E27FC236}">
                <a16:creationId xmlns:a16="http://schemas.microsoft.com/office/drawing/2014/main" id="{A5DF2002-63BE-0D7A-5636-673500069AE8}"/>
              </a:ext>
            </a:extLst>
          </p:cNvPr>
          <p:cNvPicPr>
            <a:picLocks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7510" y="1477962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What is High Speed PCB Design? | Getting Started | Altium">
            <a:extLst>
              <a:ext uri="{FF2B5EF4-FFF2-40B4-BE49-F238E27FC236}">
                <a16:creationId xmlns:a16="http://schemas.microsoft.com/office/drawing/2014/main" id="{C2ABA2A7-52E5-1C98-9DA4-33AF753A0669}"/>
              </a:ext>
            </a:extLst>
          </p:cNvPr>
          <p:cNvPicPr>
            <a:picLocks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8451" y="1477962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342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1428750"/>
            <a:ext cx="19050" cy="1905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3333750"/>
            <a:ext cx="1428750" cy="190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142875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3333750"/>
            <a:ext cx="76200" cy="76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8250" y="5772150"/>
            <a:ext cx="1428750" cy="190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67950" y="4838700"/>
            <a:ext cx="19050" cy="952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0800" y="5715000"/>
            <a:ext cx="76200" cy="76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9750" y="2990850"/>
            <a:ext cx="952500" cy="9525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0" y="2705100"/>
            <a:ext cx="1524000" cy="1524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48250" y="2419350"/>
            <a:ext cx="2095500" cy="2095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990600"/>
            <a:ext cx="1219200" cy="381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2095500"/>
            <a:ext cx="3606701" cy="16954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74800" y="2286000"/>
            <a:ext cx="571500" cy="4572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92501" y="2095500"/>
            <a:ext cx="3606850" cy="16954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38676" y="2286000"/>
            <a:ext cx="514350" cy="457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7950" y="2095500"/>
            <a:ext cx="3606701" cy="16954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88426" y="2286000"/>
            <a:ext cx="285750" cy="457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7200" y="4019550"/>
            <a:ext cx="3606701" cy="18859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31950" y="4210050"/>
            <a:ext cx="457200" cy="4572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92501" y="4019550"/>
            <a:ext cx="3606850" cy="18859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867251" y="4210050"/>
            <a:ext cx="457200" cy="4572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127950" y="4019550"/>
            <a:ext cx="3606701" cy="188595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674126" y="4210050"/>
            <a:ext cx="514350" cy="4572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457200" y="457200"/>
            <a:ext cx="1353312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Application 2: </a:t>
            </a:r>
            <a:r>
              <a:rPr lang="en-US" sz="3600" b="1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</a:rPr>
              <a:t>Communication Systems</a:t>
            </a:r>
          </a:p>
        </p:txBody>
      </p:sp>
      <p:sp>
        <p:nvSpPr>
          <p:cNvPr id="27" name="Text 1"/>
          <p:cNvSpPr/>
          <p:nvPr/>
        </p:nvSpPr>
        <p:spPr>
          <a:xfrm>
            <a:off x="457200" y="1257300"/>
            <a:ext cx="112776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One of the most fascinating areas in electronic engineering is </a:t>
            </a: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communication systems</a:t>
            </a: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 These systems enable the wireless transmission of information across vast distances.</a:t>
            </a:r>
            <a:endParaRPr lang="en-US" sz="1500" dirty="0"/>
          </a:p>
        </p:txBody>
      </p:sp>
      <p:sp>
        <p:nvSpPr>
          <p:cNvPr id="28" name="Text 2"/>
          <p:cNvSpPr/>
          <p:nvPr/>
        </p:nvSpPr>
        <p:spPr>
          <a:xfrm>
            <a:off x="1985516" y="2876550"/>
            <a:ext cx="65990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Wi-Fi</a:t>
            </a:r>
            <a:endParaRPr lang="en-US" sz="1500" dirty="0"/>
          </a:p>
        </p:txBody>
      </p:sp>
      <p:sp>
        <p:nvSpPr>
          <p:cNvPr id="29" name="Text 3"/>
          <p:cNvSpPr/>
          <p:nvPr/>
        </p:nvSpPr>
        <p:spPr>
          <a:xfrm>
            <a:off x="647700" y="3219450"/>
            <a:ext cx="32257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Enables wireless networking connectivity for devices over short to medium distances</a:t>
            </a:r>
            <a:endParaRPr lang="en-US" sz="1050" dirty="0"/>
          </a:p>
        </p:txBody>
      </p:sp>
      <p:sp>
        <p:nvSpPr>
          <p:cNvPr id="30" name="Text 4"/>
          <p:cNvSpPr/>
          <p:nvPr/>
        </p:nvSpPr>
        <p:spPr>
          <a:xfrm>
            <a:off x="5951339" y="2876550"/>
            <a:ext cx="34682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5G</a:t>
            </a:r>
            <a:endParaRPr lang="en-US" sz="1500" dirty="0"/>
          </a:p>
        </p:txBody>
      </p:sp>
      <p:sp>
        <p:nvSpPr>
          <p:cNvPr id="31" name="Text 5"/>
          <p:cNvSpPr/>
          <p:nvPr/>
        </p:nvSpPr>
        <p:spPr>
          <a:xfrm>
            <a:off x="4483001" y="3219450"/>
            <a:ext cx="322585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latest mobile network technology providing ultra-fast data transmission and low latency</a:t>
            </a:r>
            <a:endParaRPr lang="en-US" sz="1050" dirty="0"/>
          </a:p>
        </p:txBody>
      </p:sp>
      <p:sp>
        <p:nvSpPr>
          <p:cNvPr id="32" name="Text 6"/>
          <p:cNvSpPr/>
          <p:nvPr/>
        </p:nvSpPr>
        <p:spPr>
          <a:xfrm>
            <a:off x="9403854" y="2876550"/>
            <a:ext cx="126587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Bluetooth</a:t>
            </a:r>
            <a:endParaRPr lang="en-US" sz="1500" dirty="0"/>
          </a:p>
        </p:txBody>
      </p:sp>
      <p:sp>
        <p:nvSpPr>
          <p:cNvPr id="33" name="Text 7"/>
          <p:cNvSpPr/>
          <p:nvPr/>
        </p:nvSpPr>
        <p:spPr>
          <a:xfrm>
            <a:off x="8318450" y="3219450"/>
            <a:ext cx="32257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Short-range wireless technology for connecting devices like headphones, speakers, and phones</a:t>
            </a:r>
            <a:endParaRPr lang="en-US" sz="1050" dirty="0"/>
          </a:p>
        </p:txBody>
      </p:sp>
      <p:sp>
        <p:nvSpPr>
          <p:cNvPr id="34" name="Text 8"/>
          <p:cNvSpPr/>
          <p:nvPr/>
        </p:nvSpPr>
        <p:spPr>
          <a:xfrm>
            <a:off x="2043857" y="4800600"/>
            <a:ext cx="51988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GPS</a:t>
            </a:r>
            <a:endParaRPr lang="en-US" sz="1500" dirty="0"/>
          </a:p>
        </p:txBody>
      </p:sp>
      <p:sp>
        <p:nvSpPr>
          <p:cNvPr id="35" name="Text 9"/>
          <p:cNvSpPr/>
          <p:nvPr/>
        </p:nvSpPr>
        <p:spPr>
          <a:xfrm>
            <a:off x="647700" y="5143500"/>
            <a:ext cx="32257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Global Positioning System that uses satellites to determine precise location information</a:t>
            </a:r>
            <a:endParaRPr lang="en-US" sz="1050" dirty="0"/>
          </a:p>
        </p:txBody>
      </p:sp>
      <p:sp>
        <p:nvSpPr>
          <p:cNvPr id="36" name="Text 10"/>
          <p:cNvSpPr/>
          <p:nvPr/>
        </p:nvSpPr>
        <p:spPr>
          <a:xfrm>
            <a:off x="5588050" y="4800600"/>
            <a:ext cx="121872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Satellites</a:t>
            </a:r>
            <a:endParaRPr lang="en-US" sz="1500" dirty="0"/>
          </a:p>
        </p:txBody>
      </p:sp>
      <p:sp>
        <p:nvSpPr>
          <p:cNvPr id="37" name="Text 11"/>
          <p:cNvSpPr/>
          <p:nvPr/>
        </p:nvSpPr>
        <p:spPr>
          <a:xfrm>
            <a:off x="4483001" y="5143500"/>
            <a:ext cx="322585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Orbital devices that relay signals for communication, navigation, and Earth observation</a:t>
            </a:r>
            <a:endParaRPr lang="en-US" sz="1050" dirty="0"/>
          </a:p>
        </p:txBody>
      </p:sp>
      <p:sp>
        <p:nvSpPr>
          <p:cNvPr id="38" name="Text 12"/>
          <p:cNvSpPr/>
          <p:nvPr/>
        </p:nvSpPr>
        <p:spPr>
          <a:xfrm>
            <a:off x="9003804" y="4800600"/>
            <a:ext cx="222581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Aviation Systems</a:t>
            </a:r>
            <a:endParaRPr lang="en-US" sz="1500" dirty="0"/>
          </a:p>
        </p:txBody>
      </p:sp>
      <p:sp>
        <p:nvSpPr>
          <p:cNvPr id="39" name="Text 13"/>
          <p:cNvSpPr/>
          <p:nvPr/>
        </p:nvSpPr>
        <p:spPr>
          <a:xfrm>
            <a:off x="8318450" y="5143500"/>
            <a:ext cx="32257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Radio and radar systems built by electronic engineers that pilots rely on for safe flight</a:t>
            </a:r>
            <a:endParaRPr lang="en-US" sz="1050" dirty="0"/>
          </a:p>
        </p:txBody>
      </p:sp>
      <p:sp>
        <p:nvSpPr>
          <p:cNvPr id="40" name="Text 14"/>
          <p:cNvSpPr/>
          <p:nvPr/>
        </p:nvSpPr>
        <p:spPr>
          <a:xfrm>
            <a:off x="457200" y="6210300"/>
            <a:ext cx="13533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i="1" dirty="0">
                <a:solidFill>
                  <a:srgbClr val="BFDBF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These systems are based on the same principles we study — </a:t>
            </a:r>
            <a:r>
              <a:rPr lang="en-US" sz="1350" b="1" i="1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signal transmission, modulation, and filtering</a:t>
            </a:r>
            <a:r>
              <a:rPr lang="en-US" sz="1350" i="1" dirty="0">
                <a:solidFill>
                  <a:srgbClr val="BFDBF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1428750"/>
            <a:ext cx="142875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1428750"/>
            <a:ext cx="19050" cy="952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142875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0250" y="5695950"/>
            <a:ext cx="114300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4953000"/>
            <a:ext cx="19050" cy="762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7050" y="56388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990600"/>
            <a:ext cx="1219200" cy="38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2019300"/>
            <a:ext cx="11277600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2705100"/>
            <a:ext cx="3606701" cy="2171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700" y="2895600"/>
            <a:ext cx="323850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92501" y="2705100"/>
            <a:ext cx="3606850" cy="2171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83001" y="2895600"/>
            <a:ext cx="361950" cy="342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7950" y="2705100"/>
            <a:ext cx="3606701" cy="21717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18450" y="2895600"/>
            <a:ext cx="285750" cy="3429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7200" y="5486400"/>
            <a:ext cx="935087" cy="3810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9600" y="5600700"/>
            <a:ext cx="1905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44687" y="5486400"/>
            <a:ext cx="767507" cy="381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697087" y="5600700"/>
            <a:ext cx="17145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464594" y="5486400"/>
            <a:ext cx="1235125" cy="3810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616994" y="5600700"/>
            <a:ext cx="1143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852118" y="5486400"/>
            <a:ext cx="1237059" cy="3810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004518" y="5600700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241578" y="5486400"/>
            <a:ext cx="1855440" cy="3810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393978" y="5600700"/>
            <a:ext cx="171450" cy="152400"/>
          </a:xfrm>
          <a:prstGeom prst="rect">
            <a:avLst/>
          </a:prstGeom>
        </p:spPr>
      </p:pic>
      <p:sp>
        <p:nvSpPr>
          <p:cNvPr id="27" name="Text 0"/>
          <p:cNvSpPr/>
          <p:nvPr/>
        </p:nvSpPr>
        <p:spPr>
          <a:xfrm>
            <a:off x="457200" y="457200"/>
            <a:ext cx="1353312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Signal Transmission Principles</a:t>
            </a:r>
            <a:endParaRPr lang="en-US" sz="3600" dirty="0"/>
          </a:p>
        </p:txBody>
      </p:sp>
      <p:sp>
        <p:nvSpPr>
          <p:cNvPr id="28" name="Text 1"/>
          <p:cNvSpPr/>
          <p:nvPr/>
        </p:nvSpPr>
        <p:spPr>
          <a:xfrm>
            <a:off x="457200" y="1257300"/>
            <a:ext cx="112776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Communication systems rely on the fundamental principles of signal transmission, modulation, and filtering to send and receive information across various technologies.</a:t>
            </a:r>
            <a:endParaRPr lang="en-US" sz="1500" dirty="0"/>
          </a:p>
        </p:txBody>
      </p:sp>
      <p:sp>
        <p:nvSpPr>
          <p:cNvPr id="29" name="Text 2"/>
          <p:cNvSpPr/>
          <p:nvPr/>
        </p:nvSpPr>
        <p:spPr>
          <a:xfrm>
            <a:off x="1085850" y="2914650"/>
            <a:ext cx="307806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Signal Transmission</a:t>
            </a:r>
            <a:endParaRPr lang="en-US" sz="1800" dirty="0"/>
          </a:p>
        </p:txBody>
      </p:sp>
      <p:sp>
        <p:nvSpPr>
          <p:cNvPr id="30" name="Text 3"/>
          <p:cNvSpPr/>
          <p:nvPr/>
        </p:nvSpPr>
        <p:spPr>
          <a:xfrm>
            <a:off x="647700" y="3352800"/>
            <a:ext cx="3225701" cy="1333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process of sending data from one point to another through a medium. In electronic engineering, this involves converting information into electrical signals.</a:t>
            </a:r>
            <a:endParaRPr lang="en-US" sz="1350" dirty="0"/>
          </a:p>
        </p:txBody>
      </p:sp>
      <p:sp>
        <p:nvSpPr>
          <p:cNvPr id="31" name="Text 4"/>
          <p:cNvSpPr/>
          <p:nvPr/>
        </p:nvSpPr>
        <p:spPr>
          <a:xfrm>
            <a:off x="4959251" y="2914650"/>
            <a:ext cx="174128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Modulation</a:t>
            </a:r>
            <a:endParaRPr lang="en-US" sz="1800" dirty="0"/>
          </a:p>
        </p:txBody>
      </p:sp>
      <p:sp>
        <p:nvSpPr>
          <p:cNvPr id="32" name="Text 5"/>
          <p:cNvSpPr/>
          <p:nvPr/>
        </p:nvSpPr>
        <p:spPr>
          <a:xfrm>
            <a:off x="4483001" y="3352800"/>
            <a:ext cx="3225850" cy="1333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process of varying one signal to represent information. Different techniques (AM, FM, digital) allow efficient transmission over various channels.</a:t>
            </a:r>
            <a:endParaRPr lang="en-US" sz="1350" dirty="0"/>
          </a:p>
        </p:txBody>
      </p:sp>
      <p:sp>
        <p:nvSpPr>
          <p:cNvPr id="33" name="Text 6"/>
          <p:cNvSpPr/>
          <p:nvPr/>
        </p:nvSpPr>
        <p:spPr>
          <a:xfrm>
            <a:off x="8718500" y="2914650"/>
            <a:ext cx="131373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Filtering</a:t>
            </a:r>
            <a:endParaRPr lang="en-US" sz="1800" dirty="0"/>
          </a:p>
        </p:txBody>
      </p:sp>
      <p:sp>
        <p:nvSpPr>
          <p:cNvPr id="34" name="Text 7"/>
          <p:cNvSpPr/>
          <p:nvPr/>
        </p:nvSpPr>
        <p:spPr>
          <a:xfrm>
            <a:off x="8318450" y="3352800"/>
            <a:ext cx="3225701" cy="1066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process of removing unwanted noise from signals. Filters allow specific frequency ranges to pass while blocking others.</a:t>
            </a:r>
            <a:endParaRPr lang="en-US" sz="1350" dirty="0"/>
          </a:p>
        </p:txBody>
      </p:sp>
      <p:sp>
        <p:nvSpPr>
          <p:cNvPr id="35" name="Text 8"/>
          <p:cNvSpPr/>
          <p:nvPr/>
        </p:nvSpPr>
        <p:spPr>
          <a:xfrm>
            <a:off x="457200" y="5105400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Real-world Applications:</a:t>
            </a:r>
            <a:endParaRPr lang="en-US" sz="1500" dirty="0"/>
          </a:p>
        </p:txBody>
      </p:sp>
      <p:sp>
        <p:nvSpPr>
          <p:cNvPr id="36" name="Text 9"/>
          <p:cNvSpPr/>
          <p:nvPr/>
        </p:nvSpPr>
        <p:spPr>
          <a:xfrm>
            <a:off x="876300" y="5562600"/>
            <a:ext cx="43630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Wi-Fi</a:t>
            </a:r>
            <a:endParaRPr lang="en-US" sz="1200" dirty="0"/>
          </a:p>
        </p:txBody>
      </p:sp>
      <p:sp>
        <p:nvSpPr>
          <p:cNvPr id="37" name="Text 10"/>
          <p:cNvSpPr/>
          <p:nvPr/>
        </p:nvSpPr>
        <p:spPr>
          <a:xfrm>
            <a:off x="1944737" y="5562600"/>
            <a:ext cx="2580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5G</a:t>
            </a:r>
            <a:endParaRPr lang="en-US" sz="1200" dirty="0"/>
          </a:p>
        </p:txBody>
      </p:sp>
      <p:sp>
        <p:nvSpPr>
          <p:cNvPr id="38" name="Text 11"/>
          <p:cNvSpPr/>
          <p:nvPr/>
        </p:nvSpPr>
        <p:spPr>
          <a:xfrm>
            <a:off x="2807494" y="5562600"/>
            <a:ext cx="8877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Bluetooth</a:t>
            </a:r>
            <a:endParaRPr lang="en-US" sz="1200" dirty="0"/>
          </a:p>
        </p:txBody>
      </p:sp>
      <p:sp>
        <p:nvSpPr>
          <p:cNvPr id="39" name="Text 12"/>
          <p:cNvSpPr/>
          <p:nvPr/>
        </p:nvSpPr>
        <p:spPr>
          <a:xfrm>
            <a:off x="4233118" y="5562600"/>
            <a:ext cx="84439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Satellites</a:t>
            </a:r>
            <a:endParaRPr lang="en-US" sz="1200" dirty="0"/>
          </a:p>
        </p:txBody>
      </p:sp>
      <p:sp>
        <p:nvSpPr>
          <p:cNvPr id="40" name="Text 13"/>
          <p:cNvSpPr/>
          <p:nvPr/>
        </p:nvSpPr>
        <p:spPr>
          <a:xfrm>
            <a:off x="5641628" y="5562600"/>
            <a:ext cx="1563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Pilot Radio/Radar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1428750"/>
            <a:ext cx="142875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1428750"/>
            <a:ext cx="19050" cy="952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142875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0250" y="5695950"/>
            <a:ext cx="114300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4953000"/>
            <a:ext cx="19050" cy="762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7050" y="56388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990600"/>
            <a:ext cx="1219200" cy="38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1905000"/>
            <a:ext cx="5486400" cy="39243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5800" y="2133600"/>
            <a:ext cx="762000" cy="762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2488" y="2324100"/>
            <a:ext cx="428625" cy="381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3581400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5800" y="3924300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8400" y="1905000"/>
            <a:ext cx="5486400" cy="39243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0" y="2133600"/>
            <a:ext cx="762000" cy="7620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43688" y="2324100"/>
            <a:ext cx="428625" cy="3810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77000" y="3238500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3581400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77000" y="3924300"/>
            <a:ext cx="190500" cy="1524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457200" y="457200"/>
            <a:ext cx="1353312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Application 3: </a:t>
            </a:r>
            <a:r>
              <a:rPr lang="en-US" sz="3600" b="1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</a:rPr>
              <a:t>Advanced Technologies</a:t>
            </a:r>
          </a:p>
        </p:txBody>
      </p:sp>
      <p:sp>
        <p:nvSpPr>
          <p:cNvPr id="22" name="Text 1"/>
          <p:cNvSpPr/>
          <p:nvPr/>
        </p:nvSpPr>
        <p:spPr>
          <a:xfrm>
            <a:off x="457200" y="1333500"/>
            <a:ext cx="13533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engineering drives cutting-edge technologies that are transforming our world:</a:t>
            </a:r>
            <a:endParaRPr lang="en-US" sz="1500" dirty="0"/>
          </a:p>
        </p:txBody>
      </p:sp>
      <p:sp>
        <p:nvSpPr>
          <p:cNvPr id="23" name="Text 2"/>
          <p:cNvSpPr/>
          <p:nvPr/>
        </p:nvSpPr>
        <p:spPr>
          <a:xfrm>
            <a:off x="1600200" y="2419350"/>
            <a:ext cx="395120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Autonomous Driving</a:t>
            </a:r>
            <a:endParaRPr lang="en-US" sz="2250" dirty="0"/>
          </a:p>
        </p:txBody>
      </p:sp>
      <p:sp>
        <p:nvSpPr>
          <p:cNvPr id="24" name="Text 3"/>
          <p:cNvSpPr/>
          <p:nvPr/>
        </p:nvSpPr>
        <p:spPr>
          <a:xfrm>
            <a:off x="800100" y="3200400"/>
            <a:ext cx="339131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Sensors collect visual and radar data</a:t>
            </a:r>
            <a:endParaRPr lang="en-US" sz="1200" dirty="0"/>
          </a:p>
        </p:txBody>
      </p:sp>
      <p:sp>
        <p:nvSpPr>
          <p:cNvPr id="25" name="Text 4"/>
          <p:cNvSpPr/>
          <p:nvPr/>
        </p:nvSpPr>
        <p:spPr>
          <a:xfrm>
            <a:off x="952500" y="3543300"/>
            <a:ext cx="349097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circuits process information</a:t>
            </a:r>
            <a:endParaRPr lang="en-US" sz="1200" dirty="0"/>
          </a:p>
        </p:txBody>
      </p:sp>
      <p:sp>
        <p:nvSpPr>
          <p:cNvPr id="26" name="Text 5"/>
          <p:cNvSpPr/>
          <p:nvPr/>
        </p:nvSpPr>
        <p:spPr>
          <a:xfrm>
            <a:off x="952500" y="3886200"/>
            <a:ext cx="31889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Make driving decisions in real-time</a:t>
            </a:r>
            <a:endParaRPr lang="en-US" sz="1200" dirty="0"/>
          </a:p>
        </p:txBody>
      </p:sp>
      <p:sp>
        <p:nvSpPr>
          <p:cNvPr id="27" name="Text 6"/>
          <p:cNvSpPr/>
          <p:nvPr/>
        </p:nvSpPr>
        <p:spPr>
          <a:xfrm>
            <a:off x="7391400" y="2419350"/>
            <a:ext cx="403800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Artificial Intelligence</a:t>
            </a:r>
            <a:endParaRPr lang="en-US" sz="2250" dirty="0"/>
          </a:p>
        </p:txBody>
      </p:sp>
      <p:sp>
        <p:nvSpPr>
          <p:cNvPr id="28" name="Text 7"/>
          <p:cNvSpPr/>
          <p:nvPr/>
        </p:nvSpPr>
        <p:spPr>
          <a:xfrm>
            <a:off x="6743700" y="3200400"/>
            <a:ext cx="395281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Powerful hardware processes massive data</a:t>
            </a:r>
            <a:endParaRPr lang="en-US" sz="1200" dirty="0"/>
          </a:p>
        </p:txBody>
      </p:sp>
      <p:sp>
        <p:nvSpPr>
          <p:cNvPr id="29" name="Text 8"/>
          <p:cNvSpPr/>
          <p:nvPr/>
        </p:nvSpPr>
        <p:spPr>
          <a:xfrm>
            <a:off x="6743700" y="3543300"/>
            <a:ext cx="397335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Specialized chips accelerate AI calculations</a:t>
            </a:r>
            <a:endParaRPr lang="en-US" sz="1200" dirty="0"/>
          </a:p>
        </p:txBody>
      </p:sp>
      <p:sp>
        <p:nvSpPr>
          <p:cNvPr id="30" name="Text 9"/>
          <p:cNvSpPr/>
          <p:nvPr/>
        </p:nvSpPr>
        <p:spPr>
          <a:xfrm>
            <a:off x="6781800" y="3886200"/>
            <a:ext cx="369403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Processors and servers power AI models</a:t>
            </a:r>
            <a:endParaRPr lang="en-US" sz="1200" dirty="0"/>
          </a:p>
        </p:txBody>
      </p:sp>
      <p:sp>
        <p:nvSpPr>
          <p:cNvPr id="31" name="Text 10"/>
          <p:cNvSpPr/>
          <p:nvPr/>
        </p:nvSpPr>
        <p:spPr>
          <a:xfrm>
            <a:off x="-670560" y="6134100"/>
            <a:ext cx="13533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i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engineering enables the impossible become possible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1428750"/>
            <a:ext cx="190500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1428750"/>
            <a:ext cx="19050" cy="14287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142875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0" y="4933950"/>
            <a:ext cx="142875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4000500"/>
            <a:ext cx="19050" cy="952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7050" y="48768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990600"/>
            <a:ext cx="1219200" cy="38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1362075"/>
            <a:ext cx="285750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1866900"/>
            <a:ext cx="2069753" cy="1447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2019300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79353" y="1866900"/>
            <a:ext cx="2069753" cy="1447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31753" y="2019300"/>
            <a:ext cx="257175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7200" y="3467100"/>
            <a:ext cx="2069753" cy="12573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" y="3619500"/>
            <a:ext cx="228600" cy="304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79353" y="3467100"/>
            <a:ext cx="2069753" cy="12573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31753" y="3619500"/>
            <a:ext cx="228600" cy="304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977705" y="3238500"/>
            <a:ext cx="2236589" cy="190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77705" y="4191000"/>
            <a:ext cx="2236589" cy="190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977705" y="5143500"/>
            <a:ext cx="2236589" cy="190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977705" y="6096000"/>
            <a:ext cx="2236589" cy="190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791200" y="2647950"/>
            <a:ext cx="609600" cy="2438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953125" y="2933700"/>
            <a:ext cx="285750" cy="3429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943600" y="3695700"/>
            <a:ext cx="304800" cy="762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943600" y="4038600"/>
            <a:ext cx="304800" cy="762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943600" y="4381500"/>
            <a:ext cx="304800" cy="762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943600" y="4724400"/>
            <a:ext cx="304800" cy="762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442895" y="1362075"/>
            <a:ext cx="228600" cy="2286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442895" y="1790700"/>
            <a:ext cx="4291905" cy="23241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633395" y="2362200"/>
            <a:ext cx="152400" cy="152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633395" y="2933700"/>
            <a:ext cx="152400" cy="1524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633395" y="3505200"/>
            <a:ext cx="152400" cy="1524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442895" y="4267200"/>
            <a:ext cx="4291905" cy="18669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975997" y="5372100"/>
            <a:ext cx="257175" cy="304800"/>
          </a:xfrm>
          <a:prstGeom prst="rect">
            <a:avLst/>
          </a:prstGeom>
        </p:spPr>
      </p:pic>
      <p:sp>
        <p:nvSpPr>
          <p:cNvPr id="36" name="Text 0"/>
          <p:cNvSpPr/>
          <p:nvPr/>
        </p:nvSpPr>
        <p:spPr>
          <a:xfrm>
            <a:off x="457200" y="457200"/>
            <a:ext cx="1353312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Self-Driving Car Electronics</a:t>
            </a:r>
            <a:endParaRPr lang="en-US" sz="3600" dirty="0"/>
          </a:p>
        </p:txBody>
      </p:sp>
      <p:sp>
        <p:nvSpPr>
          <p:cNvPr id="37" name="Text 1"/>
          <p:cNvSpPr/>
          <p:nvPr/>
        </p:nvSpPr>
        <p:spPr>
          <a:xfrm>
            <a:off x="857250" y="1333500"/>
            <a:ext cx="515028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Sensors Collect Data</a:t>
            </a:r>
            <a:endParaRPr lang="en-US" sz="1800" dirty="0"/>
          </a:p>
        </p:txBody>
      </p:sp>
      <p:sp>
        <p:nvSpPr>
          <p:cNvPr id="38" name="Text 2"/>
          <p:cNvSpPr/>
          <p:nvPr/>
        </p:nvSpPr>
        <p:spPr>
          <a:xfrm>
            <a:off x="952500" y="2038350"/>
            <a:ext cx="111835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Cameras</a:t>
            </a:r>
            <a:endParaRPr lang="en-US" sz="1500" dirty="0"/>
          </a:p>
        </p:txBody>
      </p:sp>
      <p:sp>
        <p:nvSpPr>
          <p:cNvPr id="39" name="Text 3"/>
          <p:cNvSpPr/>
          <p:nvPr/>
        </p:nvSpPr>
        <p:spPr>
          <a:xfrm>
            <a:off x="609600" y="2400300"/>
            <a:ext cx="1764953" cy="762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Capture visual data for lane detection, traffic signs, and object recognition</a:t>
            </a:r>
            <a:endParaRPr lang="en-US" sz="1050" dirty="0"/>
          </a:p>
        </p:txBody>
      </p:sp>
      <p:sp>
        <p:nvSpPr>
          <p:cNvPr id="40" name="Text 4"/>
          <p:cNvSpPr/>
          <p:nvPr/>
        </p:nvSpPr>
        <p:spPr>
          <a:xfrm>
            <a:off x="3203228" y="2038350"/>
            <a:ext cx="76098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Radar</a:t>
            </a:r>
            <a:endParaRPr lang="en-US" sz="1500" dirty="0"/>
          </a:p>
        </p:txBody>
      </p:sp>
      <p:sp>
        <p:nvSpPr>
          <p:cNvPr id="41" name="Text 5"/>
          <p:cNvSpPr/>
          <p:nvPr/>
        </p:nvSpPr>
        <p:spPr>
          <a:xfrm>
            <a:off x="2831753" y="2400300"/>
            <a:ext cx="1764953" cy="762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Measure distance to objects and detect their speed through radio waves</a:t>
            </a:r>
            <a:endParaRPr lang="en-US" sz="1050" dirty="0"/>
          </a:p>
        </p:txBody>
      </p:sp>
      <p:sp>
        <p:nvSpPr>
          <p:cNvPr id="42" name="Text 6"/>
          <p:cNvSpPr/>
          <p:nvPr/>
        </p:nvSpPr>
        <p:spPr>
          <a:xfrm>
            <a:off x="952500" y="3638550"/>
            <a:ext cx="76688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LiDAR</a:t>
            </a:r>
            <a:endParaRPr lang="en-US" sz="1500" dirty="0"/>
          </a:p>
        </p:txBody>
      </p:sp>
      <p:sp>
        <p:nvSpPr>
          <p:cNvPr id="43" name="Text 7"/>
          <p:cNvSpPr/>
          <p:nvPr/>
        </p:nvSpPr>
        <p:spPr>
          <a:xfrm>
            <a:off x="609600" y="4000500"/>
            <a:ext cx="1764953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Creates detailed 3D maps of surroundings using laser pulses</a:t>
            </a:r>
            <a:endParaRPr lang="en-US" sz="1050" dirty="0"/>
          </a:p>
        </p:txBody>
      </p:sp>
      <p:sp>
        <p:nvSpPr>
          <p:cNvPr id="44" name="Text 8"/>
          <p:cNvSpPr/>
          <p:nvPr/>
        </p:nvSpPr>
        <p:spPr>
          <a:xfrm>
            <a:off x="3174653" y="3638550"/>
            <a:ext cx="49827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IMU</a:t>
            </a:r>
            <a:endParaRPr lang="en-US" sz="1500" dirty="0"/>
          </a:p>
        </p:txBody>
      </p:sp>
      <p:sp>
        <p:nvSpPr>
          <p:cNvPr id="45" name="Text 9"/>
          <p:cNvSpPr/>
          <p:nvPr/>
        </p:nvSpPr>
        <p:spPr>
          <a:xfrm>
            <a:off x="2831753" y="4000500"/>
            <a:ext cx="1764953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Inertial measurement unit tracks acceleration and rotation</a:t>
            </a:r>
            <a:endParaRPr lang="en-US" sz="1050" dirty="0"/>
          </a:p>
        </p:txBody>
      </p:sp>
      <p:sp>
        <p:nvSpPr>
          <p:cNvPr id="46" name="Text 10"/>
          <p:cNvSpPr/>
          <p:nvPr/>
        </p:nvSpPr>
        <p:spPr>
          <a:xfrm>
            <a:off x="7785795" y="1333500"/>
            <a:ext cx="515028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Processing</a:t>
            </a:r>
            <a:endParaRPr lang="en-US" sz="1800" dirty="0"/>
          </a:p>
        </p:txBody>
      </p:sp>
      <p:sp>
        <p:nvSpPr>
          <p:cNvPr id="47" name="Text 11"/>
          <p:cNvSpPr/>
          <p:nvPr/>
        </p:nvSpPr>
        <p:spPr>
          <a:xfrm>
            <a:off x="7633395" y="1981200"/>
            <a:ext cx="469308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How Electronics Make Decisions</a:t>
            </a:r>
            <a:endParaRPr lang="en-US" sz="1500" dirty="0"/>
          </a:p>
        </p:txBody>
      </p:sp>
      <p:sp>
        <p:nvSpPr>
          <p:cNvPr id="48" name="Text 12"/>
          <p:cNvSpPr/>
          <p:nvPr/>
        </p:nvSpPr>
        <p:spPr>
          <a:xfrm>
            <a:off x="7900095" y="2324100"/>
            <a:ext cx="364420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circuits process data from sensors in real-time</a:t>
            </a:r>
            <a:endParaRPr lang="en-US" sz="1200" dirty="0"/>
          </a:p>
        </p:txBody>
      </p:sp>
      <p:sp>
        <p:nvSpPr>
          <p:cNvPr id="49" name="Text 13"/>
          <p:cNvSpPr/>
          <p:nvPr/>
        </p:nvSpPr>
        <p:spPr>
          <a:xfrm>
            <a:off x="7900095" y="2895600"/>
            <a:ext cx="364420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Signal processing filters noise from raw sensor data</a:t>
            </a:r>
            <a:endParaRPr lang="en-US" sz="1200" dirty="0"/>
          </a:p>
        </p:txBody>
      </p:sp>
      <p:sp>
        <p:nvSpPr>
          <p:cNvPr id="50" name="Text 14"/>
          <p:cNvSpPr/>
          <p:nvPr/>
        </p:nvSpPr>
        <p:spPr>
          <a:xfrm>
            <a:off x="7900095" y="3467100"/>
            <a:ext cx="364420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Analog-to-digital converters transform physical signals into digital data</a:t>
            </a:r>
            <a:endParaRPr lang="en-US" sz="1200" dirty="0"/>
          </a:p>
        </p:txBody>
      </p:sp>
      <p:sp>
        <p:nvSpPr>
          <p:cNvPr id="51" name="Text 15"/>
          <p:cNvSpPr/>
          <p:nvPr/>
        </p:nvSpPr>
        <p:spPr>
          <a:xfrm>
            <a:off x="7633395" y="4457700"/>
            <a:ext cx="39109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Driving Decisions</a:t>
            </a:r>
            <a:endParaRPr lang="en-US" sz="1500" dirty="0"/>
          </a:p>
        </p:txBody>
      </p:sp>
      <p:sp>
        <p:nvSpPr>
          <p:cNvPr id="52" name="Text 16"/>
          <p:cNvSpPr/>
          <p:nvPr/>
        </p:nvSpPr>
        <p:spPr>
          <a:xfrm>
            <a:off x="7633395" y="4800600"/>
            <a:ext cx="391090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processed data feeds into the car's control systems:</a:t>
            </a:r>
            <a:endParaRPr lang="en-US" sz="1200" dirty="0"/>
          </a:p>
        </p:txBody>
      </p:sp>
      <p:sp>
        <p:nvSpPr>
          <p:cNvPr id="53" name="Text 17"/>
          <p:cNvSpPr/>
          <p:nvPr/>
        </p:nvSpPr>
        <p:spPr>
          <a:xfrm>
            <a:off x="7633395" y="5753100"/>
            <a:ext cx="113103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Speed Control</a:t>
            </a:r>
            <a:endParaRPr lang="en-US" sz="1050" dirty="0"/>
          </a:p>
        </p:txBody>
      </p:sp>
      <p:sp>
        <p:nvSpPr>
          <p:cNvPr id="54" name="Text 18"/>
          <p:cNvSpPr/>
          <p:nvPr/>
        </p:nvSpPr>
        <p:spPr>
          <a:xfrm>
            <a:off x="9523214" y="5448300"/>
            <a:ext cx="67454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Steering</a:t>
            </a:r>
            <a:endParaRPr lang="en-US" sz="1050" dirty="0"/>
          </a:p>
        </p:txBody>
      </p:sp>
      <p:sp>
        <p:nvSpPr>
          <p:cNvPr id="55" name="Text 19"/>
          <p:cNvSpPr/>
          <p:nvPr/>
        </p:nvSpPr>
        <p:spPr>
          <a:xfrm>
            <a:off x="11032629" y="5448300"/>
            <a:ext cx="61382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Braking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952500"/>
            <a:ext cx="190500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" y="952500"/>
            <a:ext cx="19050" cy="14287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" y="95250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0750" y="5410200"/>
            <a:ext cx="142875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20450" y="4476750"/>
            <a:ext cx="19050" cy="952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63300" y="535305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990600"/>
            <a:ext cx="914400" cy="38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2686050"/>
            <a:ext cx="5486400" cy="8001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2933700"/>
            <a:ext cx="228600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3638550"/>
            <a:ext cx="5486400" cy="8001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3886200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4591050"/>
            <a:ext cx="5486400" cy="8001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4838700"/>
            <a:ext cx="28575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8400" y="1790700"/>
            <a:ext cx="5486400" cy="3657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48400" y="1790700"/>
            <a:ext cx="5486400" cy="3657600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457200" y="457200"/>
            <a:ext cx="1353312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 Hardware Infrastructure</a:t>
            </a:r>
            <a:endParaRPr lang="en-US" sz="3600" dirty="0"/>
          </a:p>
        </p:txBody>
      </p:sp>
      <p:sp>
        <p:nvSpPr>
          <p:cNvPr id="19" name="Text 1"/>
          <p:cNvSpPr/>
          <p:nvPr/>
        </p:nvSpPr>
        <p:spPr>
          <a:xfrm>
            <a:off x="457200" y="1847850"/>
            <a:ext cx="54864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Large AI models like chatbots and image generators rely on electronic hardware designed by electronic engineers.</a:t>
            </a:r>
            <a:endParaRPr lang="en-US" sz="1500" dirty="0"/>
          </a:p>
        </p:txBody>
      </p:sp>
      <p:sp>
        <p:nvSpPr>
          <p:cNvPr id="20" name="Text 2"/>
          <p:cNvSpPr/>
          <p:nvPr/>
        </p:nvSpPr>
        <p:spPr>
          <a:xfrm>
            <a:off x="952500" y="2838450"/>
            <a:ext cx="371546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Chips &amp; Processors</a:t>
            </a:r>
            <a:endParaRPr lang="en-US" sz="1500" dirty="0"/>
          </a:p>
        </p:txBody>
      </p:sp>
      <p:sp>
        <p:nvSpPr>
          <p:cNvPr id="21" name="Text 3"/>
          <p:cNvSpPr/>
          <p:nvPr/>
        </p:nvSpPr>
        <p:spPr>
          <a:xfrm>
            <a:off x="952500" y="3105150"/>
            <a:ext cx="371546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Specialized hardware for AI computation</a:t>
            </a:r>
            <a:endParaRPr lang="en-US" sz="1200" dirty="0"/>
          </a:p>
        </p:txBody>
      </p:sp>
      <p:sp>
        <p:nvSpPr>
          <p:cNvPr id="22" name="Text 4"/>
          <p:cNvSpPr/>
          <p:nvPr/>
        </p:nvSpPr>
        <p:spPr>
          <a:xfrm>
            <a:off x="952500" y="3790950"/>
            <a:ext cx="340381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Servers &amp; Data Centers</a:t>
            </a:r>
            <a:endParaRPr lang="en-US" sz="1500" dirty="0"/>
          </a:p>
        </p:txBody>
      </p:sp>
      <p:sp>
        <p:nvSpPr>
          <p:cNvPr id="23" name="Text 5"/>
          <p:cNvSpPr/>
          <p:nvPr/>
        </p:nvSpPr>
        <p:spPr>
          <a:xfrm>
            <a:off x="952500" y="4057650"/>
            <a:ext cx="340381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Powerful infrastructure for AI training</a:t>
            </a:r>
            <a:endParaRPr lang="en-US" sz="1200" dirty="0"/>
          </a:p>
        </p:txBody>
      </p:sp>
      <p:sp>
        <p:nvSpPr>
          <p:cNvPr id="24" name="Text 6"/>
          <p:cNvSpPr/>
          <p:nvPr/>
        </p:nvSpPr>
        <p:spPr>
          <a:xfrm>
            <a:off x="1009650" y="4743450"/>
            <a:ext cx="295626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High-Speed Networks</a:t>
            </a:r>
            <a:endParaRPr lang="en-US" sz="1500" dirty="0"/>
          </a:p>
        </p:txBody>
      </p:sp>
      <p:sp>
        <p:nvSpPr>
          <p:cNvPr id="25" name="Text 7"/>
          <p:cNvSpPr/>
          <p:nvPr/>
        </p:nvSpPr>
        <p:spPr>
          <a:xfrm>
            <a:off x="1009650" y="5010150"/>
            <a:ext cx="295626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Connect AI components globally</a:t>
            </a:r>
            <a:endParaRPr lang="en-US" sz="1200" dirty="0"/>
          </a:p>
        </p:txBody>
      </p:sp>
      <p:sp>
        <p:nvSpPr>
          <p:cNvPr id="26" name="Text 8"/>
          <p:cNvSpPr/>
          <p:nvPr/>
        </p:nvSpPr>
        <p:spPr>
          <a:xfrm>
            <a:off x="-670560" y="6210300"/>
            <a:ext cx="135331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engineers design the hardware that powers today's AI revolution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0" y="1428750"/>
            <a:ext cx="190500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0450" y="1428750"/>
            <a:ext cx="19050" cy="14287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63300" y="142875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5695950"/>
            <a:ext cx="142875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4762500"/>
            <a:ext cx="19050" cy="952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6388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990600"/>
            <a:ext cx="1219200" cy="38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2876550"/>
            <a:ext cx="238125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333750"/>
            <a:ext cx="238125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4019550"/>
            <a:ext cx="219075" cy="266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4743450"/>
            <a:ext cx="5486400" cy="838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3200" y="5238750"/>
            <a:ext cx="4876800" cy="4191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457200" y="457200"/>
            <a:ext cx="1353312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My Project: Runway Approach Light</a:t>
            </a:r>
            <a:endParaRPr lang="en-US" sz="3600" dirty="0"/>
          </a:p>
        </p:txBody>
      </p:sp>
      <p:sp>
        <p:nvSpPr>
          <p:cNvPr id="17" name="Text 1"/>
          <p:cNvSpPr/>
          <p:nvPr/>
        </p:nvSpPr>
        <p:spPr>
          <a:xfrm>
            <a:off x="457200" y="2076450"/>
            <a:ext cx="54864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 created a decorative desk lamp inspired by airport runway lights.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809625" y="2838450"/>
            <a:ext cx="58039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Connects to the internet to fetch real-time weather data</a:t>
            </a:r>
            <a:endParaRPr lang="en-US" sz="1350" dirty="0"/>
          </a:p>
        </p:txBody>
      </p:sp>
      <p:sp>
        <p:nvSpPr>
          <p:cNvPr id="19" name="Text 3"/>
          <p:cNvSpPr/>
          <p:nvPr/>
        </p:nvSpPr>
        <p:spPr>
          <a:xfrm>
            <a:off x="809625" y="3295650"/>
            <a:ext cx="5133975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Changes color based on actual visibility and weather conditions</a:t>
            </a:r>
            <a:endParaRPr lang="en-US" sz="1350" dirty="0"/>
          </a:p>
        </p:txBody>
      </p:sp>
      <p:sp>
        <p:nvSpPr>
          <p:cNvPr id="20" name="Text 4"/>
          <p:cNvSpPr/>
          <p:nvPr/>
        </p:nvSpPr>
        <p:spPr>
          <a:xfrm>
            <a:off x="790575" y="3981450"/>
            <a:ext cx="5153025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Provides a unique blend of aviation hobby and engineering skills</a:t>
            </a:r>
            <a:endParaRPr lang="en-US" sz="1350" dirty="0"/>
          </a:p>
        </p:txBody>
      </p:sp>
      <p:sp>
        <p:nvSpPr>
          <p:cNvPr id="21" name="Text 5"/>
          <p:cNvSpPr/>
          <p:nvPr/>
        </p:nvSpPr>
        <p:spPr>
          <a:xfrm>
            <a:off x="609600" y="4895850"/>
            <a:ext cx="51816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i="1" dirty="0">
                <a:solidFill>
                  <a:srgbClr val="BFDBF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"As both a flight enthusiast and an electronics student, this was a fun way to combine my hobby and my major."</a:t>
            </a:r>
            <a:endParaRPr lang="en-US" sz="1350" dirty="0"/>
          </a:p>
        </p:txBody>
      </p:sp>
      <p:sp>
        <p:nvSpPr>
          <p:cNvPr id="22" name="Text 6"/>
          <p:cNvSpPr/>
          <p:nvPr/>
        </p:nvSpPr>
        <p:spPr>
          <a:xfrm>
            <a:off x="6202680" y="5353050"/>
            <a:ext cx="55778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My airport runway approach light desk model</a:t>
            </a:r>
            <a:endParaRPr lang="en-US" sz="1050" dirty="0"/>
          </a:p>
        </p:txBody>
      </p:sp>
      <p:pic>
        <p:nvPicPr>
          <p:cNvPr id="24" name="图片 23" descr="图片包含 电路, 游戏机, 桌子, 电脑&#10;&#10;AI 生成的内容可能不正确。">
            <a:extLst>
              <a:ext uri="{FF2B5EF4-FFF2-40B4-BE49-F238E27FC236}">
                <a16:creationId xmlns:a16="http://schemas.microsoft.com/office/drawing/2014/main" id="{BBE92412-BA11-236E-4FA7-534213FC750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3200" y="1575427"/>
            <a:ext cx="4876800" cy="366332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1428750"/>
            <a:ext cx="190500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1428750"/>
            <a:ext cx="19050" cy="952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142875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0" y="5695950"/>
            <a:ext cx="142875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4953000"/>
            <a:ext cx="19050" cy="762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7050" y="56388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990600"/>
            <a:ext cx="914400" cy="381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4610100"/>
            <a:ext cx="4470400" cy="4191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62550"/>
            <a:ext cx="5410200" cy="1104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4600" y="1714500"/>
            <a:ext cx="1185565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74507" y="1828800"/>
            <a:ext cx="285750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05415" y="2219325"/>
            <a:ext cx="588913" cy="190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89578" y="1714500"/>
            <a:ext cx="1480096" cy="1028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86676" y="1828800"/>
            <a:ext cx="285750" cy="304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864923" y="2219325"/>
            <a:ext cx="588913" cy="190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549086" y="1714500"/>
            <a:ext cx="1185565" cy="10287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070431" y="1828800"/>
            <a:ext cx="142875" cy="3048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24600" y="2971800"/>
            <a:ext cx="5410200" cy="8001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77000" y="3219450"/>
            <a:ext cx="285750" cy="304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24600" y="3924300"/>
            <a:ext cx="5410200" cy="8001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77000" y="4171950"/>
            <a:ext cx="257175" cy="304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324600" y="4876800"/>
            <a:ext cx="5410200" cy="8001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477000" y="5124450"/>
            <a:ext cx="171450" cy="304800"/>
          </a:xfrm>
          <a:prstGeom prst="rect">
            <a:avLst/>
          </a:prstGeom>
        </p:spPr>
      </p:pic>
      <p:sp>
        <p:nvSpPr>
          <p:cNvPr id="27" name="Text 0"/>
          <p:cNvSpPr/>
          <p:nvPr/>
        </p:nvSpPr>
        <p:spPr>
          <a:xfrm>
            <a:off x="457200" y="457200"/>
            <a:ext cx="11277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Smart Functionality</a:t>
            </a:r>
            <a:endParaRPr lang="en-US" sz="3600" dirty="0"/>
          </a:p>
        </p:txBody>
      </p:sp>
      <p:sp>
        <p:nvSpPr>
          <p:cNvPr id="28" name="Text 1"/>
          <p:cNvSpPr/>
          <p:nvPr/>
        </p:nvSpPr>
        <p:spPr>
          <a:xfrm>
            <a:off x="571500" y="4724400"/>
            <a:ext cx="42291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My runway approach light model</a:t>
            </a:r>
            <a:endParaRPr lang="en-US" sz="1050" dirty="0"/>
          </a:p>
        </p:txBody>
      </p:sp>
      <p:sp>
        <p:nvSpPr>
          <p:cNvPr id="29" name="Text 2"/>
          <p:cNvSpPr/>
          <p:nvPr/>
        </p:nvSpPr>
        <p:spPr>
          <a:xfrm>
            <a:off x="609600" y="5314950"/>
            <a:ext cx="5105400" cy="800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This project combines my passion for aviation with my electronics studies. The desk lamp is not just decorative—it's a functional weather-aware lighting system.</a:t>
            </a:r>
            <a:endParaRPr lang="en-US" sz="1350" dirty="0"/>
          </a:p>
        </p:txBody>
      </p:sp>
      <p:sp>
        <p:nvSpPr>
          <p:cNvPr id="30" name="Text 3"/>
          <p:cNvSpPr/>
          <p:nvPr/>
        </p:nvSpPr>
        <p:spPr>
          <a:xfrm>
            <a:off x="6324600" y="1257300"/>
            <a:ext cx="54102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31" name="Text 4"/>
          <p:cNvSpPr/>
          <p:nvPr/>
        </p:nvSpPr>
        <p:spPr>
          <a:xfrm>
            <a:off x="6438900" y="2171700"/>
            <a:ext cx="95696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Connects to Internet</a:t>
            </a:r>
            <a:endParaRPr lang="en-US" sz="1200" dirty="0"/>
          </a:p>
        </p:txBody>
      </p:sp>
      <p:sp>
        <p:nvSpPr>
          <p:cNvPr id="32" name="Text 5"/>
          <p:cNvSpPr/>
          <p:nvPr/>
        </p:nvSpPr>
        <p:spPr>
          <a:xfrm>
            <a:off x="8403878" y="2171700"/>
            <a:ext cx="125149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Downloads METAR Data</a:t>
            </a:r>
            <a:endParaRPr lang="en-US" sz="1200" dirty="0"/>
          </a:p>
        </p:txBody>
      </p:sp>
      <p:sp>
        <p:nvSpPr>
          <p:cNvPr id="33" name="Text 6"/>
          <p:cNvSpPr/>
          <p:nvPr/>
        </p:nvSpPr>
        <p:spPr>
          <a:xfrm>
            <a:off x="10663386" y="2171700"/>
            <a:ext cx="95696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Changes Color</a:t>
            </a:r>
            <a:endParaRPr lang="en-US" sz="1200" dirty="0"/>
          </a:p>
        </p:txBody>
      </p:sp>
      <p:sp>
        <p:nvSpPr>
          <p:cNvPr id="34" name="Text 7"/>
          <p:cNvSpPr/>
          <p:nvPr/>
        </p:nvSpPr>
        <p:spPr>
          <a:xfrm>
            <a:off x="6877050" y="3124200"/>
            <a:ext cx="461611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Real-time Weather Data</a:t>
            </a:r>
            <a:endParaRPr lang="en-US" sz="1350" dirty="0"/>
          </a:p>
        </p:txBody>
      </p:sp>
      <p:sp>
        <p:nvSpPr>
          <p:cNvPr id="35" name="Text 8"/>
          <p:cNvSpPr/>
          <p:nvPr/>
        </p:nvSpPr>
        <p:spPr>
          <a:xfrm>
            <a:off x="6877050" y="3390900"/>
            <a:ext cx="461611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Uses METAR data to get actual weather conditions</a:t>
            </a:r>
            <a:endParaRPr lang="en-US" sz="1200" dirty="0"/>
          </a:p>
        </p:txBody>
      </p:sp>
      <p:sp>
        <p:nvSpPr>
          <p:cNvPr id="36" name="Text 9"/>
          <p:cNvSpPr/>
          <p:nvPr/>
        </p:nvSpPr>
        <p:spPr>
          <a:xfrm>
            <a:off x="6848475" y="4076700"/>
            <a:ext cx="439572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Visibility Awareness</a:t>
            </a:r>
            <a:endParaRPr lang="en-US" sz="1350" dirty="0"/>
          </a:p>
        </p:txBody>
      </p:sp>
      <p:sp>
        <p:nvSpPr>
          <p:cNvPr id="37" name="Text 10"/>
          <p:cNvSpPr/>
          <p:nvPr/>
        </p:nvSpPr>
        <p:spPr>
          <a:xfrm>
            <a:off x="6848475" y="4343400"/>
            <a:ext cx="439572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Changes based on actual visibility at the airport</a:t>
            </a:r>
            <a:endParaRPr lang="en-US" sz="1200" dirty="0"/>
          </a:p>
        </p:txBody>
      </p:sp>
      <p:sp>
        <p:nvSpPr>
          <p:cNvPr id="38" name="Text 11"/>
          <p:cNvSpPr/>
          <p:nvPr/>
        </p:nvSpPr>
        <p:spPr>
          <a:xfrm>
            <a:off x="6762750" y="5029200"/>
            <a:ext cx="425291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Airport Selection</a:t>
            </a:r>
            <a:endParaRPr lang="en-US" sz="1350" dirty="0"/>
          </a:p>
        </p:txBody>
      </p:sp>
      <p:sp>
        <p:nvSpPr>
          <p:cNvPr id="39" name="Text 12"/>
          <p:cNvSpPr/>
          <p:nvPr/>
        </p:nvSpPr>
        <p:spPr>
          <a:xfrm>
            <a:off x="6762750" y="5295900"/>
            <a:ext cx="510349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Can be programmed for any airport with METAR service</a:t>
            </a:r>
            <a:endParaRPr lang="en-US" sz="1200" dirty="0"/>
          </a:p>
        </p:txBody>
      </p:sp>
      <p:sp>
        <p:nvSpPr>
          <p:cNvPr id="40" name="Text 13"/>
          <p:cNvSpPr/>
          <p:nvPr/>
        </p:nvSpPr>
        <p:spPr>
          <a:xfrm>
            <a:off x="11655177" y="6515100"/>
            <a:ext cx="46130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14/23</a:t>
            </a:r>
            <a:endParaRPr lang="en-US" sz="1050" dirty="0"/>
          </a:p>
        </p:txBody>
      </p:sp>
      <p:pic>
        <p:nvPicPr>
          <p:cNvPr id="42" name="图片 41" descr="电子器材&#10;&#10;AI 生成的内容可能不正确。">
            <a:extLst>
              <a:ext uri="{FF2B5EF4-FFF2-40B4-BE49-F238E27FC236}">
                <a16:creationId xmlns:a16="http://schemas.microsoft.com/office/drawing/2014/main" id="{E081A5C5-B775-92F0-822C-537779500ED2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76250" y="1266825"/>
            <a:ext cx="4451350" cy="33437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90600"/>
            <a:ext cx="12192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752600"/>
            <a:ext cx="5524500" cy="3009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981200"/>
            <a:ext cx="323850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429000"/>
            <a:ext cx="171450" cy="1714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771900"/>
            <a:ext cx="171450" cy="1714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4114800"/>
            <a:ext cx="171450" cy="1714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1752600"/>
            <a:ext cx="5524500" cy="3009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8900" y="1981200"/>
            <a:ext cx="247650" cy="342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8900" y="3429000"/>
            <a:ext cx="171450" cy="1714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8900" y="3771900"/>
            <a:ext cx="171450" cy="1714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8900" y="4114800"/>
            <a:ext cx="171450" cy="1714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4991100"/>
            <a:ext cx="11277600" cy="14097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100" y="5819775"/>
            <a:ext cx="762000" cy="952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5000" y="5791200"/>
            <a:ext cx="142875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14575" y="5867400"/>
            <a:ext cx="190500" cy="952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95575" y="5867400"/>
            <a:ext cx="190500" cy="952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19475" y="5791200"/>
            <a:ext cx="142875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38550" y="5715000"/>
            <a:ext cx="685502" cy="304800"/>
          </a:xfrm>
          <a:prstGeom prst="rect">
            <a:avLst/>
          </a:prstGeom>
        </p:spPr>
      </p:pic>
      <p:sp>
        <p:nvSpPr>
          <p:cNvPr id="25" name="Text 0"/>
          <p:cNvSpPr/>
          <p:nvPr/>
        </p:nvSpPr>
        <p:spPr>
          <a:xfrm>
            <a:off x="457200" y="457200"/>
            <a:ext cx="1353312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Core Theories: Basic Components</a:t>
            </a:r>
            <a:endParaRPr lang="en-US" sz="3600" dirty="0"/>
          </a:p>
        </p:txBody>
      </p:sp>
      <p:sp>
        <p:nvSpPr>
          <p:cNvPr id="26" name="Text 1"/>
          <p:cNvSpPr/>
          <p:nvPr/>
        </p:nvSpPr>
        <p:spPr>
          <a:xfrm>
            <a:off x="457200" y="1257300"/>
            <a:ext cx="13533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Everything in electronic engineering starts with understanding these fundamental components and their properties.</a:t>
            </a:r>
            <a:endParaRPr lang="en-US" sz="1500" dirty="0"/>
          </a:p>
        </p:txBody>
      </p:sp>
      <p:sp>
        <p:nvSpPr>
          <p:cNvPr id="27" name="Text 2"/>
          <p:cNvSpPr/>
          <p:nvPr/>
        </p:nvSpPr>
        <p:spPr>
          <a:xfrm>
            <a:off x="1162050" y="2000250"/>
            <a:ext cx="147947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Capacitor</a:t>
            </a:r>
            <a:endParaRPr lang="en-US" sz="1800" dirty="0"/>
          </a:p>
        </p:txBody>
      </p:sp>
      <p:sp>
        <p:nvSpPr>
          <p:cNvPr id="28" name="Text 3"/>
          <p:cNvSpPr/>
          <p:nvPr/>
        </p:nvSpPr>
        <p:spPr>
          <a:xfrm>
            <a:off x="933450" y="3390900"/>
            <a:ext cx="557641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Allows AC to pass, blocks DC ("AC through, DC block")</a:t>
            </a:r>
            <a:endParaRPr lang="en-US" sz="1350" dirty="0"/>
          </a:p>
        </p:txBody>
      </p:sp>
      <p:sp>
        <p:nvSpPr>
          <p:cNvPr id="29" name="Text 4"/>
          <p:cNvSpPr/>
          <p:nvPr/>
        </p:nvSpPr>
        <p:spPr>
          <a:xfrm>
            <a:off x="933450" y="3733800"/>
            <a:ext cx="381619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Stores and releases electrical energy</a:t>
            </a:r>
            <a:endParaRPr lang="en-US" sz="1350" dirty="0"/>
          </a:p>
        </p:txBody>
      </p:sp>
      <p:sp>
        <p:nvSpPr>
          <p:cNvPr id="30" name="Text 5"/>
          <p:cNvSpPr/>
          <p:nvPr/>
        </p:nvSpPr>
        <p:spPr>
          <a:xfrm>
            <a:off x="933450" y="4076700"/>
            <a:ext cx="307449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Used in power supply filtering</a:t>
            </a:r>
            <a:endParaRPr lang="en-US" sz="1350" dirty="0"/>
          </a:p>
        </p:txBody>
      </p:sp>
      <p:sp>
        <p:nvSpPr>
          <p:cNvPr id="31" name="Text 6"/>
          <p:cNvSpPr/>
          <p:nvPr/>
        </p:nvSpPr>
        <p:spPr>
          <a:xfrm>
            <a:off x="6838950" y="2000250"/>
            <a:ext cx="1306592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Inductor</a:t>
            </a:r>
            <a:endParaRPr lang="en-US" sz="1800" dirty="0"/>
          </a:p>
        </p:txBody>
      </p:sp>
      <p:sp>
        <p:nvSpPr>
          <p:cNvPr id="32" name="Text 7"/>
          <p:cNvSpPr/>
          <p:nvPr/>
        </p:nvSpPr>
        <p:spPr>
          <a:xfrm>
            <a:off x="6686550" y="3390900"/>
            <a:ext cx="476381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Blocks AC, allows DC ("DC through, AC block")</a:t>
            </a:r>
            <a:endParaRPr lang="en-US" sz="1350" dirty="0"/>
          </a:p>
        </p:txBody>
      </p:sp>
      <p:sp>
        <p:nvSpPr>
          <p:cNvPr id="33" name="Text 8"/>
          <p:cNvSpPr/>
          <p:nvPr/>
        </p:nvSpPr>
        <p:spPr>
          <a:xfrm>
            <a:off x="6686550" y="3733800"/>
            <a:ext cx="44627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Creates magnetic fields when current flows</a:t>
            </a:r>
            <a:endParaRPr lang="en-US" sz="1350" dirty="0"/>
          </a:p>
        </p:txBody>
      </p:sp>
      <p:sp>
        <p:nvSpPr>
          <p:cNvPr id="34" name="Text 9"/>
          <p:cNvSpPr/>
          <p:nvPr/>
        </p:nvSpPr>
        <p:spPr>
          <a:xfrm>
            <a:off x="6686550" y="4076700"/>
            <a:ext cx="39306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Used in signal processing and filtering</a:t>
            </a:r>
            <a:endParaRPr lang="en-US" sz="1350" dirty="0"/>
          </a:p>
        </p:txBody>
      </p:sp>
      <p:sp>
        <p:nvSpPr>
          <p:cNvPr id="35" name="Text 10"/>
          <p:cNvSpPr/>
          <p:nvPr/>
        </p:nvSpPr>
        <p:spPr>
          <a:xfrm>
            <a:off x="609600" y="5143500"/>
            <a:ext cx="10972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When Combined:</a:t>
            </a:r>
            <a:endParaRPr lang="en-US" sz="1500" dirty="0"/>
          </a:p>
        </p:txBody>
      </p:sp>
      <p:sp>
        <p:nvSpPr>
          <p:cNvPr id="36" name="Text 11"/>
          <p:cNvSpPr/>
          <p:nvPr/>
        </p:nvSpPr>
        <p:spPr>
          <a:xfrm>
            <a:off x="3752850" y="5772150"/>
            <a:ext cx="548283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Filters</a:t>
            </a:r>
            <a:endParaRPr lang="en-US" sz="1200" dirty="0"/>
          </a:p>
        </p:txBody>
      </p:sp>
      <p:sp>
        <p:nvSpPr>
          <p:cNvPr id="37" name="Text 12"/>
          <p:cNvSpPr/>
          <p:nvPr/>
        </p:nvSpPr>
        <p:spPr>
          <a:xfrm>
            <a:off x="4476452" y="5600700"/>
            <a:ext cx="7105948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When combined, capacitors and inductors create </a:t>
            </a:r>
            <a:r>
              <a:rPr lang="en-US" sz="1350" b="1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filter circuits</a:t>
            </a: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that remove unwanted noise and signals.</a:t>
            </a:r>
            <a:endParaRPr lang="en-US" sz="1350" dirty="0"/>
          </a:p>
        </p:txBody>
      </p:sp>
      <p:pic>
        <p:nvPicPr>
          <p:cNvPr id="1026" name="Picture 2" descr="Common Inductor Technologies Explained">
            <a:extLst>
              <a:ext uri="{FF2B5EF4-FFF2-40B4-BE49-F238E27FC236}">
                <a16:creationId xmlns:a16="http://schemas.microsoft.com/office/drawing/2014/main" id="{C7FE6B51-7A0E-CD38-97AA-9762B3026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9166" y="1976181"/>
            <a:ext cx="2531536" cy="1423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apacitor Photos, Download The BEST Free Capacitor Stock Photos &amp; HD Images">
            <a:extLst>
              <a:ext uri="{FF2B5EF4-FFF2-40B4-BE49-F238E27FC236}">
                <a16:creationId xmlns:a16="http://schemas.microsoft.com/office/drawing/2014/main" id="{81CF6957-B7EE-8710-1CE8-BC88D23E7F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7669" y="1973579"/>
            <a:ext cx="2527264" cy="1423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952500"/>
            <a:ext cx="190500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" y="952500"/>
            <a:ext cx="19050" cy="14287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" y="95250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0750" y="5410200"/>
            <a:ext cx="142875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20450" y="4476750"/>
            <a:ext cx="19050" cy="952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63300" y="535305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990600"/>
            <a:ext cx="914400" cy="38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1333500"/>
            <a:ext cx="4698950" cy="457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1562100"/>
            <a:ext cx="51435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99667" y="2724150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99667" y="3143250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3638550"/>
            <a:ext cx="4241750" cy="762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000" y="3886200"/>
            <a:ext cx="238125" cy="2667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79900" y="3886200"/>
            <a:ext cx="171450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43000" y="3933825"/>
            <a:ext cx="13335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37000" y="3905250"/>
            <a:ext cx="133350" cy="2286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35850" y="1333500"/>
            <a:ext cx="4698950" cy="4572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264450" y="1562100"/>
            <a:ext cx="400050" cy="4572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78317" y="2609850"/>
            <a:ext cx="1524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8317" y="2914650"/>
            <a:ext cx="1524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264450" y="3638550"/>
            <a:ext cx="4241750" cy="7620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40650" y="3886200"/>
            <a:ext cx="238125" cy="2667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58550" y="3886200"/>
            <a:ext cx="171450" cy="2667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721650" y="3905250"/>
            <a:ext cx="133350" cy="228600"/>
          </a:xfrm>
          <a:prstGeom prst="rect">
            <a:avLst/>
          </a:prstGeom>
        </p:spPr>
      </p:pic>
      <p:sp>
        <p:nvSpPr>
          <p:cNvPr id="33" name="Text 0"/>
          <p:cNvSpPr/>
          <p:nvPr/>
        </p:nvSpPr>
        <p:spPr>
          <a:xfrm>
            <a:off x="457200" y="457200"/>
            <a:ext cx="1353312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Capacitors &amp; Inductors: Opposite Functions</a:t>
            </a:r>
            <a:endParaRPr lang="en-US" sz="3600" dirty="0"/>
          </a:p>
        </p:txBody>
      </p:sp>
      <p:sp>
        <p:nvSpPr>
          <p:cNvPr id="34" name="Text 1"/>
          <p:cNvSpPr/>
          <p:nvPr/>
        </p:nvSpPr>
        <p:spPr>
          <a:xfrm>
            <a:off x="1352550" y="1628775"/>
            <a:ext cx="184933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Capacitor</a:t>
            </a:r>
            <a:endParaRPr lang="en-US" sz="2250" dirty="0"/>
          </a:p>
        </p:txBody>
      </p:sp>
      <p:sp>
        <p:nvSpPr>
          <p:cNvPr id="35" name="Text 2"/>
          <p:cNvSpPr/>
          <p:nvPr/>
        </p:nvSpPr>
        <p:spPr>
          <a:xfrm>
            <a:off x="1094661" y="3219450"/>
            <a:ext cx="59614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Symbol</a:t>
            </a:r>
            <a:endParaRPr lang="en-US" sz="1050" dirty="0"/>
          </a:p>
        </p:txBody>
      </p:sp>
      <p:sp>
        <p:nvSpPr>
          <p:cNvPr id="36" name="Text 3"/>
          <p:cNvSpPr/>
          <p:nvPr/>
        </p:nvSpPr>
        <p:spPr>
          <a:xfrm>
            <a:off x="2099667" y="2190750"/>
            <a:ext cx="339328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AC through, DC block</a:t>
            </a:r>
            <a:endParaRPr lang="en-US" sz="1350" dirty="0"/>
          </a:p>
        </p:txBody>
      </p:sp>
      <p:sp>
        <p:nvSpPr>
          <p:cNvPr id="37" name="Text 4"/>
          <p:cNvSpPr/>
          <p:nvPr/>
        </p:nvSpPr>
        <p:spPr>
          <a:xfrm>
            <a:off x="2328267" y="2676524"/>
            <a:ext cx="2599134" cy="3524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Allows alternating current (AC) to pass</a:t>
            </a:r>
            <a:endParaRPr lang="en-US" sz="1200" dirty="0"/>
          </a:p>
        </p:txBody>
      </p:sp>
      <p:sp>
        <p:nvSpPr>
          <p:cNvPr id="38" name="Text 5"/>
          <p:cNvSpPr/>
          <p:nvPr/>
        </p:nvSpPr>
        <p:spPr>
          <a:xfrm>
            <a:off x="2328267" y="3105150"/>
            <a:ext cx="235815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Blocks direct current (DC)</a:t>
            </a:r>
            <a:endParaRPr lang="en-US" sz="1200" dirty="0"/>
          </a:p>
        </p:txBody>
      </p:sp>
      <p:sp>
        <p:nvSpPr>
          <p:cNvPr id="39" name="Text 6"/>
          <p:cNvSpPr/>
          <p:nvPr/>
        </p:nvSpPr>
        <p:spPr>
          <a:xfrm>
            <a:off x="7816900" y="1628775"/>
            <a:ext cx="16332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Inductor</a:t>
            </a:r>
            <a:endParaRPr lang="en-US" sz="2250" dirty="0"/>
          </a:p>
        </p:txBody>
      </p:sp>
      <p:sp>
        <p:nvSpPr>
          <p:cNvPr id="40" name="Text 7"/>
          <p:cNvSpPr/>
          <p:nvPr/>
        </p:nvSpPr>
        <p:spPr>
          <a:xfrm>
            <a:off x="7673310" y="3219450"/>
            <a:ext cx="59614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Symbol</a:t>
            </a:r>
            <a:endParaRPr lang="en-US" sz="1050" dirty="0"/>
          </a:p>
        </p:txBody>
      </p:sp>
      <p:sp>
        <p:nvSpPr>
          <p:cNvPr id="41" name="Text 8"/>
          <p:cNvSpPr/>
          <p:nvPr/>
        </p:nvSpPr>
        <p:spPr>
          <a:xfrm>
            <a:off x="8678317" y="2190750"/>
            <a:ext cx="339328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DC through, AC block</a:t>
            </a:r>
            <a:endParaRPr lang="en-US" sz="1350" dirty="0"/>
          </a:p>
        </p:txBody>
      </p:sp>
      <p:sp>
        <p:nvSpPr>
          <p:cNvPr id="42" name="Text 9"/>
          <p:cNvSpPr/>
          <p:nvPr/>
        </p:nvSpPr>
        <p:spPr>
          <a:xfrm>
            <a:off x="8906917" y="2571750"/>
            <a:ext cx="307020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Allows direct current (DC) to pass</a:t>
            </a:r>
            <a:endParaRPr lang="en-US" sz="1200" dirty="0"/>
          </a:p>
        </p:txBody>
      </p:sp>
      <p:sp>
        <p:nvSpPr>
          <p:cNvPr id="43" name="Text 10"/>
          <p:cNvSpPr/>
          <p:nvPr/>
        </p:nvSpPr>
        <p:spPr>
          <a:xfrm>
            <a:off x="8906917" y="2876550"/>
            <a:ext cx="281785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Blocks alternating current (AC)</a:t>
            </a:r>
            <a:endParaRPr lang="en-US" sz="1200" dirty="0"/>
          </a:p>
        </p:txBody>
      </p:sp>
      <p:sp>
        <p:nvSpPr>
          <p:cNvPr id="44" name="Text 11"/>
          <p:cNvSpPr/>
          <p:nvPr/>
        </p:nvSpPr>
        <p:spPr>
          <a:xfrm>
            <a:off x="-670560" y="6134100"/>
            <a:ext cx="13533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These fundamental components are essential to electronic circuit design, enabling filters and signal processing.</a:t>
            </a:r>
            <a:endParaRPr lang="en-US" sz="1350" dirty="0"/>
          </a:p>
        </p:txBody>
      </p:sp>
      <p:pic>
        <p:nvPicPr>
          <p:cNvPr id="52" name="Image 30" descr="preencoded.png">
            <a:extLst>
              <a:ext uri="{FF2B5EF4-FFF2-40B4-BE49-F238E27FC236}">
                <a16:creationId xmlns:a16="http://schemas.microsoft.com/office/drawing/2014/main" id="{C38D8D61-185A-8003-2B21-2C2C7C97FF4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875746" y="3952875"/>
            <a:ext cx="133350" cy="152400"/>
          </a:xfrm>
          <a:prstGeom prst="rect">
            <a:avLst/>
          </a:prstGeom>
        </p:spPr>
      </p:pic>
      <p:pic>
        <p:nvPicPr>
          <p:cNvPr id="55" name="Image 15" descr="preencoded.png">
            <a:extLst>
              <a:ext uri="{FF2B5EF4-FFF2-40B4-BE49-F238E27FC236}">
                <a16:creationId xmlns:a16="http://schemas.microsoft.com/office/drawing/2014/main" id="{AA52650C-C650-1700-DA96-9870E9A08E3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18109" y="3933825"/>
            <a:ext cx="133350" cy="152400"/>
          </a:xfrm>
          <a:prstGeom prst="rect">
            <a:avLst/>
          </a:prstGeom>
        </p:spPr>
      </p:pic>
      <p:pic>
        <p:nvPicPr>
          <p:cNvPr id="57" name="Image 30" descr="preencoded.png">
            <a:extLst>
              <a:ext uri="{FF2B5EF4-FFF2-40B4-BE49-F238E27FC236}">
                <a16:creationId xmlns:a16="http://schemas.microsoft.com/office/drawing/2014/main" id="{1BDD3D05-9FDF-596D-ED8C-1696E40B354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402713" y="3933825"/>
            <a:ext cx="133350" cy="152400"/>
          </a:xfrm>
          <a:prstGeom prst="rect">
            <a:avLst/>
          </a:prstGeom>
        </p:spPr>
      </p:pic>
      <p:pic>
        <p:nvPicPr>
          <p:cNvPr id="59" name="图片 58">
            <a:extLst>
              <a:ext uri="{FF2B5EF4-FFF2-40B4-BE49-F238E27FC236}">
                <a16:creationId xmlns:a16="http://schemas.microsoft.com/office/drawing/2014/main" id="{A9F0BF93-C5DE-A66D-A718-F3C74E0A889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17099" y="3644935"/>
            <a:ext cx="1231901" cy="747079"/>
          </a:xfrm>
          <a:prstGeom prst="rect">
            <a:avLst/>
          </a:prstGeom>
        </p:spPr>
      </p:pic>
      <p:pic>
        <p:nvPicPr>
          <p:cNvPr id="61" name="图片 60">
            <a:extLst>
              <a:ext uri="{FF2B5EF4-FFF2-40B4-BE49-F238E27FC236}">
                <a16:creationId xmlns:a16="http://schemas.microsoft.com/office/drawing/2014/main" id="{B3E3E84B-CCE0-1518-A68F-90FBB97F0A6A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33682" y="3638550"/>
            <a:ext cx="1087995" cy="763624"/>
          </a:xfrm>
          <a:prstGeom prst="rect">
            <a:avLst/>
          </a:prstGeom>
        </p:spPr>
      </p:pic>
      <p:pic>
        <p:nvPicPr>
          <p:cNvPr id="64" name="图片 63">
            <a:extLst>
              <a:ext uri="{FF2B5EF4-FFF2-40B4-BE49-F238E27FC236}">
                <a16:creationId xmlns:a16="http://schemas.microsoft.com/office/drawing/2014/main" id="{4A4A29AA-5EDA-3645-DDD6-609524B62B91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512437" y="3631565"/>
            <a:ext cx="1087995" cy="763624"/>
          </a:xfrm>
          <a:prstGeom prst="rect">
            <a:avLst/>
          </a:prstGeom>
        </p:spPr>
      </p:pic>
      <p:pic>
        <p:nvPicPr>
          <p:cNvPr id="65" name="图片 64">
            <a:extLst>
              <a:ext uri="{FF2B5EF4-FFF2-40B4-BE49-F238E27FC236}">
                <a16:creationId xmlns:a16="http://schemas.microsoft.com/office/drawing/2014/main" id="{CEC9904C-2FF3-4B49-03CE-862D1DC23BC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290132" y="3644935"/>
            <a:ext cx="1087995" cy="763624"/>
          </a:xfrm>
          <a:prstGeom prst="rect">
            <a:avLst/>
          </a:prstGeom>
        </p:spPr>
      </p:pic>
      <p:pic>
        <p:nvPicPr>
          <p:cNvPr id="72" name="Image 19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19307" y="2190750"/>
            <a:ext cx="571500" cy="76200"/>
          </a:xfrm>
          <a:prstGeom prst="rect">
            <a:avLst/>
          </a:prstGeom>
        </p:spPr>
      </p:pic>
      <p:pic>
        <p:nvPicPr>
          <p:cNvPr id="73" name="Image 20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19307" y="2409825"/>
            <a:ext cx="571500" cy="76200"/>
          </a:xfrm>
          <a:prstGeom prst="rect">
            <a:avLst/>
          </a:prstGeom>
        </p:spPr>
      </p:pic>
      <p:pic>
        <p:nvPicPr>
          <p:cNvPr id="74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19307" y="2628900"/>
            <a:ext cx="571500" cy="76200"/>
          </a:xfrm>
          <a:prstGeom prst="rect">
            <a:avLst/>
          </a:prstGeom>
        </p:spPr>
      </p:pic>
      <p:pic>
        <p:nvPicPr>
          <p:cNvPr id="75" name="Image 22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19307" y="2847975"/>
            <a:ext cx="571500" cy="76200"/>
          </a:xfrm>
          <a:prstGeom prst="rect">
            <a:avLst/>
          </a:prstGeom>
        </p:spPr>
      </p:pic>
      <p:pic>
        <p:nvPicPr>
          <p:cNvPr id="76" name="Image 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19307" y="3067050"/>
            <a:ext cx="571500" cy="76200"/>
          </a:xfrm>
          <a:prstGeom prst="rect">
            <a:avLst/>
          </a:prstGeom>
        </p:spPr>
      </p:pic>
      <p:pic>
        <p:nvPicPr>
          <p:cNvPr id="77" name="Image 23" descr="preencoded.png">
            <a:extLst>
              <a:ext uri="{FF2B5EF4-FFF2-40B4-BE49-F238E27FC236}">
                <a16:creationId xmlns:a16="http://schemas.microsoft.com/office/drawing/2014/main" id="{D4223C64-590C-8045-D258-63E18777FC8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664857" y="3067050"/>
            <a:ext cx="571500" cy="76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952500"/>
            <a:ext cx="190500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" y="952500"/>
            <a:ext cx="19050" cy="14287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" y="95250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0750" y="5410200"/>
            <a:ext cx="142875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20450" y="4476750"/>
            <a:ext cx="19050" cy="952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63300" y="535305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914400"/>
            <a:ext cx="914400" cy="38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19812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236220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2743200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238500"/>
            <a:ext cx="5334000" cy="11811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0" y="457200"/>
            <a:ext cx="5334000" cy="31242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29400" y="3162300"/>
            <a:ext cx="1143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334750" y="3162300"/>
            <a:ext cx="17145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00800" y="3810000"/>
            <a:ext cx="5334000" cy="17907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457200" y="457200"/>
            <a:ext cx="1353312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Real-Life Example: Power Supplies</a:t>
            </a:r>
            <a:endParaRPr lang="en-US" sz="2700" dirty="0"/>
          </a:p>
        </p:txBody>
      </p:sp>
      <p:sp>
        <p:nvSpPr>
          <p:cNvPr id="21" name="Text 1"/>
          <p:cNvSpPr/>
          <p:nvPr/>
        </p:nvSpPr>
        <p:spPr>
          <a:xfrm>
            <a:off x="457200" y="1181100"/>
            <a:ext cx="53340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RC low-pass filters are widely used in DC-DC power supplies to:</a:t>
            </a:r>
            <a:endParaRPr lang="en-US" sz="1500" dirty="0"/>
          </a:p>
        </p:txBody>
      </p:sp>
      <p:sp>
        <p:nvSpPr>
          <p:cNvPr id="22" name="Text 2"/>
          <p:cNvSpPr/>
          <p:nvPr/>
        </p:nvSpPr>
        <p:spPr>
          <a:xfrm>
            <a:off x="723900" y="1943100"/>
            <a:ext cx="353008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Smooth the voltage output from ripple</a:t>
            </a:r>
            <a:endParaRPr lang="en-US" sz="1200" dirty="0"/>
          </a:p>
        </p:txBody>
      </p:sp>
      <p:sp>
        <p:nvSpPr>
          <p:cNvPr id="23" name="Text 3"/>
          <p:cNvSpPr/>
          <p:nvPr/>
        </p:nvSpPr>
        <p:spPr>
          <a:xfrm>
            <a:off x="723900" y="2324100"/>
            <a:ext cx="266104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Reduce high-frequency noise</a:t>
            </a:r>
            <a:endParaRPr lang="en-US" sz="1200" dirty="0"/>
          </a:p>
        </p:txBody>
      </p:sp>
      <p:sp>
        <p:nvSpPr>
          <p:cNvPr id="24" name="Text 4"/>
          <p:cNvSpPr/>
          <p:nvPr/>
        </p:nvSpPr>
        <p:spPr>
          <a:xfrm>
            <a:off x="723900" y="2705100"/>
            <a:ext cx="282160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Improve power supply stability</a:t>
            </a:r>
            <a:endParaRPr lang="en-US" sz="1200" dirty="0"/>
          </a:p>
        </p:txBody>
      </p:sp>
      <p:sp>
        <p:nvSpPr>
          <p:cNvPr id="25" name="Text 5"/>
          <p:cNvSpPr/>
          <p:nvPr/>
        </p:nvSpPr>
        <p:spPr>
          <a:xfrm>
            <a:off x="647700" y="3429000"/>
            <a:ext cx="4953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Everyday Application</a:t>
            </a:r>
            <a:endParaRPr lang="en-US" sz="1500" dirty="0"/>
          </a:p>
        </p:txBody>
      </p:sp>
      <p:sp>
        <p:nvSpPr>
          <p:cNvPr id="26" name="Text 6"/>
          <p:cNvSpPr/>
          <p:nvPr/>
        </p:nvSpPr>
        <p:spPr>
          <a:xfrm>
            <a:off x="647700" y="3771900"/>
            <a:ext cx="4953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Even your phone charger uses this principle! It contains an RC filter to provide clean, stable power to your device.</a:t>
            </a:r>
            <a:endParaRPr lang="en-US" sz="1200" dirty="0"/>
          </a:p>
        </p:txBody>
      </p:sp>
      <p:sp>
        <p:nvSpPr>
          <p:cNvPr id="27" name="Text 7"/>
          <p:cNvSpPr/>
          <p:nvPr/>
        </p:nvSpPr>
        <p:spPr>
          <a:xfrm>
            <a:off x="6141720" y="571500"/>
            <a:ext cx="58521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RC Low-Pass Filter Circuit</a:t>
            </a:r>
            <a:endParaRPr lang="en-US" sz="1500" dirty="0"/>
          </a:p>
        </p:txBody>
      </p:sp>
      <p:sp>
        <p:nvSpPr>
          <p:cNvPr id="28" name="Text 8"/>
          <p:cNvSpPr/>
          <p:nvPr/>
        </p:nvSpPr>
        <p:spPr>
          <a:xfrm>
            <a:off x="6819900" y="3124200"/>
            <a:ext cx="4736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Input</a:t>
            </a:r>
            <a:endParaRPr lang="en-US" sz="1200" dirty="0"/>
          </a:p>
        </p:txBody>
      </p:sp>
      <p:sp>
        <p:nvSpPr>
          <p:cNvPr id="29" name="Text 9"/>
          <p:cNvSpPr/>
          <p:nvPr/>
        </p:nvSpPr>
        <p:spPr>
          <a:xfrm>
            <a:off x="10729168" y="3124200"/>
            <a:ext cx="63525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Output</a:t>
            </a:r>
            <a:endParaRPr lang="en-US" sz="1200" dirty="0"/>
          </a:p>
        </p:txBody>
      </p:sp>
      <p:sp>
        <p:nvSpPr>
          <p:cNvPr id="30" name="Text 10"/>
          <p:cNvSpPr/>
          <p:nvPr/>
        </p:nvSpPr>
        <p:spPr>
          <a:xfrm>
            <a:off x="6591300" y="4000500"/>
            <a:ext cx="4953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How It Works</a:t>
            </a:r>
            <a:endParaRPr lang="en-US" sz="1350" dirty="0"/>
          </a:p>
        </p:txBody>
      </p:sp>
      <p:sp>
        <p:nvSpPr>
          <p:cNvPr id="31" name="Text 11"/>
          <p:cNvSpPr/>
          <p:nvPr/>
        </p:nvSpPr>
        <p:spPr>
          <a:xfrm>
            <a:off x="6591300" y="4381500"/>
            <a:ext cx="4953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capacitor charges and discharges to smooth voltage fluctuations.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591300" y="4953000"/>
            <a:ext cx="4953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inductor resists changes in current, filtering out high-frequency noise.</a:t>
            </a:r>
            <a:endParaRPr lang="en-US" sz="1200" dirty="0"/>
          </a:p>
        </p:txBody>
      </p:sp>
      <p:sp>
        <p:nvSpPr>
          <p:cNvPr id="33" name="Text 13"/>
          <p:cNvSpPr/>
          <p:nvPr/>
        </p:nvSpPr>
        <p:spPr>
          <a:xfrm>
            <a:off x="11655177" y="6515100"/>
            <a:ext cx="46130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19/23</a:t>
            </a:r>
            <a:endParaRPr lang="en-US" sz="1050" dirty="0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F386C382-BE9E-8D59-FE12-7D5881B87E7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15200" y="838200"/>
            <a:ext cx="3309411" cy="257094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5057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1428750"/>
            <a:ext cx="19050" cy="1905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3333750"/>
            <a:ext cx="1428750" cy="190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142875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8250" y="6343650"/>
            <a:ext cx="142875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67950" y="5410200"/>
            <a:ext cx="19050" cy="952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0800" y="62865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990600"/>
            <a:ext cx="1219200" cy="38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1828800"/>
            <a:ext cx="3606701" cy="2209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20574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2013" y="2171700"/>
            <a:ext cx="219075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92501" y="1828800"/>
            <a:ext cx="3606850" cy="2209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21101" y="2057400"/>
            <a:ext cx="571500" cy="571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25876" y="2171700"/>
            <a:ext cx="361950" cy="3429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27950" y="1828800"/>
            <a:ext cx="3606701" cy="2209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56550" y="2057400"/>
            <a:ext cx="571500" cy="5715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80375" y="2171700"/>
            <a:ext cx="323850" cy="3429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267200"/>
            <a:ext cx="3606701" cy="22098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85800" y="4495800"/>
            <a:ext cx="571500" cy="5715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675" y="4610100"/>
            <a:ext cx="285750" cy="3429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92501" y="4267200"/>
            <a:ext cx="3606850" cy="2209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1101" y="4495800"/>
            <a:ext cx="571500" cy="5715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644926" y="4610100"/>
            <a:ext cx="323850" cy="3429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27950" y="4267200"/>
            <a:ext cx="3606701" cy="22098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56550" y="4495800"/>
            <a:ext cx="571500" cy="5715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499425" y="4610100"/>
            <a:ext cx="285750" cy="3429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457200" y="457200"/>
            <a:ext cx="11277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Conclusion: Everyday Electronics</a:t>
            </a:r>
            <a:endParaRPr lang="en-US" sz="3600" dirty="0"/>
          </a:p>
        </p:txBody>
      </p:sp>
      <p:sp>
        <p:nvSpPr>
          <p:cNvPr id="29" name="Text 1"/>
          <p:cNvSpPr/>
          <p:nvPr/>
        </p:nvSpPr>
        <p:spPr>
          <a:xfrm>
            <a:off x="457200" y="1257300"/>
            <a:ext cx="13533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engineering principles are </a:t>
            </a: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all around us</a:t>
            </a: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making modern conveniences possible in our daily lives.</a:t>
            </a:r>
            <a:endParaRPr lang="en-US" sz="1500" dirty="0"/>
          </a:p>
        </p:txBody>
      </p:sp>
      <p:sp>
        <p:nvSpPr>
          <p:cNvPr id="30" name="Text 2"/>
          <p:cNvSpPr/>
          <p:nvPr/>
        </p:nvSpPr>
        <p:spPr>
          <a:xfrm>
            <a:off x="685800" y="2781300"/>
            <a:ext cx="37794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Phone Chargers</a:t>
            </a:r>
            <a:endParaRPr lang="en-US" sz="1500" dirty="0"/>
          </a:p>
        </p:txBody>
      </p:sp>
      <p:sp>
        <p:nvSpPr>
          <p:cNvPr id="31" name="Text 3"/>
          <p:cNvSpPr/>
          <p:nvPr/>
        </p:nvSpPr>
        <p:spPr>
          <a:xfrm>
            <a:off x="685800" y="3124200"/>
            <a:ext cx="3149501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Uses RC low-pass filters to smooth voltage output and reduce high-frequency noise, ensuring safe charging.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4521101" y="2781300"/>
            <a:ext cx="31496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Wi-Fi Routers</a:t>
            </a:r>
            <a:endParaRPr lang="en-US" sz="1500" dirty="0"/>
          </a:p>
        </p:txBody>
      </p:sp>
      <p:sp>
        <p:nvSpPr>
          <p:cNvPr id="33" name="Text 5"/>
          <p:cNvSpPr/>
          <p:nvPr/>
        </p:nvSpPr>
        <p:spPr>
          <a:xfrm>
            <a:off x="4521101" y="3124200"/>
            <a:ext cx="31496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Employs signal transmission and modulation principles to wirelessly connect devices throughout your home.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8356550" y="2781300"/>
            <a:ext cx="37794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Smart Home Devices</a:t>
            </a:r>
            <a:endParaRPr lang="en-US" sz="1500" dirty="0"/>
          </a:p>
        </p:txBody>
      </p:sp>
      <p:sp>
        <p:nvSpPr>
          <p:cNvPr id="35" name="Text 7"/>
          <p:cNvSpPr/>
          <p:nvPr/>
        </p:nvSpPr>
        <p:spPr>
          <a:xfrm>
            <a:off x="8356550" y="3124200"/>
            <a:ext cx="3149501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Integrates sensors and microcontrollers to process environmental data and automate home functions.</a:t>
            </a:r>
            <a:endParaRPr lang="en-US" sz="1200" dirty="0"/>
          </a:p>
        </p:txBody>
      </p:sp>
      <p:sp>
        <p:nvSpPr>
          <p:cNvPr id="36" name="Text 8"/>
          <p:cNvSpPr/>
          <p:nvPr/>
        </p:nvSpPr>
        <p:spPr>
          <a:xfrm>
            <a:off x="685800" y="5219700"/>
            <a:ext cx="37794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Electric Vehicles</a:t>
            </a:r>
            <a:endParaRPr lang="en-US" sz="1500" dirty="0"/>
          </a:p>
        </p:txBody>
      </p:sp>
      <p:sp>
        <p:nvSpPr>
          <p:cNvPr id="37" name="Text 9"/>
          <p:cNvSpPr/>
          <p:nvPr/>
        </p:nvSpPr>
        <p:spPr>
          <a:xfrm>
            <a:off x="685800" y="5562600"/>
            <a:ext cx="3149501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Relies on power electronics and battery management systems to optimize energy consumption and performance.</a:t>
            </a:r>
            <a:endParaRPr lang="en-US" sz="1200" dirty="0"/>
          </a:p>
        </p:txBody>
      </p:sp>
      <p:sp>
        <p:nvSpPr>
          <p:cNvPr id="38" name="Text 10"/>
          <p:cNvSpPr/>
          <p:nvPr/>
        </p:nvSpPr>
        <p:spPr>
          <a:xfrm>
            <a:off x="4521101" y="5219700"/>
            <a:ext cx="37795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Medical Devices</a:t>
            </a:r>
            <a:endParaRPr lang="en-US" sz="1500" dirty="0"/>
          </a:p>
        </p:txBody>
      </p:sp>
      <p:sp>
        <p:nvSpPr>
          <p:cNvPr id="39" name="Text 11"/>
          <p:cNvSpPr/>
          <p:nvPr/>
        </p:nvSpPr>
        <p:spPr>
          <a:xfrm>
            <a:off x="4521101" y="5562600"/>
            <a:ext cx="31496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Applies biosignal processing to monitor and analyze vital functions for patient care.</a:t>
            </a:r>
            <a:endParaRPr lang="en-US" sz="1200" dirty="0"/>
          </a:p>
        </p:txBody>
      </p:sp>
      <p:sp>
        <p:nvSpPr>
          <p:cNvPr id="40" name="Text 12"/>
          <p:cNvSpPr/>
          <p:nvPr/>
        </p:nvSpPr>
        <p:spPr>
          <a:xfrm>
            <a:off x="8356550" y="5219700"/>
            <a:ext cx="37794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Audio Equipment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8356550" y="5562600"/>
            <a:ext cx="3149501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Utilizes signal processing to amplify, filter, and reproduce sound with high fidelity.</a:t>
            </a:r>
            <a:endParaRPr lang="en-US" sz="1200" dirty="0"/>
          </a:p>
        </p:txBody>
      </p:sp>
      <p:sp>
        <p:nvSpPr>
          <p:cNvPr id="42" name="Text 14"/>
          <p:cNvSpPr/>
          <p:nvPr/>
        </p:nvSpPr>
        <p:spPr>
          <a:xfrm>
            <a:off x="-670560" y="6781800"/>
            <a:ext cx="13533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engineering is </a:t>
            </a:r>
            <a:r>
              <a:rPr lang="en-US" sz="1500" b="1" i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not just academic</a:t>
            </a:r>
            <a:r>
              <a:rPr lang="en-US" sz="1500" i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— it's the foundation of our connected, electronic daily lives.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1428750"/>
            <a:ext cx="190500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1428750"/>
            <a:ext cx="19050" cy="14287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142875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0" y="4933950"/>
            <a:ext cx="142875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4000500"/>
            <a:ext cx="19050" cy="952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7050" y="48768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990600"/>
            <a:ext cx="914400" cy="38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2171700"/>
            <a:ext cx="4698950" cy="16383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" y="2400300"/>
            <a:ext cx="228600" cy="228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700" y="2819400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700" y="3124200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700" y="3429000"/>
            <a:ext cx="762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6150" y="2511475"/>
            <a:ext cx="939701" cy="958751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35850" y="2171700"/>
            <a:ext cx="4698950" cy="16383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26350" y="2400300"/>
            <a:ext cx="285750" cy="228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26350" y="2819400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26350" y="3124200"/>
            <a:ext cx="762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26350" y="3429000"/>
            <a:ext cx="762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7200" y="4114800"/>
            <a:ext cx="3606701" cy="11430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9600" y="4267200"/>
            <a:ext cx="257175" cy="304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92501" y="4114800"/>
            <a:ext cx="3606850" cy="11430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444901" y="4267200"/>
            <a:ext cx="228600" cy="304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127950" y="4114800"/>
            <a:ext cx="3606701" cy="11430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280350" y="4267200"/>
            <a:ext cx="228600" cy="304800"/>
          </a:xfrm>
          <a:prstGeom prst="rect">
            <a:avLst/>
          </a:prstGeom>
        </p:spPr>
      </p:pic>
      <p:sp>
        <p:nvSpPr>
          <p:cNvPr id="27" name="Text 0"/>
          <p:cNvSpPr/>
          <p:nvPr/>
        </p:nvSpPr>
        <p:spPr>
          <a:xfrm>
            <a:off x="457200" y="457200"/>
            <a:ext cx="11277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600"/>
              </a:lnSpc>
            </a:pPr>
            <a:r>
              <a:rPr lang="en-US" altLang="zh-CN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Conclusion: </a:t>
            </a: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Theory Meets Reality</a:t>
            </a:r>
            <a:endParaRPr lang="en-US" sz="3600" dirty="0"/>
          </a:p>
        </p:txBody>
      </p:sp>
      <p:sp>
        <p:nvSpPr>
          <p:cNvPr id="28" name="Text 1"/>
          <p:cNvSpPr/>
          <p:nvPr/>
        </p:nvSpPr>
        <p:spPr>
          <a:xfrm>
            <a:off x="457200" y="1333500"/>
            <a:ext cx="112776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engineering bridges the gap between theoretical principles and practical applications, creating innovations that shape our world.</a:t>
            </a:r>
            <a:endParaRPr lang="en-US" sz="1500" dirty="0"/>
          </a:p>
        </p:txBody>
      </p:sp>
      <p:sp>
        <p:nvSpPr>
          <p:cNvPr id="29" name="Text 2"/>
          <p:cNvSpPr/>
          <p:nvPr/>
        </p:nvSpPr>
        <p:spPr>
          <a:xfrm>
            <a:off x="990600" y="2362200"/>
            <a:ext cx="51815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Theoretical Foundations</a:t>
            </a:r>
            <a:endParaRPr lang="en-US" sz="1800" dirty="0"/>
          </a:p>
        </p:txBody>
      </p:sp>
      <p:sp>
        <p:nvSpPr>
          <p:cNvPr id="30" name="Text 3"/>
          <p:cNvSpPr/>
          <p:nvPr/>
        </p:nvSpPr>
        <p:spPr>
          <a:xfrm>
            <a:off x="800100" y="2781300"/>
            <a:ext cx="228707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Capacitors and inductors</a:t>
            </a:r>
            <a:endParaRPr lang="en-US" sz="1200" dirty="0"/>
          </a:p>
        </p:txBody>
      </p:sp>
      <p:sp>
        <p:nvSpPr>
          <p:cNvPr id="31" name="Text 4"/>
          <p:cNvSpPr/>
          <p:nvPr/>
        </p:nvSpPr>
        <p:spPr>
          <a:xfrm>
            <a:off x="800100" y="3086100"/>
            <a:ext cx="273034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Signal transmission principles</a:t>
            </a:r>
            <a:endParaRPr lang="en-US" sz="1200" dirty="0"/>
          </a:p>
        </p:txBody>
      </p:sp>
      <p:sp>
        <p:nvSpPr>
          <p:cNvPr id="32" name="Text 5"/>
          <p:cNvSpPr/>
          <p:nvPr/>
        </p:nvSpPr>
        <p:spPr>
          <a:xfrm>
            <a:off x="800100" y="3390900"/>
            <a:ext cx="16152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Filter applications</a:t>
            </a:r>
            <a:endParaRPr lang="en-US" sz="1200" dirty="0"/>
          </a:p>
        </p:txBody>
      </p:sp>
      <p:sp>
        <p:nvSpPr>
          <p:cNvPr id="33" name="Text 6"/>
          <p:cNvSpPr/>
          <p:nvPr/>
        </p:nvSpPr>
        <p:spPr>
          <a:xfrm>
            <a:off x="7626400" y="2362200"/>
            <a:ext cx="51815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B923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Practical Applications</a:t>
            </a:r>
            <a:endParaRPr lang="en-US" sz="1800" dirty="0"/>
          </a:p>
        </p:txBody>
      </p:sp>
      <p:sp>
        <p:nvSpPr>
          <p:cNvPr id="34" name="Text 7"/>
          <p:cNvSpPr/>
          <p:nvPr/>
        </p:nvSpPr>
        <p:spPr>
          <a:xfrm>
            <a:off x="7378750" y="2781300"/>
            <a:ext cx="225599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Communication systems</a:t>
            </a:r>
            <a:endParaRPr lang="en-US" sz="1200" dirty="0"/>
          </a:p>
        </p:txBody>
      </p:sp>
      <p:sp>
        <p:nvSpPr>
          <p:cNvPr id="35" name="Text 8"/>
          <p:cNvSpPr/>
          <p:nvPr/>
        </p:nvSpPr>
        <p:spPr>
          <a:xfrm>
            <a:off x="7378750" y="3086100"/>
            <a:ext cx="212740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Advanced technologies</a:t>
            </a:r>
            <a:endParaRPr lang="en-US" sz="1200" dirty="0"/>
          </a:p>
        </p:txBody>
      </p:sp>
      <p:sp>
        <p:nvSpPr>
          <p:cNvPr id="36" name="Text 9"/>
          <p:cNvSpPr/>
          <p:nvPr/>
        </p:nvSpPr>
        <p:spPr>
          <a:xfrm>
            <a:off x="7378750" y="3390900"/>
            <a:ext cx="190791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Everyday electronics</a:t>
            </a:r>
            <a:endParaRPr lang="en-US" sz="1200" dirty="0"/>
          </a:p>
        </p:txBody>
      </p:sp>
      <p:sp>
        <p:nvSpPr>
          <p:cNvPr id="37" name="Text 10"/>
          <p:cNvSpPr/>
          <p:nvPr/>
        </p:nvSpPr>
        <p:spPr>
          <a:xfrm>
            <a:off x="981075" y="4286250"/>
            <a:ext cx="200239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Communication</a:t>
            </a:r>
            <a:endParaRPr lang="en-US" sz="1500" dirty="0"/>
          </a:p>
        </p:txBody>
      </p:sp>
      <p:sp>
        <p:nvSpPr>
          <p:cNvPr id="38" name="Text 11"/>
          <p:cNvSpPr/>
          <p:nvPr/>
        </p:nvSpPr>
        <p:spPr>
          <a:xfrm>
            <a:off x="609600" y="4648200"/>
            <a:ext cx="3301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From Wi-Fi to satellites, electronic engineering enables global connectivity.</a:t>
            </a:r>
            <a:endParaRPr lang="en-US" sz="1200" dirty="0"/>
          </a:p>
        </p:txBody>
      </p:sp>
      <p:sp>
        <p:nvSpPr>
          <p:cNvPr id="39" name="Text 12"/>
          <p:cNvSpPr/>
          <p:nvPr/>
        </p:nvSpPr>
        <p:spPr>
          <a:xfrm>
            <a:off x="4787801" y="4286250"/>
            <a:ext cx="150590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Automation</a:t>
            </a:r>
            <a:endParaRPr lang="en-US" sz="1500" dirty="0"/>
          </a:p>
        </p:txBody>
      </p:sp>
      <p:sp>
        <p:nvSpPr>
          <p:cNvPr id="40" name="Text 13"/>
          <p:cNvSpPr/>
          <p:nvPr/>
        </p:nvSpPr>
        <p:spPr>
          <a:xfrm>
            <a:off x="4444901" y="4648200"/>
            <a:ext cx="33020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Self-driving cars and industrial systems rely on electronic engineering principles.</a:t>
            </a:r>
            <a:endParaRPr lang="en-US" sz="1200" dirty="0"/>
          </a:p>
        </p:txBody>
      </p:sp>
      <p:sp>
        <p:nvSpPr>
          <p:cNvPr id="41" name="Text 14"/>
          <p:cNvSpPr/>
          <p:nvPr/>
        </p:nvSpPr>
        <p:spPr>
          <a:xfrm>
            <a:off x="8623250" y="4286250"/>
            <a:ext cx="26199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</a:t>
            </a:r>
            <a:endParaRPr lang="en-US" sz="1500" dirty="0"/>
          </a:p>
        </p:txBody>
      </p:sp>
      <p:sp>
        <p:nvSpPr>
          <p:cNvPr id="42" name="Text 15"/>
          <p:cNvSpPr/>
          <p:nvPr/>
        </p:nvSpPr>
        <p:spPr>
          <a:xfrm>
            <a:off x="8280350" y="4648200"/>
            <a:ext cx="3301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Powerful hardware infrastructure supports cutting-edge artificial intelligence.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1428750"/>
            <a:ext cx="190500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1428750"/>
            <a:ext cx="19050" cy="14287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142875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8750" y="5695950"/>
            <a:ext cx="171450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4572000"/>
            <a:ext cx="19050" cy="1143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7050" y="56388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990600"/>
            <a:ext cx="1219200" cy="38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2171700"/>
            <a:ext cx="5524500" cy="11811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" y="2362200"/>
            <a:ext cx="390525" cy="342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0300" y="2171700"/>
            <a:ext cx="5524500" cy="11811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0" y="2362200"/>
            <a:ext cx="428625" cy="3429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3581400"/>
            <a:ext cx="5524500" cy="14097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700" y="3771900"/>
            <a:ext cx="342900" cy="3429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10300" y="3581400"/>
            <a:ext cx="5524500" cy="1409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00800" y="3771900"/>
            <a:ext cx="428625" cy="342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" y="5562600"/>
            <a:ext cx="11277600" cy="83820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457200" y="457200"/>
            <a:ext cx="11277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Invisible Power</a:t>
            </a:r>
            <a:endParaRPr lang="en-US" sz="3600" dirty="0"/>
          </a:p>
        </p:txBody>
      </p:sp>
      <p:sp>
        <p:nvSpPr>
          <p:cNvPr id="20" name="Text 1"/>
          <p:cNvSpPr/>
          <p:nvPr/>
        </p:nvSpPr>
        <p:spPr>
          <a:xfrm>
            <a:off x="457200" y="1333500"/>
            <a:ext cx="112776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engineering is the invisible power behind the modern world. It connects </a:t>
            </a: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theory and reality</a:t>
            </a: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making innovation possible across countless fields.</a:t>
            </a:r>
            <a:endParaRPr lang="en-US" sz="1500" dirty="0"/>
          </a:p>
        </p:txBody>
      </p:sp>
      <p:sp>
        <p:nvSpPr>
          <p:cNvPr id="21" name="Text 2"/>
          <p:cNvSpPr/>
          <p:nvPr/>
        </p:nvSpPr>
        <p:spPr>
          <a:xfrm>
            <a:off x="1190625" y="2362200"/>
            <a:ext cx="46005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Communication</a:t>
            </a:r>
            <a:endParaRPr lang="en-US" sz="1500" dirty="0"/>
          </a:p>
        </p:txBody>
      </p:sp>
      <p:sp>
        <p:nvSpPr>
          <p:cNvPr id="22" name="Text 3"/>
          <p:cNvSpPr/>
          <p:nvPr/>
        </p:nvSpPr>
        <p:spPr>
          <a:xfrm>
            <a:off x="1190625" y="2705100"/>
            <a:ext cx="460057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From Wi-Fi and 5G to satellites and GPS, electronic engineering enables the world's communication networks.</a:t>
            </a:r>
            <a:endParaRPr lang="en-US" sz="1200" dirty="0"/>
          </a:p>
        </p:txBody>
      </p:sp>
      <p:sp>
        <p:nvSpPr>
          <p:cNvPr id="23" name="Text 4"/>
          <p:cNvSpPr/>
          <p:nvPr/>
        </p:nvSpPr>
        <p:spPr>
          <a:xfrm>
            <a:off x="6981825" y="2362200"/>
            <a:ext cx="45624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Automation</a:t>
            </a:r>
            <a:endParaRPr lang="en-US" sz="1500" dirty="0"/>
          </a:p>
        </p:txBody>
      </p:sp>
      <p:sp>
        <p:nvSpPr>
          <p:cNvPr id="24" name="Text 5"/>
          <p:cNvSpPr/>
          <p:nvPr/>
        </p:nvSpPr>
        <p:spPr>
          <a:xfrm>
            <a:off x="6981825" y="2705100"/>
            <a:ext cx="456247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Smart systems, industrial robots, and home automation all rely on electronic engineering for intelligence and control.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1143000" y="3771900"/>
            <a:ext cx="55778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Artificial Intelligence</a:t>
            </a:r>
            <a:endParaRPr lang="en-US" sz="1500" dirty="0"/>
          </a:p>
        </p:txBody>
      </p:sp>
      <p:sp>
        <p:nvSpPr>
          <p:cNvPr id="26" name="Text 7"/>
          <p:cNvSpPr/>
          <p:nvPr/>
        </p:nvSpPr>
        <p:spPr>
          <a:xfrm>
            <a:off x="1143000" y="4114800"/>
            <a:ext cx="46482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Powerful chips and specialized hardware designed by electronic engineers run AI systems from chatbots to image generators.</a:t>
            </a:r>
            <a:endParaRPr lang="en-US" sz="1200" dirty="0"/>
          </a:p>
        </p:txBody>
      </p:sp>
      <p:sp>
        <p:nvSpPr>
          <p:cNvPr id="27" name="Text 8"/>
          <p:cNvSpPr/>
          <p:nvPr/>
        </p:nvSpPr>
        <p:spPr>
          <a:xfrm>
            <a:off x="6981825" y="3771900"/>
            <a:ext cx="45624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Renewable Energy</a:t>
            </a:r>
            <a:endParaRPr lang="en-US" sz="1500" dirty="0"/>
          </a:p>
        </p:txBody>
      </p:sp>
      <p:sp>
        <p:nvSpPr>
          <p:cNvPr id="28" name="Text 9"/>
          <p:cNvSpPr/>
          <p:nvPr/>
        </p:nvSpPr>
        <p:spPr>
          <a:xfrm>
            <a:off x="6981825" y="4114800"/>
            <a:ext cx="4562475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systems control solar panels, wind turbines, and energy storage, enabling efficient renewable power generation.</a:t>
            </a:r>
            <a:endParaRPr lang="en-US" sz="1200" dirty="0"/>
          </a:p>
        </p:txBody>
      </p:sp>
      <p:sp>
        <p:nvSpPr>
          <p:cNvPr id="29" name="Text 10"/>
          <p:cNvSpPr/>
          <p:nvPr/>
        </p:nvSpPr>
        <p:spPr>
          <a:xfrm>
            <a:off x="609600" y="5715000"/>
            <a:ext cx="109728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i="1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engineering</a:t>
            </a:r>
            <a:r>
              <a:rPr lang="en-US" sz="1500" i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is quietly making it all possible — from your smartphone to self-driving cars, from weather forecasting to space exploration.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750" y="476250"/>
            <a:ext cx="1905000" cy="190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8750" y="476250"/>
            <a:ext cx="19050" cy="952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8750" y="476250"/>
            <a:ext cx="76200" cy="76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8250" y="5886450"/>
            <a:ext cx="142875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67950" y="5143500"/>
            <a:ext cx="19050" cy="762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0800" y="5829300"/>
            <a:ext cx="76200" cy="76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20450" y="1905000"/>
            <a:ext cx="19050" cy="14287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63300" y="1905000"/>
            <a:ext cx="76200" cy="762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67448" y="2914650"/>
            <a:ext cx="3429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33851" y="2914650"/>
            <a:ext cx="457200" cy="4572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60493" y="2914650"/>
            <a:ext cx="457200" cy="4572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95630" y="2914650"/>
            <a:ext cx="514350" cy="457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438400" y="4133850"/>
            <a:ext cx="7315200" cy="12573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83993" y="573405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72250" y="5734050"/>
            <a:ext cx="152400" cy="152400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3942159" y="933450"/>
            <a:ext cx="5169218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000000">
                    <a:alpha val="0"/>
                  </a:srgbClr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19" name="Text 1"/>
          <p:cNvSpPr/>
          <p:nvPr/>
        </p:nvSpPr>
        <p:spPr>
          <a:xfrm>
            <a:off x="2438400" y="1731487"/>
            <a:ext cx="7315200" cy="10156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Thank you for joining me on this journey to explore </a:t>
            </a:r>
          </a:p>
          <a:p>
            <a:pPr marL="0" indent="0" algn="ctr">
              <a:lnSpc>
                <a:spcPts val="2400"/>
              </a:lnSpc>
              <a:buNone/>
            </a:pPr>
            <a:endParaRPr lang="en-US" dirty="0">
              <a:solidFill>
                <a:srgbClr val="FFFFFF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fascinating world of </a:t>
            </a:r>
            <a:r>
              <a:rPr lang="en-US" sz="3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Engineering</a:t>
            </a:r>
            <a:r>
              <a:rPr lang="en-US" sz="18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800" dirty="0"/>
          </a:p>
        </p:txBody>
      </p:sp>
      <p:sp>
        <p:nvSpPr>
          <p:cNvPr id="20" name="Text 2"/>
          <p:cNvSpPr/>
          <p:nvPr/>
        </p:nvSpPr>
        <p:spPr>
          <a:xfrm>
            <a:off x="3513386" y="3486150"/>
            <a:ext cx="126140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Communication</a:t>
            </a:r>
            <a:endParaRPr lang="en-US" sz="1050" dirty="0"/>
          </a:p>
        </p:txBody>
      </p:sp>
      <p:sp>
        <p:nvSpPr>
          <p:cNvPr id="21" name="Text 3"/>
          <p:cNvSpPr/>
          <p:nvPr/>
        </p:nvSpPr>
        <p:spPr>
          <a:xfrm>
            <a:off x="5174159" y="3486150"/>
            <a:ext cx="932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Automation</a:t>
            </a:r>
            <a:endParaRPr lang="en-US" sz="1050" dirty="0"/>
          </a:p>
        </p:txBody>
      </p:sp>
      <p:sp>
        <p:nvSpPr>
          <p:cNvPr id="22" name="Text 4"/>
          <p:cNvSpPr/>
          <p:nvPr/>
        </p:nvSpPr>
        <p:spPr>
          <a:xfrm>
            <a:off x="6723757" y="3486150"/>
            <a:ext cx="15680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AI</a:t>
            </a:r>
            <a:endParaRPr lang="en-US" sz="1050" dirty="0"/>
          </a:p>
        </p:txBody>
      </p:sp>
      <p:sp>
        <p:nvSpPr>
          <p:cNvPr id="23" name="Text 5"/>
          <p:cNvSpPr/>
          <p:nvPr/>
        </p:nvSpPr>
        <p:spPr>
          <a:xfrm>
            <a:off x="7627293" y="3486150"/>
            <a:ext cx="126140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Communication</a:t>
            </a:r>
            <a:endParaRPr lang="en-US" sz="1050" dirty="0"/>
          </a:p>
        </p:txBody>
      </p:sp>
      <p:sp>
        <p:nvSpPr>
          <p:cNvPr id="24" name="Text 6"/>
          <p:cNvSpPr/>
          <p:nvPr/>
        </p:nvSpPr>
        <p:spPr>
          <a:xfrm>
            <a:off x="2667000" y="4362450"/>
            <a:ext cx="6858000" cy="800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Remember, the next time you use your phone, send a message, or charge your laptop — </a:t>
            </a:r>
            <a:r>
              <a:rPr lang="en-US" sz="1500" b="1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Electronic Engineering is quietly making it all possible.</a:t>
            </a:r>
            <a:endParaRPr lang="en-US" sz="1500" dirty="0"/>
          </a:p>
        </p:txBody>
      </p:sp>
      <p:sp>
        <p:nvSpPr>
          <p:cNvPr id="25" name="Text 7"/>
          <p:cNvSpPr/>
          <p:nvPr/>
        </p:nvSpPr>
        <p:spPr>
          <a:xfrm>
            <a:off x="4312593" y="5695950"/>
            <a:ext cx="237565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your.email@example.com</a:t>
            </a:r>
            <a:endParaRPr lang="en-US" sz="1200" dirty="0"/>
          </a:p>
        </p:txBody>
      </p:sp>
      <p:sp>
        <p:nvSpPr>
          <p:cNvPr id="26" name="Text 8"/>
          <p:cNvSpPr/>
          <p:nvPr/>
        </p:nvSpPr>
        <p:spPr>
          <a:xfrm>
            <a:off x="6406604" y="5695950"/>
            <a:ext cx="6161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|</a:t>
            </a:r>
            <a:endParaRPr lang="en-US" sz="1200" dirty="0"/>
          </a:p>
        </p:txBody>
      </p:sp>
      <p:sp>
        <p:nvSpPr>
          <p:cNvPr id="27" name="Text 9"/>
          <p:cNvSpPr/>
          <p:nvPr/>
        </p:nvSpPr>
        <p:spPr>
          <a:xfrm>
            <a:off x="6800850" y="5695950"/>
            <a:ext cx="15684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yourwebsite.com</a:t>
            </a:r>
            <a:endParaRPr lang="en-US" sz="12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183C60C-E223-FC6F-988E-3D806404875A}"/>
              </a:ext>
            </a:extLst>
          </p:cNvPr>
          <p:cNvSpPr txBox="1"/>
          <p:nvPr/>
        </p:nvSpPr>
        <p:spPr>
          <a:xfrm>
            <a:off x="3048000" y="605562"/>
            <a:ext cx="6096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6000" dirty="0">
                <a:solidFill>
                  <a:schemeClr val="bg1"/>
                </a:solidFill>
                <a:latin typeface="Lobster" panose="00000500000000000000" pitchFamily="2" charset="0"/>
                <a:ea typeface="Ma Shan Zheng" panose="00000500000000000000" pitchFamily="2" charset="0"/>
              </a:rPr>
              <a:t>THANK YOU</a:t>
            </a:r>
            <a:endParaRPr lang="zh-CN" altLang="en-US" sz="6000" dirty="0">
              <a:solidFill>
                <a:schemeClr val="bg1"/>
              </a:solidFill>
              <a:latin typeface="Lobster" panose="00000500000000000000" pitchFamily="2" charset="0"/>
              <a:ea typeface="Ma Shan Zheng" panose="000005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1712</Words>
  <Application>Microsoft Office PowerPoint</Application>
  <PresentationFormat>宽屏</PresentationFormat>
  <Paragraphs>262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4" baseType="lpstr">
      <vt:lpstr>ui-sans-serif</vt:lpstr>
      <vt:lpstr>Arial</vt:lpstr>
      <vt:lpstr>Lobster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瀚庆 吴</cp:lastModifiedBy>
  <cp:revision>60</cp:revision>
  <dcterms:created xsi:type="dcterms:W3CDTF">2025-11-02T04:51:02Z</dcterms:created>
  <dcterms:modified xsi:type="dcterms:W3CDTF">2025-11-17T13:05:18Z</dcterms:modified>
</cp:coreProperties>
</file>