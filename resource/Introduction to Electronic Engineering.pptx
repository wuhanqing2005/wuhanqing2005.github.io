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1459507-7FA5-4245-B875-23B34D260F9B}">
          <p14:sldIdLst>
            <p14:sldId id="256"/>
            <p14:sldId id="257"/>
            <p14:sldId id="258"/>
          </p14:sldIdLst>
        </p14:section>
        <p14:section name="What is Electronic Engineering" id="{372C868E-3CEA-4292-8421-56BF76E80E37}">
          <p14:sldIdLst>
            <p14:sldId id="259"/>
            <p14:sldId id="260"/>
          </p14:sldIdLst>
        </p14:section>
        <p14:section name="Applications 1 — PCB &amp; Basic Electronics" id="{211D81F3-66D8-4208-8944-440A137755A6}">
          <p14:sldIdLst>
            <p14:sldId id="261"/>
            <p14:sldId id="262"/>
          </p14:sldIdLst>
        </p14:section>
        <p14:section name="Applications 2 — Communication Systems" id="{25037B53-C6F6-4E6A-9C4F-E8477920867F}">
          <p14:sldIdLst>
            <p14:sldId id="263"/>
            <p14:sldId id="264"/>
          </p14:sldIdLst>
        </p14:section>
        <p14:section name="Applications 3 — Advanced Technologies" id="{1D73B13C-8AB2-442B-B648-857549EDC0D7}">
          <p14:sldIdLst>
            <p14:sldId id="265"/>
            <p14:sldId id="266"/>
            <p14:sldId id="267"/>
          </p14:sldIdLst>
        </p14:section>
        <p14:section name="My Project Example" id="{22338342-659D-4D3C-BABA-A3731D18C014}">
          <p14:sldIdLst>
            <p14:sldId id="268"/>
            <p14:sldId id="269"/>
            <p14:sldId id="270"/>
          </p14:sldIdLst>
        </p14:section>
        <p14:section name="Core Theories and Real-Life Examples" id="{AC5F68DD-F114-46F4-B95F-E0D3CE74A391}">
          <p14:sldIdLst>
            <p14:sldId id="271"/>
            <p14:sldId id="272"/>
            <p14:sldId id="273"/>
            <p14:sldId id="274"/>
          </p14:sldIdLst>
        </p14:section>
        <p14:section name="Conclusion" id="{3172BBBA-6D39-4482-8108-66F121180822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95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001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0.png"/><Relationship Id="rId21" Type="http://schemas.openxmlformats.org/officeDocument/2006/relationships/image" Target="../media/image36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15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16.png"/><Relationship Id="rId19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10.png"/><Relationship Id="rId21" Type="http://schemas.openxmlformats.org/officeDocument/2006/relationships/image" Target="../media/image53.png"/><Relationship Id="rId7" Type="http://schemas.openxmlformats.org/officeDocument/2006/relationships/image" Target="../media/image14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5" Type="http://schemas.openxmlformats.org/officeDocument/2006/relationships/image" Target="../media/image12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16.png"/><Relationship Id="rId19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42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1.png"/><Relationship Id="rId5" Type="http://schemas.openxmlformats.org/officeDocument/2006/relationships/image" Target="../media/image12.png"/><Relationship Id="rId15" Type="http://schemas.openxmlformats.org/officeDocument/2006/relationships/image" Target="../media/image65.png"/><Relationship Id="rId10" Type="http://schemas.openxmlformats.org/officeDocument/2006/relationships/image" Target="../media/image16.png"/><Relationship Id="rId19" Type="http://schemas.openxmlformats.org/officeDocument/2006/relationships/image" Target="../media/image69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10.png"/><Relationship Id="rId21" Type="http://schemas.openxmlformats.org/officeDocument/2006/relationships/image" Target="../media/image82.png"/><Relationship Id="rId7" Type="http://schemas.openxmlformats.org/officeDocument/2006/relationships/image" Target="../media/image13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72.png"/><Relationship Id="rId24" Type="http://schemas.openxmlformats.org/officeDocument/2006/relationships/image" Target="../media/image22.png"/><Relationship Id="rId5" Type="http://schemas.openxmlformats.org/officeDocument/2006/relationships/image" Target="../media/image11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24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10.png"/><Relationship Id="rId7" Type="http://schemas.openxmlformats.org/officeDocument/2006/relationships/image" Target="../media/image86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3.png"/><Relationship Id="rId20" Type="http://schemas.openxmlformats.org/officeDocument/2006/relationships/image" Target="../media/image9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88.png"/><Relationship Id="rId5" Type="http://schemas.openxmlformats.org/officeDocument/2006/relationships/image" Target="../media/image15.png"/><Relationship Id="rId15" Type="http://schemas.openxmlformats.org/officeDocument/2006/relationships/image" Target="../media/image92.png"/><Relationship Id="rId10" Type="http://schemas.openxmlformats.org/officeDocument/2006/relationships/image" Target="../media/image16.png"/><Relationship Id="rId19" Type="http://schemas.openxmlformats.org/officeDocument/2006/relationships/image" Target="../media/image96.jpeg"/><Relationship Id="rId4" Type="http://schemas.openxmlformats.org/officeDocument/2006/relationships/image" Target="../media/image14.png"/><Relationship Id="rId9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98.png"/><Relationship Id="rId21" Type="http://schemas.openxmlformats.org/officeDocument/2006/relationships/image" Target="../media/image112.png"/><Relationship Id="rId7" Type="http://schemas.openxmlformats.org/officeDocument/2006/relationships/image" Target="../media/image15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2.png"/><Relationship Id="rId5" Type="http://schemas.openxmlformats.org/officeDocument/2006/relationships/image" Target="../media/image14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10" Type="http://schemas.openxmlformats.org/officeDocument/2006/relationships/image" Target="../media/image102.png"/><Relationship Id="rId19" Type="http://schemas.openxmlformats.org/officeDocument/2006/relationships/image" Target="../media/image110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" Type="http://schemas.openxmlformats.org/officeDocument/2006/relationships/image" Target="../media/image10.png"/><Relationship Id="rId21" Type="http://schemas.openxmlformats.org/officeDocument/2006/relationships/image" Target="../media/image125.png"/><Relationship Id="rId7" Type="http://schemas.openxmlformats.org/officeDocument/2006/relationships/image" Target="../media/image23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15.png"/><Relationship Id="rId24" Type="http://schemas.openxmlformats.org/officeDocument/2006/relationships/image" Target="../media/image128.png"/><Relationship Id="rId5" Type="http://schemas.openxmlformats.org/officeDocument/2006/relationships/image" Target="../media/image15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10" Type="http://schemas.openxmlformats.org/officeDocument/2006/relationships/image" Target="../media/image72.png"/><Relationship Id="rId19" Type="http://schemas.openxmlformats.org/officeDocument/2006/relationships/image" Target="../media/image123.png"/><Relationship Id="rId4" Type="http://schemas.openxmlformats.org/officeDocument/2006/relationships/image" Target="../media/image14.png"/><Relationship Id="rId9" Type="http://schemas.openxmlformats.org/officeDocument/2006/relationships/image" Target="../media/image71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34.png"/><Relationship Id="rId1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32.png"/><Relationship Id="rId5" Type="http://schemas.openxmlformats.org/officeDocument/2006/relationships/image" Target="../media/image15.png"/><Relationship Id="rId15" Type="http://schemas.openxmlformats.org/officeDocument/2006/relationships/image" Target="../media/image136.png"/><Relationship Id="rId10" Type="http://schemas.openxmlformats.org/officeDocument/2006/relationships/image" Target="../media/image72.png"/><Relationship Id="rId19" Type="http://schemas.openxmlformats.org/officeDocument/2006/relationships/image" Target="../media/image139.png"/><Relationship Id="rId4" Type="http://schemas.openxmlformats.org/officeDocument/2006/relationships/image" Target="../media/image14.png"/><Relationship Id="rId9" Type="http://schemas.openxmlformats.org/officeDocument/2006/relationships/image" Target="../media/image71.png"/><Relationship Id="rId14" Type="http://schemas.openxmlformats.org/officeDocument/2006/relationships/image" Target="../media/image1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0.png"/><Relationship Id="rId21" Type="http://schemas.openxmlformats.org/officeDocument/2006/relationships/image" Target="../media/image150.png"/><Relationship Id="rId7" Type="http://schemas.openxmlformats.org/officeDocument/2006/relationships/image" Target="../media/image14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5" Type="http://schemas.openxmlformats.org/officeDocument/2006/relationships/image" Target="../media/image12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10" Type="http://schemas.openxmlformats.org/officeDocument/2006/relationships/image" Target="../media/image72.png"/><Relationship Id="rId19" Type="http://schemas.openxmlformats.org/officeDocument/2006/relationships/image" Target="../media/image148.png"/><Relationship Id="rId31" Type="http://schemas.openxmlformats.org/officeDocument/2006/relationships/image" Target="../media/image160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Relationship Id="rId30" Type="http://schemas.openxmlformats.org/officeDocument/2006/relationships/image" Target="../media/image1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62.png"/><Relationship Id="rId5" Type="http://schemas.openxmlformats.org/officeDocument/2006/relationships/image" Target="../media/image12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67.png"/><Relationship Id="rId5" Type="http://schemas.openxmlformats.org/officeDocument/2006/relationships/image" Target="../media/image12.png"/><Relationship Id="rId15" Type="http://schemas.openxmlformats.org/officeDocument/2006/relationships/image" Target="../media/image171.png"/><Relationship Id="rId10" Type="http://schemas.openxmlformats.org/officeDocument/2006/relationships/image" Target="../media/image72.png"/><Relationship Id="rId4" Type="http://schemas.openxmlformats.org/officeDocument/2006/relationships/image" Target="../media/image11.png"/><Relationship Id="rId9" Type="http://schemas.openxmlformats.org/officeDocument/2006/relationships/image" Target="../media/image42.png"/><Relationship Id="rId14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26" Type="http://schemas.openxmlformats.org/officeDocument/2006/relationships/image" Target="../media/image188.jpg"/><Relationship Id="rId3" Type="http://schemas.openxmlformats.org/officeDocument/2006/relationships/image" Target="../media/image10.png"/><Relationship Id="rId21" Type="http://schemas.openxmlformats.org/officeDocument/2006/relationships/image" Target="../media/image183.png"/><Relationship Id="rId7" Type="http://schemas.openxmlformats.org/officeDocument/2006/relationships/image" Target="../media/image14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5" Type="http://schemas.openxmlformats.org/officeDocument/2006/relationships/image" Target="../media/image18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8.png"/><Relationship Id="rId20" Type="http://schemas.openxmlformats.org/officeDocument/2006/relationships/image" Target="../media/image1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3.png"/><Relationship Id="rId24" Type="http://schemas.openxmlformats.org/officeDocument/2006/relationships/image" Target="../media/image186.png"/><Relationship Id="rId5" Type="http://schemas.openxmlformats.org/officeDocument/2006/relationships/image" Target="../media/image15.png"/><Relationship Id="rId15" Type="http://schemas.openxmlformats.org/officeDocument/2006/relationships/image" Target="../media/image177.png"/><Relationship Id="rId23" Type="http://schemas.openxmlformats.org/officeDocument/2006/relationships/image" Target="../media/image185.png"/><Relationship Id="rId10" Type="http://schemas.openxmlformats.org/officeDocument/2006/relationships/image" Target="../media/image16.png"/><Relationship Id="rId19" Type="http://schemas.openxmlformats.org/officeDocument/2006/relationships/image" Target="../media/image181.png"/><Relationship Id="rId4" Type="http://schemas.openxmlformats.org/officeDocument/2006/relationships/image" Target="../media/image11.png"/><Relationship Id="rId9" Type="http://schemas.openxmlformats.org/officeDocument/2006/relationships/image" Target="../media/image71.png"/><Relationship Id="rId14" Type="http://schemas.openxmlformats.org/officeDocument/2006/relationships/image" Target="../media/image176.png"/><Relationship Id="rId22" Type="http://schemas.openxmlformats.org/officeDocument/2006/relationships/image" Target="../media/image18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9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9.png"/><Relationship Id="rId5" Type="http://schemas.openxmlformats.org/officeDocument/2006/relationships/image" Target="../media/image15.png"/><Relationship Id="rId15" Type="http://schemas.openxmlformats.org/officeDocument/2006/relationships/image" Target="../media/image193.png"/><Relationship Id="rId10" Type="http://schemas.openxmlformats.org/officeDocument/2006/relationships/image" Target="../media/image72.png"/><Relationship Id="rId4" Type="http://schemas.openxmlformats.org/officeDocument/2006/relationships/image" Target="../media/image11.png"/><Relationship Id="rId9" Type="http://schemas.openxmlformats.org/officeDocument/2006/relationships/image" Target="../media/image71.png"/><Relationship Id="rId14" Type="http://schemas.openxmlformats.org/officeDocument/2006/relationships/image" Target="../media/image19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18" Type="http://schemas.openxmlformats.org/officeDocument/2006/relationships/image" Target="../media/image209.jpeg"/><Relationship Id="rId3" Type="http://schemas.openxmlformats.org/officeDocument/2006/relationships/image" Target="../media/image10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08.jpe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5" Type="http://schemas.openxmlformats.org/officeDocument/2006/relationships/image" Target="../media/image72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196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3" Type="http://schemas.openxmlformats.org/officeDocument/2006/relationships/image" Target="../media/image10.png"/><Relationship Id="rId21" Type="http://schemas.openxmlformats.org/officeDocument/2006/relationships/image" Target="../media/image220.png"/><Relationship Id="rId7" Type="http://schemas.openxmlformats.org/officeDocument/2006/relationships/image" Target="../media/image14.png"/><Relationship Id="rId12" Type="http://schemas.openxmlformats.org/officeDocument/2006/relationships/image" Target="../media/image195.png"/><Relationship Id="rId17" Type="http://schemas.openxmlformats.org/officeDocument/2006/relationships/image" Target="../media/image216.png"/><Relationship Id="rId25" Type="http://schemas.openxmlformats.org/officeDocument/2006/relationships/image" Target="../media/image22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15.png"/><Relationship Id="rId20" Type="http://schemas.openxmlformats.org/officeDocument/2006/relationships/image" Target="../media/image2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11.png"/><Relationship Id="rId24" Type="http://schemas.openxmlformats.org/officeDocument/2006/relationships/image" Target="../media/image223.png"/><Relationship Id="rId5" Type="http://schemas.openxmlformats.org/officeDocument/2006/relationships/image" Target="../media/image12.png"/><Relationship Id="rId15" Type="http://schemas.openxmlformats.org/officeDocument/2006/relationships/image" Target="../media/image214.png"/><Relationship Id="rId23" Type="http://schemas.openxmlformats.org/officeDocument/2006/relationships/image" Target="../media/image222.png"/><Relationship Id="rId10" Type="http://schemas.openxmlformats.org/officeDocument/2006/relationships/image" Target="../media/image210.png"/><Relationship Id="rId19" Type="http://schemas.openxmlformats.org/officeDocument/2006/relationships/image" Target="../media/image21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3.png"/><Relationship Id="rId22" Type="http://schemas.openxmlformats.org/officeDocument/2006/relationships/image" Target="../media/image2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26.png"/><Relationship Id="rId5" Type="http://schemas.openxmlformats.org/officeDocument/2006/relationships/image" Target="../media/image12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3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3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3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34.png"/><Relationship Id="rId5" Type="http://schemas.openxmlformats.org/officeDocument/2006/relationships/image" Target="../media/image12.png"/><Relationship Id="rId15" Type="http://schemas.openxmlformats.org/officeDocument/2006/relationships/image" Target="../media/image238.png"/><Relationship Id="rId10" Type="http://schemas.openxmlformats.org/officeDocument/2006/relationships/image" Target="../media/image19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245.png"/><Relationship Id="rId18" Type="http://schemas.openxmlformats.org/officeDocument/2006/relationships/image" Target="../media/image250.png"/><Relationship Id="rId3" Type="http://schemas.openxmlformats.org/officeDocument/2006/relationships/image" Target="../media/image240.png"/><Relationship Id="rId21" Type="http://schemas.openxmlformats.org/officeDocument/2006/relationships/image" Target="../media/image253.png"/><Relationship Id="rId7" Type="http://schemas.openxmlformats.org/officeDocument/2006/relationships/image" Target="../media/image15.png"/><Relationship Id="rId12" Type="http://schemas.openxmlformats.org/officeDocument/2006/relationships/image" Target="../media/image244.png"/><Relationship Id="rId17" Type="http://schemas.openxmlformats.org/officeDocument/2006/relationships/image" Target="../media/image24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48.png"/><Relationship Id="rId20" Type="http://schemas.openxmlformats.org/officeDocument/2006/relationships/image" Target="../media/image2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43.png"/><Relationship Id="rId5" Type="http://schemas.openxmlformats.org/officeDocument/2006/relationships/image" Target="../media/image14.png"/><Relationship Id="rId15" Type="http://schemas.openxmlformats.org/officeDocument/2006/relationships/image" Target="../media/image247.png"/><Relationship Id="rId23" Type="http://schemas.openxmlformats.org/officeDocument/2006/relationships/image" Target="../media/image255.png"/><Relationship Id="rId10" Type="http://schemas.openxmlformats.org/officeDocument/2006/relationships/image" Target="../media/image242.png"/><Relationship Id="rId19" Type="http://schemas.openxmlformats.org/officeDocument/2006/relationships/image" Target="../media/image251.png"/><Relationship Id="rId4" Type="http://schemas.openxmlformats.org/officeDocument/2006/relationships/image" Target="../media/image99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Relationship Id="rId22" Type="http://schemas.openxmlformats.org/officeDocument/2006/relationships/image" Target="../media/image2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3" Type="http://schemas.openxmlformats.org/officeDocument/2006/relationships/image" Target="../media/image10.png"/><Relationship Id="rId21" Type="http://schemas.openxmlformats.org/officeDocument/2006/relationships/image" Target="../media/image265.png"/><Relationship Id="rId7" Type="http://schemas.openxmlformats.org/officeDocument/2006/relationships/image" Target="../media/image14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61.png"/><Relationship Id="rId20" Type="http://schemas.openxmlformats.org/officeDocument/2006/relationships/image" Target="../media/image2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56.png"/><Relationship Id="rId5" Type="http://schemas.openxmlformats.org/officeDocument/2006/relationships/image" Target="../media/image12.png"/><Relationship Id="rId15" Type="http://schemas.openxmlformats.org/officeDocument/2006/relationships/image" Target="../media/image260.png"/><Relationship Id="rId23" Type="http://schemas.openxmlformats.org/officeDocument/2006/relationships/image" Target="../media/image267.png"/><Relationship Id="rId10" Type="http://schemas.openxmlformats.org/officeDocument/2006/relationships/image" Target="../media/image16.png"/><Relationship Id="rId19" Type="http://schemas.openxmlformats.org/officeDocument/2006/relationships/image" Target="../media/image144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4" Type="http://schemas.openxmlformats.org/officeDocument/2006/relationships/image" Target="../media/image259.png"/><Relationship Id="rId22" Type="http://schemas.openxmlformats.org/officeDocument/2006/relationships/image" Target="../media/image2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13" Type="http://schemas.openxmlformats.org/officeDocument/2006/relationships/image" Target="../media/image271.png"/><Relationship Id="rId3" Type="http://schemas.openxmlformats.org/officeDocument/2006/relationships/image" Target="../media/image10.png"/><Relationship Id="rId7" Type="http://schemas.openxmlformats.org/officeDocument/2006/relationships/image" Target="../media/image86.png"/><Relationship Id="rId12" Type="http://schemas.openxmlformats.org/officeDocument/2006/relationships/image" Target="../media/image270.png"/><Relationship Id="rId17" Type="http://schemas.openxmlformats.org/officeDocument/2006/relationships/image" Target="../media/image27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69.png"/><Relationship Id="rId5" Type="http://schemas.openxmlformats.org/officeDocument/2006/relationships/image" Target="../media/image12.png"/><Relationship Id="rId15" Type="http://schemas.openxmlformats.org/officeDocument/2006/relationships/image" Target="../media/image273.png"/><Relationship Id="rId10" Type="http://schemas.openxmlformats.org/officeDocument/2006/relationships/image" Target="../media/image72.png"/><Relationship Id="rId4" Type="http://schemas.openxmlformats.org/officeDocument/2006/relationships/image" Target="../media/image11.png"/><Relationship Id="rId9" Type="http://schemas.openxmlformats.org/officeDocument/2006/relationships/image" Target="../media/image71.png"/><Relationship Id="rId14" Type="http://schemas.openxmlformats.org/officeDocument/2006/relationships/image" Target="../media/image2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78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77.png"/><Relationship Id="rId5" Type="http://schemas.openxmlformats.org/officeDocument/2006/relationships/image" Target="../media/image15.png"/><Relationship Id="rId15" Type="http://schemas.openxmlformats.org/officeDocument/2006/relationships/image" Target="../media/image281.png"/><Relationship Id="rId10" Type="http://schemas.openxmlformats.org/officeDocument/2006/relationships/image" Target="../media/image276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1733550"/>
            <a:ext cx="79248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4591050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4895850"/>
            <a:ext cx="17145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3450" y="4838700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4838700"/>
            <a:ext cx="3238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650" y="4838700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438400" y="2038350"/>
            <a:ext cx="73152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</a:t>
            </a:r>
            <a:r>
              <a:rPr lang="en-US" sz="4500" b="1" kern="0" spc="-9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2438400" y="3333750"/>
            <a:ext cx="8778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Invisible Power Behind Modern Technology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2419350" y="4552950"/>
            <a:ext cx="34361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Speaker: Daniel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2419350" y="4857750"/>
            <a:ext cx="34361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Date: Nov 18, 2025</a:t>
            </a:r>
            <a:endParaRPr lang="en-US" sz="1500" dirty="0"/>
          </a:p>
        </p:txBody>
      </p:sp>
      <p:pic>
        <p:nvPicPr>
          <p:cNvPr id="16" name="图片 15" descr="徽标">
            <a:extLst>
              <a:ext uri="{FF2B5EF4-FFF2-40B4-BE49-F238E27FC236}">
                <a16:creationId xmlns:a16="http://schemas.microsoft.com/office/drawing/2014/main" id="{C1197FBD-D9B5-C4FF-B9BF-8A129A51F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7530" y="262255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5250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541020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7675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53530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147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6957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0767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45770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533650"/>
            <a:ext cx="5334000" cy="2133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01450" y="5010150"/>
            <a:ext cx="13335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About Me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57200" y="1333500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 name is Daniel, and I'm currently studying Electronic Engineering.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457200" y="2095500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Many people think I'm a computer science student because of the software projects I've built.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457200" y="2933700"/>
            <a:ext cx="640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Despite my major, I've developed: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62000" y="3333750"/>
            <a:ext cx="28203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cinema broadcasting system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09625" y="3714750"/>
            <a:ext cx="33104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airport announcement generator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762000" y="4095750"/>
            <a:ext cx="17396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personal website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790575" y="4476750"/>
            <a:ext cx="28491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online aviation chart viewer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629400" y="2762250"/>
            <a:ext cx="5852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Truth About My Major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6629400" y="321945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While my projects might suggest computer science, my real passion lies in </a:t>
            </a: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629400" y="390525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Today, I'll share with you why this field is both mysterious and omnipresent in our modern world.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7506295" y="4972050"/>
            <a:ext cx="47313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Let's explore what Electronic Engineering really is...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42875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4933950"/>
            <a:ext cx="1143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191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4876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781300"/>
            <a:ext cx="469895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048000"/>
            <a:ext cx="2857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50520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8481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19100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0" y="3314700"/>
            <a:ext cx="7620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5850" y="2781300"/>
            <a:ext cx="4698950" cy="1828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4450" y="304800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64450" y="35052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64450" y="3848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64450" y="41910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524500"/>
            <a:ext cx="11277600" cy="876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6057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45123" y="60579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8784" y="60579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20858" y="6057900"/>
            <a:ext cx="17145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Confusion: CS vs EE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People often think I'm a </a:t>
            </a: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Science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student because of my software projects, but my real passion is </a:t>
            </a: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085850" y="3009900"/>
            <a:ext cx="5090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Science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990600" y="3467100"/>
            <a:ext cx="20707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Software development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52500" y="3810000"/>
            <a:ext cx="15609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applications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33450" y="4152900"/>
            <a:ext cx="21558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management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5721400" y="3467100"/>
            <a:ext cx="762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</a:t>
            </a:r>
            <a:endParaRPr lang="en-US" sz="2400" dirty="0"/>
          </a:p>
        </p:txBody>
      </p:sp>
      <p:sp>
        <p:nvSpPr>
          <p:cNvPr id="33" name="Text 7"/>
          <p:cNvSpPr/>
          <p:nvPr/>
        </p:nvSpPr>
        <p:spPr>
          <a:xfrm>
            <a:off x="7607350" y="3009900"/>
            <a:ext cx="5090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7550200" y="3467100"/>
            <a:ext cx="22559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systems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7531150" y="3810000"/>
            <a:ext cx="10283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 design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7569250" y="4152900"/>
            <a:ext cx="21274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technologies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609600" y="56769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 Software Projects:</a:t>
            </a:r>
            <a:endParaRPr lang="en-US" sz="1500" dirty="0"/>
          </a:p>
        </p:txBody>
      </p:sp>
      <p:sp>
        <p:nvSpPr>
          <p:cNvPr id="38" name="Text 12"/>
          <p:cNvSpPr/>
          <p:nvPr/>
        </p:nvSpPr>
        <p:spPr>
          <a:xfrm>
            <a:off x="838200" y="6019800"/>
            <a:ext cx="26642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Cinema broadcasting system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4111823" y="6019800"/>
            <a:ext cx="30243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Airport announcement generator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7647384" y="6019800"/>
            <a:ext cx="15441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 website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9968508" y="6019800"/>
            <a:ext cx="19363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Aviation chart viewer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045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695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625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333500"/>
            <a:ext cx="11277600" cy="990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628900"/>
            <a:ext cx="3606701" cy="1933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4800" y="28194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1013" y="2933700"/>
            <a:ext cx="219075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2501" y="2628900"/>
            <a:ext cx="3606850" cy="1933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0101" y="28194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52976" y="293370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7950" y="2628900"/>
            <a:ext cx="3606701" cy="1933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5551" y="28194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88426" y="2933700"/>
            <a:ext cx="2857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57400" y="4867275"/>
            <a:ext cx="45720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71700" y="4981575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5248275"/>
            <a:ext cx="3657600" cy="38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81600" y="51720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0" y="517207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10400" y="5172075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63113" y="4867275"/>
            <a:ext cx="485775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77413" y="4981575"/>
            <a:ext cx="257175" cy="304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Electronic Engineering?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685800" y="1562100"/>
            <a:ext cx="10820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is the study of </a:t>
            </a: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to design, build, and improve electronic systems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from small circuits to huge communication networks.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325130" y="3533775"/>
            <a:ext cx="38708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Electric Signals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647700" y="3914775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learn how electric signals move and how to control their behavior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160416" y="3533775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Processing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483001" y="3914775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study how to process and manipulate signals for various applications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7995880" y="3533775"/>
            <a:ext cx="38708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Improvement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8318450" y="3914775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focus on making devices smarter, faster, and more efficient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457200" y="5476875"/>
            <a:ext cx="365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Circuits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8077200" y="5476875"/>
            <a:ext cx="365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 Networks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4933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0005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4876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409700"/>
            <a:ext cx="5486400" cy="2057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6383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213" y="1828800"/>
            <a:ext cx="25717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409700"/>
            <a:ext cx="5486400" cy="2057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63830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3688" y="182880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771900"/>
            <a:ext cx="5486400" cy="2057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00050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" y="4191000"/>
            <a:ext cx="3429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3771900"/>
            <a:ext cx="5486400" cy="2057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000500"/>
            <a:ext cx="7620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3688" y="4191000"/>
            <a:ext cx="428625" cy="3810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Focus Areas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638300" y="1638300"/>
            <a:ext cx="4892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Movement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638300" y="2057400"/>
            <a:ext cx="40767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study how electric signals travel through various mediums and components, understanding the fundamental principles that govern electrical phenomena.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7429500" y="1638300"/>
            <a:ext cx="4892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Processing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7429500" y="2057400"/>
            <a:ext cx="40767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learn how to manipulate and transform signals to extract useful information, including filtering, modulation, and enhancement techniques.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638300" y="4000500"/>
            <a:ext cx="4892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Device Optimization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1638300" y="4419600"/>
            <a:ext cx="40767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work on making electronic devices smarter, faster, and more efficient through innovative design and advanced manufacturing techniques.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7429500" y="4000500"/>
            <a:ext cx="4892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Integration</a:t>
            </a: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7429500" y="4419600"/>
            <a:ext cx="40767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develop expertise in combining individual components into cohesive systems for specific applications, from small circuits to vast communication networks.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2750344" y="6134100"/>
            <a:ext cx="80293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core areas form the foundation of all electronic engineering disciplines.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5695950"/>
            <a:ext cx="142875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4953000"/>
            <a:ext cx="1905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1333500"/>
            <a:ext cx="5334000" cy="2171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7338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386715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095500"/>
            <a:ext cx="5334000" cy="308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9637" y="287655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1285" y="3219450"/>
            <a:ext cx="2095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81901" y="2876550"/>
            <a:ext cx="5715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4467" y="3219450"/>
            <a:ext cx="2095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61315" y="2781300"/>
            <a:ext cx="5715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0200" y="4191000"/>
            <a:ext cx="48768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4138" y="4354116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62007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01450" y="6200775"/>
            <a:ext cx="13335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altLang="zh-CN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1</a:t>
            </a: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</a:t>
            </a:r>
            <a:r>
              <a:rPr lang="en-US" sz="36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 &amp; Basic Electronics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685800" y="1562100"/>
            <a:ext cx="4876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are PCBs?</a:t>
            </a:r>
            <a:endParaRPr lang="en-US" sz="2250" dirty="0"/>
          </a:p>
        </p:txBody>
      </p:sp>
      <p:sp>
        <p:nvSpPr>
          <p:cNvPr id="26" name="Text 2"/>
          <p:cNvSpPr/>
          <p:nvPr/>
        </p:nvSpPr>
        <p:spPr>
          <a:xfrm>
            <a:off x="685800" y="20574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Printed Circuit Boards are the </a:t>
            </a: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"skeleton"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all electronic devices.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85800" y="27432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They provide the foundation and structure that connects all electronic components together.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1219200" y="3905250"/>
            <a:ext cx="43773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smartphones to industrial robots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6629400" y="2324100"/>
            <a:ext cx="4876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 to PCBA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6629400" y="3409950"/>
            <a:ext cx="9178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6537618" y="3676650"/>
            <a:ext cx="11013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Circuit Board</a:t>
            </a:r>
            <a:endParaRPr lang="en-US" sz="1050" dirty="0"/>
          </a:p>
        </p:txBody>
      </p:sp>
      <p:sp>
        <p:nvSpPr>
          <p:cNvPr id="32" name="Text 8"/>
          <p:cNvSpPr/>
          <p:nvPr/>
        </p:nvSpPr>
        <p:spPr>
          <a:xfrm>
            <a:off x="8344510" y="3409950"/>
            <a:ext cx="14464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8344510" y="3676650"/>
            <a:ext cx="144643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Parts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10588228" y="3314700"/>
            <a:ext cx="9178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PCBA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10588228" y="3581400"/>
            <a:ext cx="91782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Circuit Board Assembly</a:t>
            </a:r>
            <a:endParaRPr lang="en-US" sz="1050" dirty="0"/>
          </a:p>
        </p:txBody>
      </p:sp>
      <p:sp>
        <p:nvSpPr>
          <p:cNvPr id="36" name="Text 12"/>
          <p:cNvSpPr/>
          <p:nvPr/>
        </p:nvSpPr>
        <p:spPr>
          <a:xfrm>
            <a:off x="6884094" y="4305300"/>
            <a:ext cx="4648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Without PCBs, modern electronics simply wouldn't exist!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734318" y="6191250"/>
            <a:ext cx="51970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PCBs are the foundation of all modern electronic devices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443442" y="6191250"/>
            <a:ext cx="243994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Next: Understanding PCBA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142875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5695950"/>
            <a:ext cx="17145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950" y="4953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1333500"/>
            <a:ext cx="2438400" cy="2438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2600325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1333500"/>
            <a:ext cx="2438400" cy="2438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95938" y="244792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2637" y="2447925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7913" y="2447925"/>
            <a:ext cx="1428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76987" y="244792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8400" y="4724400"/>
            <a:ext cx="7315200" cy="1676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 to PCBA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088547" y="3905250"/>
            <a:ext cx="5097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3453289" y="4152900"/>
            <a:ext cx="17802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(Printed Circuit Board)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7505194" y="3905250"/>
            <a:ext cx="6865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PCBA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6547381" y="4152900"/>
            <a:ext cx="2602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(Printed Circuit Board Assembly)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2667000" y="4953000"/>
            <a:ext cx="685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like the skeleton of electronic devices, providing the structure and connections.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2667000" y="5638800"/>
            <a:ext cx="685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PCBA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what happens when electronic components are mounted on the PCB, creating a functional electronic device ready for use.</a:t>
            </a:r>
            <a:endParaRPr lang="en-US" sz="1350" dirty="0"/>
          </a:p>
        </p:txBody>
      </p:sp>
      <p:pic>
        <p:nvPicPr>
          <p:cNvPr id="1026" name="Picture 2" descr="PCB Trace: The Backbone of Modern Circuit Design">
            <a:extLst>
              <a:ext uri="{FF2B5EF4-FFF2-40B4-BE49-F238E27FC236}">
                <a16:creationId xmlns:a16="http://schemas.microsoft.com/office/drawing/2014/main" id="{A5DF2002-63BE-0D7A-5636-673500069AE8}"/>
              </a:ext>
            </a:extLst>
          </p:cNvPr>
          <p:cNvPicPr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510" y="1477962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High Speed PCB Design? | Getting Started | Altium">
            <a:extLst>
              <a:ext uri="{FF2B5EF4-FFF2-40B4-BE49-F238E27FC236}">
                <a16:creationId xmlns:a16="http://schemas.microsoft.com/office/drawing/2014/main" id="{C2ABA2A7-52E5-1C98-9DA4-33AF753A0669}"/>
              </a:ext>
            </a:extLst>
          </p:cNvPr>
          <p:cNvPicPr>
            <a:picLocks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451" y="1477962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" cy="190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333750"/>
            <a:ext cx="1428750" cy="19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333750"/>
            <a:ext cx="762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5772150"/>
            <a:ext cx="142875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7950" y="4838700"/>
            <a:ext cx="1905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57150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0" y="2990850"/>
            <a:ext cx="9525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2705100"/>
            <a:ext cx="1524000" cy="1524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0" y="2419350"/>
            <a:ext cx="2095500" cy="2095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095500"/>
            <a:ext cx="3606701" cy="1695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4800" y="2286000"/>
            <a:ext cx="5715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501" y="2095500"/>
            <a:ext cx="3606850" cy="1695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8676" y="2286000"/>
            <a:ext cx="51435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2095500"/>
            <a:ext cx="3606701" cy="1695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88426" y="2286000"/>
            <a:ext cx="28575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019550"/>
            <a:ext cx="3606701" cy="18859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1950" y="421005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2501" y="4019550"/>
            <a:ext cx="3606850" cy="18859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67251" y="421005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7950" y="4019550"/>
            <a:ext cx="3606701" cy="18859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74126" y="4210050"/>
            <a:ext cx="514350" cy="457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2: </a:t>
            </a:r>
            <a:r>
              <a:rPr lang="en-US" sz="36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</a:rPr>
              <a:t>Communication Systems</a:t>
            </a:r>
          </a:p>
        </p:txBody>
      </p:sp>
      <p:sp>
        <p:nvSpPr>
          <p:cNvPr id="27" name="Text 1"/>
          <p:cNvSpPr/>
          <p:nvPr/>
        </p:nvSpPr>
        <p:spPr>
          <a:xfrm>
            <a:off x="457200" y="12573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 of the most fascinating areas in electronic engineering is </a:t>
            </a: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systems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 These systems enable the wireless transmission of information across vast distances.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985516" y="2876550"/>
            <a:ext cx="6599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Wi-Fi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647700" y="3219450"/>
            <a:ext cx="3225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wireless networking connectivity for devices over short to medium distances</a:t>
            </a:r>
            <a:endParaRPr lang="en-US" sz="1050" dirty="0"/>
          </a:p>
        </p:txBody>
      </p:sp>
      <p:sp>
        <p:nvSpPr>
          <p:cNvPr id="30" name="Text 4"/>
          <p:cNvSpPr/>
          <p:nvPr/>
        </p:nvSpPr>
        <p:spPr>
          <a:xfrm>
            <a:off x="5951339" y="2876550"/>
            <a:ext cx="3468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5G</a:t>
            </a:r>
            <a:endParaRPr lang="en-US" sz="1500" dirty="0"/>
          </a:p>
        </p:txBody>
      </p:sp>
      <p:sp>
        <p:nvSpPr>
          <p:cNvPr id="31" name="Text 5"/>
          <p:cNvSpPr/>
          <p:nvPr/>
        </p:nvSpPr>
        <p:spPr>
          <a:xfrm>
            <a:off x="4483001" y="3219450"/>
            <a:ext cx="3225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latest mobile network technology providing ultra-fast data transmission and low latency</a:t>
            </a:r>
            <a:endParaRPr lang="en-US" sz="1050" dirty="0"/>
          </a:p>
        </p:txBody>
      </p:sp>
      <p:sp>
        <p:nvSpPr>
          <p:cNvPr id="32" name="Text 6"/>
          <p:cNvSpPr/>
          <p:nvPr/>
        </p:nvSpPr>
        <p:spPr>
          <a:xfrm>
            <a:off x="9403854" y="2876550"/>
            <a:ext cx="12658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Bluetooth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8318450" y="3219450"/>
            <a:ext cx="3225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Short-range wireless technology for connecting devices like headphones, speakers, and phones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2043857" y="4800600"/>
            <a:ext cx="5198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GPS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647700" y="5143500"/>
            <a:ext cx="3225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Positioning System that uses satellites to determine precise location information</a:t>
            </a:r>
            <a:endParaRPr lang="en-US" sz="1050" dirty="0"/>
          </a:p>
        </p:txBody>
      </p:sp>
      <p:sp>
        <p:nvSpPr>
          <p:cNvPr id="36" name="Text 10"/>
          <p:cNvSpPr/>
          <p:nvPr/>
        </p:nvSpPr>
        <p:spPr>
          <a:xfrm>
            <a:off x="5588050" y="4800600"/>
            <a:ext cx="12187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Satellites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4483001" y="5143500"/>
            <a:ext cx="32258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Orbital devices that relay signals for communication, navigation, and Earth observation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9003804" y="4800600"/>
            <a:ext cx="22258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Aviation Systems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8318450" y="5143500"/>
            <a:ext cx="3225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Radio and radar systems built by electronic engineers that pilots rely on for safe flight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457200" y="6210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systems are based on the same principles we study — </a:t>
            </a:r>
            <a:r>
              <a:rPr lang="en-US" sz="1350" b="1" i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transmission, modulation, and filtering</a:t>
            </a:r>
            <a:r>
              <a:rPr lang="en-US" sz="135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42875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5695950"/>
            <a:ext cx="1143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953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019300"/>
            <a:ext cx="112776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705100"/>
            <a:ext cx="3606701" cy="2171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895600"/>
            <a:ext cx="3238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501" y="2705100"/>
            <a:ext cx="3606850" cy="2171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001" y="28956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2705100"/>
            <a:ext cx="3606701" cy="2171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450" y="289560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5486400"/>
            <a:ext cx="935087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6007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44687" y="5486400"/>
            <a:ext cx="767507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97087" y="56007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64594" y="5486400"/>
            <a:ext cx="1235125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16994" y="560070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52118" y="5486400"/>
            <a:ext cx="1237059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04518" y="56007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41578" y="5486400"/>
            <a:ext cx="185544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93978" y="5600700"/>
            <a:ext cx="17145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Transmission Principles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457200" y="12573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systems rely on the fundamental principles of signal transmission, modulation, and filtering to send and receive information across various technologies.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1085850" y="2914650"/>
            <a:ext cx="307806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Transmission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647700" y="3352800"/>
            <a:ext cx="3225701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process of sending data from one point to another through a medium. In electronic engineering, this involves converting information into electrical signals.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4959251" y="2914650"/>
            <a:ext cx="17412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Modulation</a:t>
            </a:r>
            <a:endParaRPr lang="en-US" sz="1800" dirty="0"/>
          </a:p>
        </p:txBody>
      </p:sp>
      <p:sp>
        <p:nvSpPr>
          <p:cNvPr id="32" name="Text 5"/>
          <p:cNvSpPr/>
          <p:nvPr/>
        </p:nvSpPr>
        <p:spPr>
          <a:xfrm>
            <a:off x="4483001" y="3352800"/>
            <a:ext cx="322585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process of varying one signal to represent information. Different techniques (AM, FM, digital) allow efficient transmission over various channels.</a:t>
            </a:r>
            <a:endParaRPr lang="en-US" sz="1350" dirty="0"/>
          </a:p>
        </p:txBody>
      </p:sp>
      <p:sp>
        <p:nvSpPr>
          <p:cNvPr id="33" name="Text 6"/>
          <p:cNvSpPr/>
          <p:nvPr/>
        </p:nvSpPr>
        <p:spPr>
          <a:xfrm>
            <a:off x="8718500" y="2914650"/>
            <a:ext cx="131373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Filtering</a:t>
            </a:r>
            <a:endParaRPr lang="en-US" sz="1800" dirty="0"/>
          </a:p>
        </p:txBody>
      </p:sp>
      <p:sp>
        <p:nvSpPr>
          <p:cNvPr id="34" name="Text 7"/>
          <p:cNvSpPr/>
          <p:nvPr/>
        </p:nvSpPr>
        <p:spPr>
          <a:xfrm>
            <a:off x="8318450" y="3352800"/>
            <a:ext cx="3225701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process of removing unwanted noise from signals. Filters allow specific frequency ranges to pass while blocking others.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457200" y="5105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Real-world Applications: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876300" y="5562600"/>
            <a:ext cx="4363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Wi-Fi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1944737" y="5562600"/>
            <a:ext cx="2580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5G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2807494" y="5562600"/>
            <a:ext cx="887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Bluetooth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4233118" y="5562600"/>
            <a:ext cx="8443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Satellites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5641628" y="5562600"/>
            <a:ext cx="1563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 Radio/Radar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42875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5695950"/>
            <a:ext cx="1143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953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905000"/>
            <a:ext cx="5486400" cy="392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1336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488" y="2324100"/>
            <a:ext cx="42862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5814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243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905000"/>
            <a:ext cx="5486400" cy="392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133600"/>
            <a:ext cx="7620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3688" y="2324100"/>
            <a:ext cx="428625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238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581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924300"/>
            <a:ext cx="1905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3: </a:t>
            </a:r>
            <a:r>
              <a:rPr lang="en-US" sz="36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</a:rPr>
              <a:t>Advanced Technologies</a:t>
            </a:r>
          </a:p>
        </p:txBody>
      </p:sp>
      <p:sp>
        <p:nvSpPr>
          <p:cNvPr id="22" name="Text 1"/>
          <p:cNvSpPr/>
          <p:nvPr/>
        </p:nvSpPr>
        <p:spPr>
          <a:xfrm>
            <a:off x="457200" y="13335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drives cutting-edge technologies that are transforming our world: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600200" y="2419350"/>
            <a:ext cx="395120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Autonomous Driving</a:t>
            </a:r>
            <a:endParaRPr lang="en-US" sz="2250" dirty="0"/>
          </a:p>
        </p:txBody>
      </p:sp>
      <p:sp>
        <p:nvSpPr>
          <p:cNvPr id="24" name="Text 3"/>
          <p:cNvSpPr/>
          <p:nvPr/>
        </p:nvSpPr>
        <p:spPr>
          <a:xfrm>
            <a:off x="800100" y="3200400"/>
            <a:ext cx="33913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Sensors collect visual and radar data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52500" y="3543300"/>
            <a:ext cx="34909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circuits process information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952500" y="3886200"/>
            <a:ext cx="3188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driving decisions in real-time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391400" y="2419350"/>
            <a:ext cx="403800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Artificial Intelligence</a:t>
            </a:r>
            <a:endParaRPr lang="en-US" sz="2250" dirty="0"/>
          </a:p>
        </p:txBody>
      </p:sp>
      <p:sp>
        <p:nvSpPr>
          <p:cNvPr id="28" name="Text 7"/>
          <p:cNvSpPr/>
          <p:nvPr/>
        </p:nvSpPr>
        <p:spPr>
          <a:xfrm>
            <a:off x="6743700" y="3200400"/>
            <a:ext cx="39528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hardware processes massive data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743700" y="3543300"/>
            <a:ext cx="39733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Specialized chips accelerate AI calculations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781800" y="3886200"/>
            <a:ext cx="36940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Processors and servers power AI models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-670560" y="6134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enables the impossible become possible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4933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0005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4876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362075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1866900"/>
            <a:ext cx="2069753" cy="1447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0193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9353" y="1866900"/>
            <a:ext cx="2069753" cy="1447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1753" y="20193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3467100"/>
            <a:ext cx="2069753" cy="1257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36195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79353" y="3467100"/>
            <a:ext cx="2069753" cy="1257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31753" y="36195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77705" y="3238500"/>
            <a:ext cx="2236589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77705" y="4191000"/>
            <a:ext cx="2236589" cy="190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7705" y="5143500"/>
            <a:ext cx="2236589" cy="190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77705" y="6096000"/>
            <a:ext cx="2236589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91200" y="2647950"/>
            <a:ext cx="609600" cy="2438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53125" y="2933700"/>
            <a:ext cx="28575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43600" y="3695700"/>
            <a:ext cx="304800" cy="76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43600" y="4038600"/>
            <a:ext cx="304800" cy="76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43600" y="4381500"/>
            <a:ext cx="304800" cy="76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43600" y="4724400"/>
            <a:ext cx="304800" cy="76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42895" y="1362075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42895" y="1790700"/>
            <a:ext cx="4291905" cy="23241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33395" y="23622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33395" y="29337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33395" y="35052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42895" y="4267200"/>
            <a:ext cx="4291905" cy="1866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75997" y="5372100"/>
            <a:ext cx="257175" cy="3048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Self-Driving Car Electronics</a:t>
            </a:r>
            <a:endParaRPr lang="en-US" sz="3600" dirty="0"/>
          </a:p>
        </p:txBody>
      </p:sp>
      <p:sp>
        <p:nvSpPr>
          <p:cNvPr id="37" name="Text 1"/>
          <p:cNvSpPr/>
          <p:nvPr/>
        </p:nvSpPr>
        <p:spPr>
          <a:xfrm>
            <a:off x="857250" y="1333500"/>
            <a:ext cx="51502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Sensors Collect Data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952500" y="2038350"/>
            <a:ext cx="11183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Cameras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609600" y="2400300"/>
            <a:ext cx="176495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visual data for lane detection, traffic signs, and object recognition</a:t>
            </a:r>
            <a:endParaRPr lang="en-US" sz="1050" dirty="0"/>
          </a:p>
        </p:txBody>
      </p:sp>
      <p:sp>
        <p:nvSpPr>
          <p:cNvPr id="40" name="Text 4"/>
          <p:cNvSpPr/>
          <p:nvPr/>
        </p:nvSpPr>
        <p:spPr>
          <a:xfrm>
            <a:off x="3203228" y="2038350"/>
            <a:ext cx="7609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Radar</a:t>
            </a:r>
            <a:endParaRPr lang="en-US" sz="1500" dirty="0"/>
          </a:p>
        </p:txBody>
      </p:sp>
      <p:sp>
        <p:nvSpPr>
          <p:cNvPr id="41" name="Text 5"/>
          <p:cNvSpPr/>
          <p:nvPr/>
        </p:nvSpPr>
        <p:spPr>
          <a:xfrm>
            <a:off x="2831753" y="2400300"/>
            <a:ext cx="176495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 distance to objects and detect their speed through radio waves</a:t>
            </a:r>
            <a:endParaRPr lang="en-US" sz="1050" dirty="0"/>
          </a:p>
        </p:txBody>
      </p:sp>
      <p:sp>
        <p:nvSpPr>
          <p:cNvPr id="42" name="Text 6"/>
          <p:cNvSpPr/>
          <p:nvPr/>
        </p:nvSpPr>
        <p:spPr>
          <a:xfrm>
            <a:off x="952500" y="3638550"/>
            <a:ext cx="7668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LiDAR</a:t>
            </a:r>
            <a:endParaRPr lang="en-US" sz="1500" dirty="0"/>
          </a:p>
        </p:txBody>
      </p:sp>
      <p:sp>
        <p:nvSpPr>
          <p:cNvPr id="43" name="Text 7"/>
          <p:cNvSpPr/>
          <p:nvPr/>
        </p:nvSpPr>
        <p:spPr>
          <a:xfrm>
            <a:off x="609600" y="4000500"/>
            <a:ext cx="176495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detailed 3D maps of surroundings using laser pulses</a:t>
            </a:r>
            <a:endParaRPr lang="en-US" sz="1050" dirty="0"/>
          </a:p>
        </p:txBody>
      </p:sp>
      <p:sp>
        <p:nvSpPr>
          <p:cNvPr id="44" name="Text 8"/>
          <p:cNvSpPr/>
          <p:nvPr/>
        </p:nvSpPr>
        <p:spPr>
          <a:xfrm>
            <a:off x="3174653" y="3638550"/>
            <a:ext cx="4982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IMU</a:t>
            </a:r>
            <a:endParaRPr lang="en-US" sz="1500" dirty="0"/>
          </a:p>
        </p:txBody>
      </p:sp>
      <p:sp>
        <p:nvSpPr>
          <p:cNvPr id="45" name="Text 9"/>
          <p:cNvSpPr/>
          <p:nvPr/>
        </p:nvSpPr>
        <p:spPr>
          <a:xfrm>
            <a:off x="2831753" y="4000500"/>
            <a:ext cx="176495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Inertial measurement unit tracks acceleration and rotation</a:t>
            </a:r>
            <a:endParaRPr lang="en-US" sz="1050" dirty="0"/>
          </a:p>
        </p:txBody>
      </p:sp>
      <p:sp>
        <p:nvSpPr>
          <p:cNvPr id="46" name="Text 10"/>
          <p:cNvSpPr/>
          <p:nvPr/>
        </p:nvSpPr>
        <p:spPr>
          <a:xfrm>
            <a:off x="7785795" y="1333500"/>
            <a:ext cx="51502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Processing</a:t>
            </a:r>
            <a:endParaRPr lang="en-US" sz="1800" dirty="0"/>
          </a:p>
        </p:txBody>
      </p:sp>
      <p:sp>
        <p:nvSpPr>
          <p:cNvPr id="47" name="Text 11"/>
          <p:cNvSpPr/>
          <p:nvPr/>
        </p:nvSpPr>
        <p:spPr>
          <a:xfrm>
            <a:off x="7633395" y="1981200"/>
            <a:ext cx="46930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Electronics Make Decisions</a:t>
            </a:r>
            <a:endParaRPr lang="en-US" sz="1500" dirty="0"/>
          </a:p>
        </p:txBody>
      </p:sp>
      <p:sp>
        <p:nvSpPr>
          <p:cNvPr id="48" name="Text 12"/>
          <p:cNvSpPr/>
          <p:nvPr/>
        </p:nvSpPr>
        <p:spPr>
          <a:xfrm>
            <a:off x="7900095" y="2324100"/>
            <a:ext cx="36442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circuits process data from sensors in real-time</a:t>
            </a:r>
            <a:endParaRPr lang="en-US" sz="1200" dirty="0"/>
          </a:p>
        </p:txBody>
      </p:sp>
      <p:sp>
        <p:nvSpPr>
          <p:cNvPr id="49" name="Text 13"/>
          <p:cNvSpPr/>
          <p:nvPr/>
        </p:nvSpPr>
        <p:spPr>
          <a:xfrm>
            <a:off x="7900095" y="2895600"/>
            <a:ext cx="36442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processing filters noise from raw sensor data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7900095" y="3467100"/>
            <a:ext cx="36442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Analog-to-digital converters transform physical signals into digital data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7633395" y="4457700"/>
            <a:ext cx="39109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Driving Decisions</a:t>
            </a:r>
            <a:endParaRPr lang="en-US" sz="1500" dirty="0"/>
          </a:p>
        </p:txBody>
      </p:sp>
      <p:sp>
        <p:nvSpPr>
          <p:cNvPr id="52" name="Text 16"/>
          <p:cNvSpPr/>
          <p:nvPr/>
        </p:nvSpPr>
        <p:spPr>
          <a:xfrm>
            <a:off x="7633395" y="4800600"/>
            <a:ext cx="39109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processed data feeds into the car's control systems:</a:t>
            </a:r>
            <a:endParaRPr lang="en-US" sz="1200" dirty="0"/>
          </a:p>
        </p:txBody>
      </p:sp>
      <p:sp>
        <p:nvSpPr>
          <p:cNvPr id="53" name="Text 17"/>
          <p:cNvSpPr/>
          <p:nvPr/>
        </p:nvSpPr>
        <p:spPr>
          <a:xfrm>
            <a:off x="7633395" y="5753100"/>
            <a:ext cx="11310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Speed Control</a:t>
            </a:r>
            <a:endParaRPr lang="en-US" sz="1050" dirty="0"/>
          </a:p>
        </p:txBody>
      </p:sp>
      <p:sp>
        <p:nvSpPr>
          <p:cNvPr id="54" name="Text 18"/>
          <p:cNvSpPr/>
          <p:nvPr/>
        </p:nvSpPr>
        <p:spPr>
          <a:xfrm>
            <a:off x="9523214" y="5448300"/>
            <a:ext cx="6745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Steering</a:t>
            </a:r>
            <a:endParaRPr lang="en-US" sz="1050" dirty="0"/>
          </a:p>
        </p:txBody>
      </p:sp>
      <p:sp>
        <p:nvSpPr>
          <p:cNvPr id="55" name="Text 19"/>
          <p:cNvSpPr/>
          <p:nvPr/>
        </p:nvSpPr>
        <p:spPr>
          <a:xfrm>
            <a:off x="11032629" y="5448300"/>
            <a:ext cx="61382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5250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541020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7675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53530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686050"/>
            <a:ext cx="5486400" cy="800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9337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38550"/>
            <a:ext cx="548640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8862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591050"/>
            <a:ext cx="54864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8387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790700"/>
            <a:ext cx="5486400" cy="3657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790700"/>
            <a:ext cx="5486400" cy="3657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Hardware Infrastructure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457200" y="1847850"/>
            <a:ext cx="5486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 AI models like chatbots and image generators rely on electronic hardware designed by electronic engineers.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952500" y="2838450"/>
            <a:ext cx="37154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Chips &amp; Processors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952500" y="3105150"/>
            <a:ext cx="37154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Specialized hardware for AI computation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952500" y="3790950"/>
            <a:ext cx="34038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Servers &amp; Data Centers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952500" y="4057650"/>
            <a:ext cx="34038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infrastructure for AI training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009650" y="4743450"/>
            <a:ext cx="29562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High-Speed Networks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009650" y="5010150"/>
            <a:ext cx="29562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 AI components globally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-670560" y="6210300"/>
            <a:ext cx="13533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engineers design the hardware that powers today's AI revolution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045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695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625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8765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3337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019550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743450"/>
            <a:ext cx="54864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5238750"/>
            <a:ext cx="4876800" cy="4191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 Project: Runway Approach Light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57200" y="2076450"/>
            <a:ext cx="5486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 created a decorative desk lamp inspired by airport runway lights.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809625" y="2838450"/>
            <a:ext cx="5803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Connects to the internet to fetch real-time weather data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809625" y="3295650"/>
            <a:ext cx="51339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Changes color based on actual visibility and weather conditions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90575" y="3981450"/>
            <a:ext cx="5153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a unique blend of aviation hobby and engineering skills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609600" y="4895850"/>
            <a:ext cx="518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"As both a flight enthusiast and an electronics student, this was a fun way to combine my hobby and my major."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6202680" y="5353050"/>
            <a:ext cx="5577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 airport runway approach light desk model</a:t>
            </a:r>
            <a:endParaRPr lang="en-US" sz="1050" dirty="0"/>
          </a:p>
        </p:txBody>
      </p:sp>
      <p:pic>
        <p:nvPicPr>
          <p:cNvPr id="24" name="图片 23" descr="图片包含 电路, 游戏机, 桌子, 电脑&#10;&#10;AI 生成的内容可能不正确。">
            <a:extLst>
              <a:ext uri="{FF2B5EF4-FFF2-40B4-BE49-F238E27FC236}">
                <a16:creationId xmlns:a16="http://schemas.microsoft.com/office/drawing/2014/main" id="{BBE92412-BA11-236E-4FA7-534213FC75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575427"/>
            <a:ext cx="4876800" cy="36633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5695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953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610100"/>
            <a:ext cx="4470400" cy="419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62550"/>
            <a:ext cx="54102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714500"/>
            <a:ext cx="1185565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4507" y="18288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05415" y="2219325"/>
            <a:ext cx="588913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9578" y="1714500"/>
            <a:ext cx="1480096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86676" y="18288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64923" y="2219325"/>
            <a:ext cx="588913" cy="190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49086" y="1714500"/>
            <a:ext cx="1185565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70431" y="1828800"/>
            <a:ext cx="1428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971800"/>
            <a:ext cx="54102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3219450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924300"/>
            <a:ext cx="5410200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171950"/>
            <a:ext cx="2571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4876800"/>
            <a:ext cx="5410200" cy="800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5124450"/>
            <a:ext cx="171450" cy="3048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Functionality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571500" y="4724400"/>
            <a:ext cx="4229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 runway approach light model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609600" y="5314950"/>
            <a:ext cx="51054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project combines my passion for aviation with my electronics studies. The desk lamp is not just decorative—it's a functional weather-aware lighting system.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6324600" y="12573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1" name="Text 4"/>
          <p:cNvSpPr/>
          <p:nvPr/>
        </p:nvSpPr>
        <p:spPr>
          <a:xfrm>
            <a:off x="6438900" y="2171700"/>
            <a:ext cx="95696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Connects to Internet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8403878" y="2171700"/>
            <a:ext cx="125149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Downloads METAR Data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10663386" y="2171700"/>
            <a:ext cx="95696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Changes Color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6877050" y="3124200"/>
            <a:ext cx="46161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Weather Data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6877050" y="3390900"/>
            <a:ext cx="46161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METAR data to get actual weather conditions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848475" y="4076700"/>
            <a:ext cx="43957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Visibility Awareness</a:t>
            </a:r>
            <a:endParaRPr lang="en-US" sz="1350" dirty="0"/>
          </a:p>
        </p:txBody>
      </p:sp>
      <p:sp>
        <p:nvSpPr>
          <p:cNvPr id="37" name="Text 10"/>
          <p:cNvSpPr/>
          <p:nvPr/>
        </p:nvSpPr>
        <p:spPr>
          <a:xfrm>
            <a:off x="6848475" y="4343400"/>
            <a:ext cx="43957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Changes based on actual visibility at the airport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6762750" y="5029200"/>
            <a:ext cx="42529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Airport Selection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6762750" y="5295900"/>
            <a:ext cx="51034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programmed for any airport with METAR service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116551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14/23</a:t>
            </a:r>
            <a:endParaRPr lang="en-US" sz="1050" dirty="0"/>
          </a:p>
        </p:txBody>
      </p:sp>
      <p:pic>
        <p:nvPicPr>
          <p:cNvPr id="42" name="图片 41" descr="电子器材&#10;&#10;AI 生成的内容可能不正确。">
            <a:extLst>
              <a:ext uri="{FF2B5EF4-FFF2-40B4-BE49-F238E27FC236}">
                <a16:creationId xmlns:a16="http://schemas.microsoft.com/office/drawing/2014/main" id="{E081A5C5-B775-92F0-822C-537779500ED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6250" y="1266825"/>
            <a:ext cx="4451350" cy="3343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5695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9530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4050" y="1524000"/>
            <a:ext cx="2667000" cy="1714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0375" y="1695450"/>
            <a:ext cx="51435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8250" y="1333500"/>
            <a:ext cx="2095500" cy="2095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7413" y="1809750"/>
            <a:ext cx="25717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0950" y="1524000"/>
            <a:ext cx="266700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5850" y="154305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" y="3733800"/>
            <a:ext cx="8534400" cy="1981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0" y="4686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0" y="4991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0" y="52959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Combining Passion and Profession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2195810" y="2305050"/>
            <a:ext cx="254817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Aviation Passion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2066925" y="2686050"/>
            <a:ext cx="2381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enthusiast with deep knowledge of aviation systems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5201187" y="2305050"/>
            <a:ext cx="18041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Intersection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5048250" y="2571750"/>
            <a:ext cx="2095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Combining knowledge with creativity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7743825" y="2152650"/>
            <a:ext cx="23812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Electronics Knowledge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7743825" y="2838450"/>
            <a:ext cx="2381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Engineering principles and </a:t>
            </a:r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practical application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2057400" y="3962400"/>
            <a:ext cx="8077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runway approach light project perfectly illustrates how my aviation passion and electronic engineering knowledge combine: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2552700" y="4648200"/>
            <a:ext cx="64186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Transforms a simple desk lamp into a functional airport navigation aid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2552700" y="4953000"/>
            <a:ext cx="63875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Applies electronic engineering principles to create smart functionality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2552700" y="5257800"/>
            <a:ext cx="5168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real-world aviation knowledge to inform the design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-171376" y="6019800"/>
            <a:ext cx="125346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"This project represents how Electronic Engineering allows us to transform passion into innovative solutions."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52600"/>
            <a:ext cx="5524500" cy="3009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981200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4290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719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1480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752600"/>
            <a:ext cx="5524500" cy="3009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981200"/>
            <a:ext cx="2476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34290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37719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411480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991100"/>
            <a:ext cx="11277600" cy="1409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5819775"/>
            <a:ext cx="762000" cy="95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5000" y="5791200"/>
            <a:ext cx="142875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14575" y="5867400"/>
            <a:ext cx="190500" cy="95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5575" y="5867400"/>
            <a:ext cx="190500" cy="95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9475" y="5791200"/>
            <a:ext cx="142875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38550" y="5715000"/>
            <a:ext cx="685502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Theories: Basic Components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457200" y="1257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Everything in electronic engineering starts with understanding these fundamental components and their properties.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162050" y="2000250"/>
            <a:ext cx="14794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Capacitor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933450" y="3390900"/>
            <a:ext cx="55764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AC to pass, blocks DC ("AC through, DC block")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933450" y="3733800"/>
            <a:ext cx="38161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Stores and releases electrical energy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933450" y="4076700"/>
            <a:ext cx="30744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in power supply filtering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6838950" y="2000250"/>
            <a:ext cx="130659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Inductor</a:t>
            </a:r>
            <a:endParaRPr lang="en-US" sz="1800" dirty="0"/>
          </a:p>
        </p:txBody>
      </p:sp>
      <p:sp>
        <p:nvSpPr>
          <p:cNvPr id="32" name="Text 7"/>
          <p:cNvSpPr/>
          <p:nvPr/>
        </p:nvSpPr>
        <p:spPr>
          <a:xfrm>
            <a:off x="6686550" y="3390900"/>
            <a:ext cx="476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Blocks AC, allows DC ("DC through, AC block")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6686550" y="3733800"/>
            <a:ext cx="4462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magnetic fields when current flows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6686550" y="4076700"/>
            <a:ext cx="3930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in signal processing and filtering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609600" y="51435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When Combined: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3752850" y="5772150"/>
            <a:ext cx="54828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Filters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4476452" y="5600700"/>
            <a:ext cx="710594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When combined, capacitors and inductors create </a:t>
            </a:r>
            <a:r>
              <a:rPr lang="en-US" sz="135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circuits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that remove unwanted noise and signals.</a:t>
            </a:r>
            <a:endParaRPr lang="en-US" sz="1350" dirty="0"/>
          </a:p>
        </p:txBody>
      </p:sp>
      <p:pic>
        <p:nvPicPr>
          <p:cNvPr id="1026" name="Picture 2" descr="Common Inductor Technologies Explained">
            <a:extLst>
              <a:ext uri="{FF2B5EF4-FFF2-40B4-BE49-F238E27FC236}">
                <a16:creationId xmlns:a16="http://schemas.microsoft.com/office/drawing/2014/main" id="{C7FE6B51-7A0E-CD38-97AA-9762B3026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66" y="1976181"/>
            <a:ext cx="2531536" cy="142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pacitor Photos, Download The BEST Free Capacitor Stock Photos &amp; HD Images">
            <a:extLst>
              <a:ext uri="{FF2B5EF4-FFF2-40B4-BE49-F238E27FC236}">
                <a16:creationId xmlns:a16="http://schemas.microsoft.com/office/drawing/2014/main" id="{81CF6957-B7EE-8710-1CE8-BC88D23E7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669" y="1973579"/>
            <a:ext cx="2527264" cy="142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5250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541020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7675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53530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333500"/>
            <a:ext cx="4698950" cy="457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562100"/>
            <a:ext cx="51435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9667" y="27241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9667" y="31432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638550"/>
            <a:ext cx="424175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8862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9900" y="388620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000" y="3933825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37000" y="3905250"/>
            <a:ext cx="13335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35850" y="1333500"/>
            <a:ext cx="4698950" cy="4572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64450" y="1562100"/>
            <a:ext cx="40005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8317" y="26098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8317" y="29146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64450" y="3638550"/>
            <a:ext cx="4241750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0650" y="3886200"/>
            <a:ext cx="238125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8550" y="3886200"/>
            <a:ext cx="171450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21650" y="3905250"/>
            <a:ext cx="133350" cy="2286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457200"/>
            <a:ext cx="135331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Capacitors &amp; Inductors: Opposite Functions</a:t>
            </a:r>
            <a:endParaRPr lang="en-US" sz="3600" dirty="0"/>
          </a:p>
        </p:txBody>
      </p:sp>
      <p:sp>
        <p:nvSpPr>
          <p:cNvPr id="34" name="Text 1"/>
          <p:cNvSpPr/>
          <p:nvPr/>
        </p:nvSpPr>
        <p:spPr>
          <a:xfrm>
            <a:off x="1352550" y="1628775"/>
            <a:ext cx="184933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Capacitor</a:t>
            </a:r>
            <a:endParaRPr lang="en-US" sz="2250" dirty="0"/>
          </a:p>
        </p:txBody>
      </p:sp>
      <p:sp>
        <p:nvSpPr>
          <p:cNvPr id="35" name="Text 2"/>
          <p:cNvSpPr/>
          <p:nvPr/>
        </p:nvSpPr>
        <p:spPr>
          <a:xfrm>
            <a:off x="1094661" y="3219450"/>
            <a:ext cx="5961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Symbol</a:t>
            </a: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2099667" y="2190750"/>
            <a:ext cx="33932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 through, DC block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2328267" y="2676524"/>
            <a:ext cx="2599134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alternating current (AC) to pass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2328267" y="3105150"/>
            <a:ext cx="23581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Blocks direct current (DC)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7816900" y="1628775"/>
            <a:ext cx="1633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Inductor</a:t>
            </a:r>
            <a:endParaRPr lang="en-US" sz="2250" dirty="0"/>
          </a:p>
        </p:txBody>
      </p:sp>
      <p:sp>
        <p:nvSpPr>
          <p:cNvPr id="40" name="Text 7"/>
          <p:cNvSpPr/>
          <p:nvPr/>
        </p:nvSpPr>
        <p:spPr>
          <a:xfrm>
            <a:off x="7673310" y="3219450"/>
            <a:ext cx="5961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Symbol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8678317" y="2190750"/>
            <a:ext cx="33932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DC through, AC block</a:t>
            </a:r>
            <a:endParaRPr lang="en-US" sz="1350" dirty="0"/>
          </a:p>
        </p:txBody>
      </p:sp>
      <p:sp>
        <p:nvSpPr>
          <p:cNvPr id="42" name="Text 9"/>
          <p:cNvSpPr/>
          <p:nvPr/>
        </p:nvSpPr>
        <p:spPr>
          <a:xfrm>
            <a:off x="8906917" y="2571750"/>
            <a:ext cx="30702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direct current (DC) to pass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8906917" y="2876550"/>
            <a:ext cx="28178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Blocks alternating current (AC)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-670560" y="6134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fundamental components are essential to electronic circuit design, enabling filters and signal processing.</a:t>
            </a:r>
            <a:endParaRPr lang="en-US" sz="1350" dirty="0"/>
          </a:p>
        </p:txBody>
      </p:sp>
      <p:pic>
        <p:nvPicPr>
          <p:cNvPr id="52" name="Image 30" descr="preencoded.png">
            <a:extLst>
              <a:ext uri="{FF2B5EF4-FFF2-40B4-BE49-F238E27FC236}">
                <a16:creationId xmlns:a16="http://schemas.microsoft.com/office/drawing/2014/main" id="{C38D8D61-185A-8003-2B21-2C2C7C97FF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75746" y="3952875"/>
            <a:ext cx="133350" cy="152400"/>
          </a:xfrm>
          <a:prstGeom prst="rect">
            <a:avLst/>
          </a:prstGeom>
        </p:spPr>
      </p:pic>
      <p:pic>
        <p:nvPicPr>
          <p:cNvPr id="55" name="Image 15" descr="preencoded.png">
            <a:extLst>
              <a:ext uri="{FF2B5EF4-FFF2-40B4-BE49-F238E27FC236}">
                <a16:creationId xmlns:a16="http://schemas.microsoft.com/office/drawing/2014/main" id="{AA52650C-C650-1700-DA96-9870E9A08E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8109" y="3933825"/>
            <a:ext cx="133350" cy="152400"/>
          </a:xfrm>
          <a:prstGeom prst="rect">
            <a:avLst/>
          </a:prstGeom>
        </p:spPr>
      </p:pic>
      <p:pic>
        <p:nvPicPr>
          <p:cNvPr id="57" name="Image 30" descr="preencoded.png">
            <a:extLst>
              <a:ext uri="{FF2B5EF4-FFF2-40B4-BE49-F238E27FC236}">
                <a16:creationId xmlns:a16="http://schemas.microsoft.com/office/drawing/2014/main" id="{1BDD3D05-9FDF-596D-ED8C-1696E40B35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02713" y="3933825"/>
            <a:ext cx="133350" cy="1524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A9F0BF93-C5DE-A66D-A718-F3C74E0A88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17099" y="3644935"/>
            <a:ext cx="1231901" cy="747079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B3E3E84B-CCE0-1518-A68F-90FBB97F0A6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33682" y="3638550"/>
            <a:ext cx="1087995" cy="763624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A4A29AA-5EDA-3645-DDD6-609524B62B9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12437" y="3631565"/>
            <a:ext cx="1087995" cy="763624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CEC9904C-2FF3-4B49-03CE-862D1DC23B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90132" y="3644935"/>
            <a:ext cx="1087995" cy="763624"/>
          </a:xfrm>
          <a:prstGeom prst="rect">
            <a:avLst/>
          </a:prstGeom>
        </p:spPr>
      </p:pic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9307" y="2190750"/>
            <a:ext cx="571500" cy="76200"/>
          </a:xfrm>
          <a:prstGeom prst="rect">
            <a:avLst/>
          </a:prstGeom>
        </p:spPr>
      </p:pic>
      <p:pic>
        <p:nvPicPr>
          <p:cNvPr id="73" name="Image 2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9307" y="2409825"/>
            <a:ext cx="571500" cy="76200"/>
          </a:xfrm>
          <a:prstGeom prst="rect">
            <a:avLst/>
          </a:prstGeom>
        </p:spPr>
      </p:pic>
      <p:pic>
        <p:nvPicPr>
          <p:cNvPr id="74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9307" y="2628900"/>
            <a:ext cx="571500" cy="76200"/>
          </a:xfrm>
          <a:prstGeom prst="rect">
            <a:avLst/>
          </a:prstGeom>
        </p:spPr>
      </p:pic>
      <p:pic>
        <p:nvPicPr>
          <p:cNvPr id="75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9307" y="2847975"/>
            <a:ext cx="571500" cy="76200"/>
          </a:xfrm>
          <a:prstGeom prst="rect">
            <a:avLst/>
          </a:prstGeom>
        </p:spPr>
      </p:pic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9307" y="3067050"/>
            <a:ext cx="571500" cy="76200"/>
          </a:xfrm>
          <a:prstGeom prst="rect">
            <a:avLst/>
          </a:prstGeom>
        </p:spPr>
      </p:pic>
      <p:pic>
        <p:nvPicPr>
          <p:cNvPr id="77" name="Image 23" descr="preencoded.png">
            <a:extLst>
              <a:ext uri="{FF2B5EF4-FFF2-40B4-BE49-F238E27FC236}">
                <a16:creationId xmlns:a16="http://schemas.microsoft.com/office/drawing/2014/main" id="{D4223C64-590C-8045-D258-63E18777FC8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64857" y="3067050"/>
            <a:ext cx="571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5250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541020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7675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53530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019300"/>
            <a:ext cx="5524500" cy="1104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2098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276600"/>
            <a:ext cx="55245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4671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610100"/>
            <a:ext cx="5524500" cy="1104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791075"/>
            <a:ext cx="1333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1619250"/>
            <a:ext cx="5524500" cy="1905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2152650"/>
            <a:ext cx="5219700" cy="1219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3752850"/>
            <a:ext cx="5524500" cy="1905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4286250"/>
            <a:ext cx="5219700" cy="1219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Applications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457200" y="1257300"/>
            <a:ext cx="5524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Combining capacitors and inductors creates filters that control signal frequencies: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876300" y="21717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Low-Pass Filters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609600" y="2514600"/>
            <a:ext cx="5219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 low frequencies to pass while blocking high frequencies. Uses capacitor to short high frequencies to ground.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76300" y="34290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High-Pass Filters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609600" y="3771900"/>
            <a:ext cx="5219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 high frequencies to pass while blocking low frequencies. Uses inductor to block low frequencies.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19150" y="47625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Application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609600" y="5105400"/>
            <a:ext cx="5219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RC low-pass filters are used in DC-DC power supplies (phone chargers, car adapters) to smooth voltage output and reduce noise.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5840730" y="177165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Low-Pass Filter Response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5840730" y="390525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High-Pass Filter Response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-670560" y="6172200"/>
            <a:ext cx="13533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filters are essential components that make modern electronics work reliably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95250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95250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52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541020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7675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53530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9812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362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743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238500"/>
            <a:ext cx="53340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57200"/>
            <a:ext cx="5334000" cy="3124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16230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34750" y="31623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810000"/>
            <a:ext cx="5334000" cy="1790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Real-Life Example: Power Supplies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57200" y="1181100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RC low-pass filters are widely used in DC-DC power supplies to: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723900" y="1943100"/>
            <a:ext cx="35300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Smooth the voltage output from ripple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23900" y="2324100"/>
            <a:ext cx="26610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high-frequency noise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23900" y="2705100"/>
            <a:ext cx="28216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power supply stability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647700" y="34290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Everyday Application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647700" y="37719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 your phone charger uses this principle! It contains an RC filter to provide clean, stable power to your device.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141720" y="5715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RC Low-Pass Filter Circuit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819900" y="3124200"/>
            <a:ext cx="4736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0729168" y="3124200"/>
            <a:ext cx="6352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591300" y="40005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6591300" y="43815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capacitor charges and discharges to smooth voltage fluctuations.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591300" y="49530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inductor resists changes in current, filtering out high-frequency noise.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11655177" y="6515100"/>
            <a:ext cx="4613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19/23</a:t>
            </a:r>
            <a:endParaRPr lang="en-US" sz="105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386C382-BE9E-8D59-FE12-7D5881B87E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838200"/>
            <a:ext cx="3309411" cy="25709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05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" cy="190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333750"/>
            <a:ext cx="1428750" cy="19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63436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7950" y="54102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6286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828800"/>
            <a:ext cx="3606701" cy="2209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0574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3" y="2171700"/>
            <a:ext cx="21907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1828800"/>
            <a:ext cx="360685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1101" y="20574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5876" y="2171700"/>
            <a:ext cx="3619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1828800"/>
            <a:ext cx="3606701" cy="2209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20574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80375" y="2171700"/>
            <a:ext cx="3238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67200"/>
            <a:ext cx="3606701" cy="2209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4958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" y="4610100"/>
            <a:ext cx="2857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4267200"/>
            <a:ext cx="3606850" cy="2209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1101" y="44958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44926" y="4610100"/>
            <a:ext cx="32385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4267200"/>
            <a:ext cx="3606701" cy="2209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56550" y="4495800"/>
            <a:ext cx="571500" cy="571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99425" y="4610100"/>
            <a:ext cx="285750" cy="3429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Conclusion: Everyday Electronics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457200" y="1257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principles are </a:t>
            </a: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around us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making modern conveniences possible in our daily lives.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685800" y="2781300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Phone Chargers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685800" y="31242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RC low-pass filters to smooth voltage output and reduce high-frequency noise, ensuring safe charging.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21101" y="2781300"/>
            <a:ext cx="314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Wi-Fi Routers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4521101" y="3124200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Employs signal transmission and modulation principles to wirelessly connect devices throughout your home.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8356550" y="2781300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Home Devices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8356550" y="31242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Integrates sensors and microcontrollers to process environmental data and automate home functions.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685800" y="5219700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Electric Vehicles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685800" y="55626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Relies on power electronics and battery management systems to optimize energy consumption and performance.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4521101" y="5219700"/>
            <a:ext cx="3779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Devices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4521101" y="5562600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Applies biosignal processing to monitor and analyze vital functions for patient care.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8356550" y="5219700"/>
            <a:ext cx="37794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Audio Equipment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8356550" y="55626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Utilizes signal processing to amplify, filter, and reproduce sound with high fidelity.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-670560" y="67818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is </a:t>
            </a:r>
            <a:r>
              <a:rPr lang="en-US" sz="1500" b="1" i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just academic</a:t>
            </a:r>
            <a:r>
              <a:rPr lang="en-US" sz="15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it's the foundation of our connected, electronic daily lives.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49339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000500"/>
            <a:ext cx="1905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4876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171700"/>
            <a:ext cx="4698950" cy="1638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4003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819400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124200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429000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6150" y="2511475"/>
            <a:ext cx="939701" cy="95875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5850" y="2171700"/>
            <a:ext cx="4698950" cy="1638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26350" y="240030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6350" y="2819400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6350" y="3124200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6350" y="3429000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114800"/>
            <a:ext cx="3606701" cy="1143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267200"/>
            <a:ext cx="25717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2501" y="4114800"/>
            <a:ext cx="3606850" cy="1143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4901" y="42672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7950" y="4114800"/>
            <a:ext cx="3606701" cy="1143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0350" y="4267200"/>
            <a:ext cx="228600" cy="3048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altLang="zh-CN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Conclusion: </a:t>
            </a: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Theory Meets Reality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bridges the gap between theoretical principles and practical applications, creating innovations that shape our world.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990600" y="2362200"/>
            <a:ext cx="5181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Theoretical Foundations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800100" y="2781300"/>
            <a:ext cx="22870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Capacitors and inductors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800100" y="3086100"/>
            <a:ext cx="27303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transmission principles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800100" y="3390900"/>
            <a:ext cx="16152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applications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7626400" y="2362200"/>
            <a:ext cx="5181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Practical Applications</a:t>
            </a:r>
            <a:endParaRPr lang="en-US" sz="1800" dirty="0"/>
          </a:p>
        </p:txBody>
      </p:sp>
      <p:sp>
        <p:nvSpPr>
          <p:cNvPr id="34" name="Text 7"/>
          <p:cNvSpPr/>
          <p:nvPr/>
        </p:nvSpPr>
        <p:spPr>
          <a:xfrm>
            <a:off x="7378750" y="2781300"/>
            <a:ext cx="22559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systems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7378750" y="3086100"/>
            <a:ext cx="21274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technologies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7378750" y="3390900"/>
            <a:ext cx="19079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Everyday electronics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981075" y="4286250"/>
            <a:ext cx="2002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609600" y="46482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Wi-Fi to satellites, electronic engineering enables global connectivity.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4787801" y="4286250"/>
            <a:ext cx="15059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40" name="Text 13"/>
          <p:cNvSpPr/>
          <p:nvPr/>
        </p:nvSpPr>
        <p:spPr>
          <a:xfrm>
            <a:off x="4444901" y="46482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Self-driving cars and industrial systems rely on electronic engineering principles.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8623250" y="4286250"/>
            <a:ext cx="2619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endParaRPr lang="en-US" sz="1500" dirty="0"/>
          </a:p>
        </p:txBody>
      </p:sp>
      <p:sp>
        <p:nvSpPr>
          <p:cNvPr id="42" name="Text 15"/>
          <p:cNvSpPr/>
          <p:nvPr/>
        </p:nvSpPr>
        <p:spPr>
          <a:xfrm>
            <a:off x="8280350" y="46482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hardware infrastructure supports cutting-edge artificial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287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28750"/>
            <a:ext cx="190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4287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5695950"/>
            <a:ext cx="17145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572000"/>
            <a:ext cx="1905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7050" y="56388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990600"/>
            <a:ext cx="1219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171700"/>
            <a:ext cx="55245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2362200"/>
            <a:ext cx="390525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2171700"/>
            <a:ext cx="55245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362200"/>
            <a:ext cx="428625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58140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7719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581400"/>
            <a:ext cx="55245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771900"/>
            <a:ext cx="42862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562600"/>
            <a:ext cx="11277600" cy="838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Invisible Power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457200" y="13335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is the invisible power behind the modern world. It connects </a:t>
            </a: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theory and reality</a:t>
            </a: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making innovation possible across countless fields.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190625" y="2362200"/>
            <a:ext cx="46005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90625" y="2705100"/>
            <a:ext cx="46005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Wi-Fi and 5G to satellites and GPS, electronic engineering enables the world's communication networks.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6981825" y="2362200"/>
            <a:ext cx="4562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6981825" y="2705100"/>
            <a:ext cx="45624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systems, industrial robots, and home automation all rely on electronic engineering for intelligence and control.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143000" y="3771900"/>
            <a:ext cx="5577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143000" y="4114800"/>
            <a:ext cx="4648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Powerful chips and specialized hardware designed by electronic engineers run AI systems from chatbots to image generators.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981825" y="3771900"/>
            <a:ext cx="4562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Renewable Energy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981825" y="4114800"/>
            <a:ext cx="45624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systems control solar panels, wind turbines, and energy storage, enabling efficient renewable power generation.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09600" y="57150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r>
              <a:rPr lang="en-US" sz="15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quietly making it all possible — from your smartphone to self-driving cars, from weather forecasting to space exploration.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476250"/>
            <a:ext cx="1905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476250"/>
            <a:ext cx="1905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47625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0" y="5886450"/>
            <a:ext cx="142875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950" y="5143500"/>
            <a:ext cx="1905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58293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0450" y="1905000"/>
            <a:ext cx="19050" cy="1428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1905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7448" y="2914650"/>
            <a:ext cx="3429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3851" y="291465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493" y="29146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5630" y="2914650"/>
            <a:ext cx="51435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400" y="4133850"/>
            <a:ext cx="7315200" cy="1257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3993" y="5734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0" y="5734050"/>
            <a:ext cx="1524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942159" y="933450"/>
            <a:ext cx="516921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000000">
                    <a:alpha val="0"/>
                  </a:srgbClr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19" name="Text 1"/>
          <p:cNvSpPr/>
          <p:nvPr/>
        </p:nvSpPr>
        <p:spPr>
          <a:xfrm>
            <a:off x="2438400" y="1731487"/>
            <a:ext cx="7315200" cy="1015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joining me on this journey to explore </a:t>
            </a:r>
          </a:p>
          <a:p>
            <a:pPr marL="0" indent="0" algn="ctr">
              <a:lnSpc>
                <a:spcPts val="2400"/>
              </a:lnSpc>
              <a:buNone/>
            </a:pPr>
            <a:endParaRPr lang="en-US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fascinating world of </a:t>
            </a:r>
            <a:r>
              <a:rPr lang="en-US" sz="3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</a:t>
            </a: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3513386" y="3486150"/>
            <a:ext cx="12614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5174159" y="3486150"/>
            <a:ext cx="93208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6723757" y="3486150"/>
            <a:ext cx="1568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7627293" y="3486150"/>
            <a:ext cx="12614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2667000" y="4362450"/>
            <a:ext cx="6858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Remember, the next time you use your phone, send a message, or charge your laptop — </a:t>
            </a: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Electronic Engineering is quietly making it all possible.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4312593" y="5695950"/>
            <a:ext cx="23756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your.email@example.com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406604" y="5695950"/>
            <a:ext cx="616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|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6800850" y="5695950"/>
            <a:ext cx="1568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yourwebsite.com</a:t>
            </a:r>
            <a:endParaRPr 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183C60C-E223-FC6F-988E-3D806404875A}"/>
              </a:ext>
            </a:extLst>
          </p:cNvPr>
          <p:cNvSpPr txBox="1"/>
          <p:nvPr/>
        </p:nvSpPr>
        <p:spPr>
          <a:xfrm>
            <a:off x="3048000" y="60556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latin typeface="Lobster" panose="00000500000000000000" pitchFamily="2" charset="0"/>
                <a:ea typeface="Ma Shan Zheng" panose="00000500000000000000" pitchFamily="2" charset="0"/>
              </a:rPr>
              <a:t>THANK YOU</a:t>
            </a:r>
            <a:endParaRPr lang="zh-CN" altLang="en-US" sz="6000" dirty="0">
              <a:solidFill>
                <a:schemeClr val="bg1"/>
              </a:solidFill>
              <a:latin typeface="Lobster" panose="00000500000000000000" pitchFamily="2" charset="0"/>
              <a:ea typeface="Ma Shan Zheng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Microsoft Office PowerPoint</Application>
  <PresentationFormat>宽屏</PresentationFormat>
  <Paragraphs>305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ui-sans-serif</vt:lpstr>
      <vt:lpstr>Arial</vt:lpstr>
      <vt:lpstr>Lobster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瀚庆 吴</cp:lastModifiedBy>
  <cp:revision>57</cp:revision>
  <dcterms:created xsi:type="dcterms:W3CDTF">2025-11-02T04:51:02Z</dcterms:created>
  <dcterms:modified xsi:type="dcterms:W3CDTF">2025-11-12T13:22:34Z</dcterms:modified>
</cp:coreProperties>
</file>