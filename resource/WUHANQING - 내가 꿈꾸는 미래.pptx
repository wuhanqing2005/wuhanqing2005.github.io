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25" y="3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428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13.png"/><Relationship Id="rId10" Type="http://schemas.openxmlformats.org/officeDocument/2006/relationships/image" Target="../media/image28.png"/><Relationship Id="rId4" Type="http://schemas.openxmlformats.org/officeDocument/2006/relationships/image" Target="../media/image1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11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1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2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57.png"/><Relationship Id="rId15" Type="http://schemas.openxmlformats.org/officeDocument/2006/relationships/image" Target="../media/image23.png"/><Relationship Id="rId10" Type="http://schemas.openxmlformats.org/officeDocument/2006/relationships/image" Target="../media/image61.png"/><Relationship Id="rId4" Type="http://schemas.openxmlformats.org/officeDocument/2006/relationships/image" Target="../media/image12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11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12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83.png"/><Relationship Id="rId3" Type="http://schemas.openxmlformats.org/officeDocument/2006/relationships/image" Target="../media/image11.png"/><Relationship Id="rId7" Type="http://schemas.openxmlformats.org/officeDocument/2006/relationships/image" Target="../media/image79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60.png"/><Relationship Id="rId5" Type="http://schemas.openxmlformats.org/officeDocument/2006/relationships/image" Target="../media/image77.png"/><Relationship Id="rId15" Type="http://schemas.openxmlformats.org/officeDocument/2006/relationships/image" Target="../media/image85.png"/><Relationship Id="rId10" Type="http://schemas.openxmlformats.org/officeDocument/2006/relationships/image" Target="../media/image81.png"/><Relationship Id="rId4" Type="http://schemas.openxmlformats.org/officeDocument/2006/relationships/image" Target="../media/image12.png"/><Relationship Id="rId9" Type="http://schemas.openxmlformats.org/officeDocument/2006/relationships/image" Target="../media/image80.png"/><Relationship Id="rId1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4476750"/>
            <a:ext cx="28575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0" y="952500"/>
            <a:ext cx="142875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7100" y="1671638"/>
            <a:ext cx="5257800" cy="1295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3995738"/>
            <a:ext cx="1219200" cy="95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8350" y="5072063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8850" y="5072063"/>
            <a:ext cx="114300" cy="114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9350" y="5072063"/>
            <a:ext cx="114300" cy="1143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743450" y="1671638"/>
            <a:ext cx="126873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이름 (姓名)</a:t>
            </a:r>
            <a:endParaRPr lang="en-US" sz="1200" dirty="0"/>
          </a:p>
        </p:txBody>
      </p:sp>
      <p:sp>
        <p:nvSpPr>
          <p:cNvPr id="13" name="Text 1"/>
          <p:cNvSpPr/>
          <p:nvPr/>
        </p:nvSpPr>
        <p:spPr>
          <a:xfrm>
            <a:off x="5800725" y="1671638"/>
            <a:ext cx="2000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WU HANQING</a:t>
            </a:r>
            <a:endParaRPr lang="en-US" sz="1200" dirty="0"/>
          </a:p>
        </p:txBody>
      </p:sp>
      <p:sp>
        <p:nvSpPr>
          <p:cNvPr id="14" name="Text 2"/>
          <p:cNvSpPr/>
          <p:nvPr/>
        </p:nvSpPr>
        <p:spPr>
          <a:xfrm>
            <a:off x="4743450" y="2052637"/>
            <a:ext cx="126873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학과 (专业)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5800725" y="2052637"/>
            <a:ext cx="2000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전자공학과 /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电子工</a:t>
            </a:r>
            <a:r>
              <a:rPr lang="zh-CN" alt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学科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4743450" y="2433638"/>
            <a:ext cx="126873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학번 (学号)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5800725" y="2433638"/>
            <a:ext cx="2000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2025106286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3749992" y="3205163"/>
            <a:ext cx="4692015" cy="695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WUHANQING</a:t>
            </a:r>
            <a:endParaRPr lang="en-US" sz="4500" dirty="0"/>
          </a:p>
        </p:txBody>
      </p:sp>
      <p:sp>
        <p:nvSpPr>
          <p:cNvPr id="19" name="Text 7"/>
          <p:cNvSpPr/>
          <p:nvPr/>
        </p:nvSpPr>
        <p:spPr>
          <a:xfrm>
            <a:off x="2941320" y="4233863"/>
            <a:ext cx="6309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내가 꿈꾸는 미래 </a:t>
            </a:r>
            <a:r>
              <a:rPr lang="en-US" sz="27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r>
              <a:rPr lang="en-US" sz="2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7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我梦想中的未来</a:t>
            </a:r>
            <a:endParaRPr lang="en-US" sz="2700" dirty="0"/>
          </a:p>
        </p:txBody>
      </p:sp>
      <p:sp>
        <p:nvSpPr>
          <p:cNvPr id="20" name="Text 8"/>
          <p:cNvSpPr/>
          <p:nvPr/>
        </p:nvSpPr>
        <p:spPr>
          <a:xfrm>
            <a:off x="0" y="6362700"/>
            <a:ext cx="12192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2023년도 1학기 창의공학설계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14500"/>
            <a:ext cx="109728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933700"/>
            <a:ext cx="2571750" cy="2419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9725" y="31242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2600" y="32385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9950" y="2933700"/>
            <a:ext cx="2571750" cy="2419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0075" y="31242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2950" y="323850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933700"/>
            <a:ext cx="2571750" cy="2419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0425" y="31242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3238500"/>
            <a:ext cx="3619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650" y="2933700"/>
            <a:ext cx="2571750" cy="2419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0775" y="31242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53650" y="3238500"/>
            <a:ext cx="2857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362700"/>
            <a:ext cx="12192000" cy="4953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304800"/>
            <a:ext cx="82978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📘 Ⅰ. 여러분의 롤모델은 누구입니까? / 你的榜样是谁？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11264503" y="342900"/>
            <a:ext cx="3178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2/8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609600" y="11811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🔹 1. 롤모델 / 榜样</a:t>
            </a:r>
            <a:endParaRPr lang="en-US" sz="2700" dirty="0"/>
          </a:p>
        </p:txBody>
      </p:sp>
      <p:sp>
        <p:nvSpPr>
          <p:cNvPr id="21" name="Text 3"/>
          <p:cNvSpPr/>
          <p:nvPr/>
        </p:nvSpPr>
        <p:spPr>
          <a:xfrm>
            <a:off x="838200" y="1943100"/>
            <a:ext cx="274355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Elon Musk</a:t>
            </a:r>
            <a:endParaRPr lang="en-US" sz="3600" dirty="0"/>
          </a:p>
        </p:txBody>
      </p:sp>
      <p:sp>
        <p:nvSpPr>
          <p:cNvPr id="22" name="Text 4"/>
          <p:cNvSpPr/>
          <p:nvPr/>
        </p:nvSpPr>
        <p:spPr>
          <a:xfrm>
            <a:off x="3353098" y="2019300"/>
            <a:ext cx="914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endParaRPr lang="en-US" sz="1800" dirty="0"/>
          </a:p>
        </p:txBody>
      </p:sp>
      <p:sp>
        <p:nvSpPr>
          <p:cNvPr id="23" name="Text 5"/>
          <p:cNvSpPr/>
          <p:nvPr/>
        </p:nvSpPr>
        <p:spPr>
          <a:xfrm>
            <a:off x="3581698" y="2019300"/>
            <a:ext cx="719339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8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기술 혁신가, </a:t>
            </a:r>
            <a:r>
              <a:rPr lang="en-US" sz="1800" dirty="0" err="1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기업</a:t>
            </a:r>
            <a:r>
              <a:rPr lang="en-US" altLang="zh-CN" dirty="0" err="1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</a:t>
            </a:r>
            <a:r>
              <a:rPr lang="en-US" sz="18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공학자 / 技术创新家、企业家、工程师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853738" y="3790950"/>
            <a:ext cx="20834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스페이스X / SpaceX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800100" y="4133850"/>
            <a:ext cx="219075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재사용 로켓 개발(팔콘9), 민간 우주 여행 상용화 추진
可重复使用火箭开发（猎鹰9号），推动民间太空旅行商业化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3973785" y="3790950"/>
            <a:ext cx="14439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테슬라 / Tesla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3600450" y="4133850"/>
            <a:ext cx="219075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전기차 대중화, 자율주행 기술 개발, 에너지 저장 솔루션 제공
推动电动汽车普及，开发自动驾驶技术，提供储能解决方案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6441772" y="3790950"/>
            <a:ext cx="21086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솔라시티 / SolarCity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6403330" y="4133850"/>
            <a:ext cx="218554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태양광 발전 및 지속가능 에너지 보급
推广太阳能发电及可持续能源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9201150" y="3790950"/>
            <a:ext cx="21907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인공지능 / AI &amp; Neuralink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9201150" y="4400550"/>
            <a:ext cx="219075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인공지능 안전 연구, 뇌-컴퓨터 인터페이스 기술 개발
人工智能安全研究，开发脑机接口技术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609600" y="6515100"/>
            <a:ext cx="29219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 HANQING | 전자공학과 / 电子工程学</a:t>
            </a:r>
            <a:endParaRPr lang="en-US" sz="1050" dirty="0"/>
          </a:p>
        </p:txBody>
      </p:sp>
      <p:sp>
        <p:nvSpPr>
          <p:cNvPr id="33" name="Text 15"/>
          <p:cNvSpPr/>
          <p:nvPr/>
        </p:nvSpPr>
        <p:spPr>
          <a:xfrm>
            <a:off x="10840641" y="6515100"/>
            <a:ext cx="8901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2025106286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638300"/>
            <a:ext cx="109728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962150"/>
            <a:ext cx="1714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238500"/>
            <a:ext cx="26289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175" y="3400425"/>
            <a:ext cx="2857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0900" y="3238500"/>
            <a:ext cx="2628900" cy="1219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2475" y="3400425"/>
            <a:ext cx="2857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238500"/>
            <a:ext cx="2628900" cy="1219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7113" y="3400425"/>
            <a:ext cx="219075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0" y="3238500"/>
            <a:ext cx="2628900" cy="1219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25075" y="3400425"/>
            <a:ext cx="285750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143500"/>
            <a:ext cx="10972800" cy="91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5467350"/>
            <a:ext cx="257175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62700"/>
            <a:ext cx="12192000" cy="4953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304800"/>
            <a:ext cx="596288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가치와 중요성 / 核心价值与重要性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11264503" y="342900"/>
            <a:ext cx="3178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3/8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609600" y="1181100"/>
            <a:ext cx="10972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🔹 핵심 가치 / 核心价值</a:t>
            </a:r>
            <a:endParaRPr lang="en-US" sz="2250" dirty="0"/>
          </a:p>
        </p:txBody>
      </p:sp>
      <p:sp>
        <p:nvSpPr>
          <p:cNvPr id="20" name="Text 3"/>
          <p:cNvSpPr/>
          <p:nvPr/>
        </p:nvSpPr>
        <p:spPr>
          <a:xfrm>
            <a:off x="1123950" y="1828800"/>
            <a:ext cx="59566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제1원칙 사고방식을 통한 근본적 문제 </a:t>
            </a:r>
            <a:r>
              <a:rPr lang="en-US" sz="15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해결</a:t>
            </a: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ko-KR" alt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인간의 미래를 위해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1123950" y="2095500"/>
            <a:ext cx="59566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通过第一性原理解决根本问题，致力于人类未来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609600" y="2781300"/>
            <a:ext cx="10972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🔹 세부 가치 / 细微价值</a:t>
            </a:r>
            <a:endParaRPr lang="en-US" sz="2250" dirty="0"/>
          </a:p>
        </p:txBody>
      </p:sp>
      <p:sp>
        <p:nvSpPr>
          <p:cNvPr id="23" name="Text 6"/>
          <p:cNvSpPr/>
          <p:nvPr/>
        </p:nvSpPr>
        <p:spPr>
          <a:xfrm>
            <a:off x="1118071" y="3810000"/>
            <a:ext cx="16118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근본 진리 추구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1443990" y="4114800"/>
            <a:ext cx="960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追求根本真理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3927946" y="3810000"/>
            <a:ext cx="15546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불가능에 도전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4305300" y="4114800"/>
            <a:ext cx="80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挑战不可能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6474931" y="3810000"/>
            <a:ext cx="20232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빠른 </a:t>
            </a:r>
            <a:r>
              <a:rPr lang="en-US" sz="13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실행과</a:t>
            </a: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ko-KR" alt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개선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6926580" y="4114800"/>
            <a:ext cx="11201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快速执行与</a:t>
            </a:r>
            <a:r>
              <a:rPr lang="zh-CN" alt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改进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9359101" y="3810000"/>
            <a:ext cx="18175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실패 두려움 없음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9947910" y="411480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无惧失败</a:t>
            </a:r>
            <a:endParaRPr lang="en-US" sz="1050" dirty="0"/>
          </a:p>
        </p:txBody>
      </p:sp>
      <p:sp>
        <p:nvSpPr>
          <p:cNvPr id="31" name="Text 14"/>
          <p:cNvSpPr/>
          <p:nvPr/>
        </p:nvSpPr>
        <p:spPr>
          <a:xfrm>
            <a:off x="609600" y="4686300"/>
            <a:ext cx="10972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🔹 나에게 중요한 이유 / 为什么重要</a:t>
            </a:r>
            <a:endParaRPr lang="en-US" sz="2250" dirty="0"/>
          </a:p>
        </p:txBody>
      </p:sp>
      <p:sp>
        <p:nvSpPr>
          <p:cNvPr id="32" name="Text 15"/>
          <p:cNvSpPr/>
          <p:nvPr/>
        </p:nvSpPr>
        <p:spPr>
          <a:xfrm>
            <a:off x="1209675" y="5334000"/>
            <a:ext cx="96395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현상</a:t>
            </a:r>
            <a:r>
              <a:rPr lang="ko-KR" alt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 안주하지 않고</a:t>
            </a: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제1원칙 사고로 복잡한 공학 문제를 해결하며 혁신 기술 창조에 필요</a:t>
            </a:r>
            <a:endParaRPr lang="en-US" sz="1500" dirty="0"/>
          </a:p>
        </p:txBody>
      </p:sp>
      <p:sp>
        <p:nvSpPr>
          <p:cNvPr id="33" name="Text 16"/>
          <p:cNvSpPr/>
          <p:nvPr/>
        </p:nvSpPr>
        <p:spPr>
          <a:xfrm>
            <a:off x="1209675" y="5600700"/>
            <a:ext cx="96395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不满足现状，通过第一性原理解决复杂工程问题，创造颠覆性技术</a:t>
            </a:r>
            <a:endParaRPr lang="en-US" sz="1350" dirty="0"/>
          </a:p>
        </p:txBody>
      </p:sp>
      <p:sp>
        <p:nvSpPr>
          <p:cNvPr id="34" name="Text 17"/>
          <p:cNvSpPr/>
          <p:nvPr/>
        </p:nvSpPr>
        <p:spPr>
          <a:xfrm>
            <a:off x="609600" y="6515100"/>
            <a:ext cx="29219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 HANQING | 전자공학과 / 电子工程学</a:t>
            </a:r>
            <a:endParaRPr lang="en-US" sz="1050" dirty="0"/>
          </a:p>
        </p:txBody>
      </p:sp>
      <p:sp>
        <p:nvSpPr>
          <p:cNvPr id="35" name="Text 18"/>
          <p:cNvSpPr/>
          <p:nvPr/>
        </p:nvSpPr>
        <p:spPr>
          <a:xfrm>
            <a:off x="10840641" y="6515100"/>
            <a:ext cx="8901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2025106286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90700"/>
            <a:ext cx="5372100" cy="1809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9812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638" y="2066925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26098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29146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32194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790700"/>
            <a:ext cx="5372100" cy="1809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9812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066925"/>
            <a:ext cx="1714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26098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1432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829050"/>
            <a:ext cx="5372100" cy="21145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019550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638" y="4105275"/>
            <a:ext cx="25717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46482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49530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2578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5626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3829050"/>
            <a:ext cx="5372100" cy="21145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01955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4105275"/>
            <a:ext cx="17145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46482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49530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52578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362700"/>
            <a:ext cx="12192000" cy="4953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609600" y="304800"/>
            <a:ext cx="82978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📘 Ⅰ. 여러분의 롤모델은 누구입니까? / 你的榜样是谁？</a:t>
            </a:r>
            <a:endParaRPr lang="en-US" sz="2250" dirty="0"/>
          </a:p>
        </p:txBody>
      </p:sp>
      <p:sp>
        <p:nvSpPr>
          <p:cNvPr id="30" name="Text 1"/>
          <p:cNvSpPr/>
          <p:nvPr/>
        </p:nvSpPr>
        <p:spPr>
          <a:xfrm>
            <a:off x="11264503" y="342900"/>
            <a:ext cx="3178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4/8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609600" y="11811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🔹 4. 롤모델 분석 / 榜样分析</a:t>
            </a:r>
            <a:endParaRPr lang="en-US" sz="2700" dirty="0"/>
          </a:p>
        </p:txBody>
      </p:sp>
      <p:sp>
        <p:nvSpPr>
          <p:cNvPr id="32" name="Text 3"/>
          <p:cNvSpPr/>
          <p:nvPr/>
        </p:nvSpPr>
        <p:spPr>
          <a:xfrm>
            <a:off x="1390650" y="2066925"/>
            <a:ext cx="24994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성공 요인 / 成功因素</a:t>
            </a:r>
            <a:endParaRPr lang="en-US" sz="1800" dirty="0"/>
          </a:p>
        </p:txBody>
      </p:sp>
      <p:sp>
        <p:nvSpPr>
          <p:cNvPr id="33" name="Text 4"/>
          <p:cNvSpPr/>
          <p:nvPr/>
        </p:nvSpPr>
        <p:spPr>
          <a:xfrm>
            <a:off x="1181100" y="2571750"/>
            <a:ext cx="53951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제1원칙 사고로 산업 비효율 극복 / 通过第一性原理克服产业低效率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1181100" y="2876550"/>
            <a:ext cx="26315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과감한 비전 제시 / 提出果敢愿景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1181100" y="3181350"/>
            <a:ext cx="28144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멈추지 않는 실행력 / 持续执行能力</a:t>
            </a:r>
            <a:endParaRPr lang="en-US" sz="1200" dirty="0"/>
          </a:p>
        </p:txBody>
      </p:sp>
      <p:sp>
        <p:nvSpPr>
          <p:cNvPr id="36" name="Text 7"/>
          <p:cNvSpPr/>
          <p:nvPr/>
        </p:nvSpPr>
        <p:spPr>
          <a:xfrm>
            <a:off x="6991350" y="2066925"/>
            <a:ext cx="24994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실패 극복 / 克服失败</a:t>
            </a:r>
            <a:endParaRPr lang="en-US" sz="1800" dirty="0"/>
          </a:p>
        </p:txBody>
      </p:sp>
      <p:sp>
        <p:nvSpPr>
          <p:cNvPr id="37" name="Text 8"/>
          <p:cNvSpPr/>
          <p:nvPr/>
        </p:nvSpPr>
        <p:spPr>
          <a:xfrm>
            <a:off x="6781800" y="257175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불굴의 의지와 새로운 아이디어에 대한 개방성 / 不屈意志和对新想法的开放性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6781800" y="3105150"/>
            <a:ext cx="34398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"먼저 부정하지 않음" / 保持"先不否定"态度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1390650" y="4105275"/>
            <a:ext cx="13260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강점 / 优点</a:t>
            </a:r>
            <a:endParaRPr lang="en-US" sz="1800" dirty="0"/>
          </a:p>
        </p:txBody>
      </p:sp>
      <p:sp>
        <p:nvSpPr>
          <p:cNvPr id="40" name="Text 11"/>
          <p:cNvSpPr/>
          <p:nvPr/>
        </p:nvSpPr>
        <p:spPr>
          <a:xfrm>
            <a:off x="1181100" y="4610100"/>
            <a:ext cx="2214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문제 민첩성 / 敏锐发现问题</a:t>
            </a:r>
            <a:endParaRPr lang="en-US" sz="1200" dirty="0"/>
          </a:p>
        </p:txBody>
      </p:sp>
      <p:sp>
        <p:nvSpPr>
          <p:cNvPr id="41" name="Text 12"/>
          <p:cNvSpPr/>
          <p:nvPr/>
        </p:nvSpPr>
        <p:spPr>
          <a:xfrm>
            <a:off x="1181100" y="4914900"/>
            <a:ext cx="31802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논리/수학적 기초 / 扎实逻辑与数学基础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1181100" y="5219700"/>
            <a:ext cx="3413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외국어 및 소통 능력 / 优秀外语及沟通能力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1181100" y="5524500"/>
            <a:ext cx="3596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기술과 경제 통합 사고 / 工程与经济结合思考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6991350" y="4105275"/>
            <a:ext cx="13260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철학 / 哲学</a:t>
            </a:r>
            <a:endParaRPr lang="en-US" sz="1800" dirty="0"/>
          </a:p>
        </p:txBody>
      </p:sp>
      <p:sp>
        <p:nvSpPr>
          <p:cNvPr id="45" name="Text 16"/>
          <p:cNvSpPr/>
          <p:nvPr/>
        </p:nvSpPr>
        <p:spPr>
          <a:xfrm>
            <a:off x="6781800" y="4610100"/>
            <a:ext cx="45619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인류 미래 중요한 문제에 전념 / 专注于人类未来重要问题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781800" y="4914900"/>
            <a:ext cx="2032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위험 감수 / 勇于承担风险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6781800" y="5219700"/>
            <a:ext cx="38056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"불가능은 없다" 신념 / 秉持"没有不可能"的信念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609600" y="6515100"/>
            <a:ext cx="29219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 HANQING | 전자공학과 / 电子工程学</a:t>
            </a:r>
            <a:endParaRPr lang="en-US" sz="1050" dirty="0"/>
          </a:p>
        </p:txBody>
      </p:sp>
      <p:sp>
        <p:nvSpPr>
          <p:cNvPr id="49" name="Text 20"/>
          <p:cNvSpPr/>
          <p:nvPr/>
        </p:nvSpPr>
        <p:spPr>
          <a:xfrm>
            <a:off x="10840641" y="6515100"/>
            <a:ext cx="8901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2025106286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00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76300"/>
            <a:ext cx="5410200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9906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1076325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463" y="1295400"/>
            <a:ext cx="2205038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876300"/>
            <a:ext cx="5410200" cy="1676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9906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1076325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3063" y="1295400"/>
            <a:ext cx="2205038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705100"/>
            <a:ext cx="5410200" cy="2095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2819400"/>
            <a:ext cx="476250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9150" y="2905125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43025" y="3543300"/>
            <a:ext cx="4562475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2705100"/>
            <a:ext cx="5410200" cy="2095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0" y="281940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0325" y="2905125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05625" y="3924300"/>
            <a:ext cx="4562475" cy="762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362700"/>
            <a:ext cx="12192000" cy="4953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228600"/>
            <a:ext cx="334488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🔹 실제 성과 / 主要成就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11264503" y="266700"/>
            <a:ext cx="3178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5/8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343025" y="990600"/>
            <a:ext cx="45624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스페이스X / SpaceX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1343025" y="1295400"/>
            <a:ext cx="2281238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재사용 로켓 개발(팔콘9)
• 민간 우주 여행 상용화 추진
</a:t>
            </a: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可重复使用火箭开发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推动民间太空旅行商业化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6905625" y="990600"/>
            <a:ext cx="45624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테슬라 / Tesla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6905625" y="1295400"/>
            <a:ext cx="228123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전기차 대중화
• 자율주행 기술 개발
• 에너지 저장 솔루션 제공
</a:t>
            </a: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推动电动汽车普及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开发自动驾驶技术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提供储能解决方案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1343025" y="2819400"/>
            <a:ext cx="45624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솔라시티 / SolarCity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1343025" y="3124200"/>
            <a:ext cx="4562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태양광 발전 및 지속가능 에너지 보급
</a:t>
            </a: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推广太阳能发电及可持续能源</a:t>
            </a:r>
            <a:endParaRPr lang="en-US" sz="1050" dirty="0"/>
          </a:p>
        </p:txBody>
      </p:sp>
      <p:sp>
        <p:nvSpPr>
          <p:cNvPr id="29" name="Text 8"/>
          <p:cNvSpPr/>
          <p:nvPr/>
        </p:nvSpPr>
        <p:spPr>
          <a:xfrm>
            <a:off x="6905625" y="2819400"/>
            <a:ext cx="5474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인공지능 &amp; 뇌-컴퓨터 인터페이스 / Neuralink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6905625" y="3124200"/>
            <a:ext cx="4562475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인공지능 안전 연구
• 뇌-컴퓨터 인터페이스 기술 개발
</a:t>
            </a: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人工智能安全研究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开发脑机接口技术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609600" y="6515100"/>
            <a:ext cx="29219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 HANQING | 전자공학과 / 电子工程学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10840641" y="6515100"/>
            <a:ext cx="8901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2025106286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90700"/>
            <a:ext cx="5334000" cy="133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019300"/>
            <a:ext cx="666750" cy="666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2181225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790700"/>
            <a:ext cx="5334000" cy="1333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2019300"/>
            <a:ext cx="666750" cy="666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6550" y="2181225"/>
            <a:ext cx="2476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429000"/>
            <a:ext cx="5334000" cy="1600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3657600"/>
            <a:ext cx="666750" cy="666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700" y="3819525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429000"/>
            <a:ext cx="5334000" cy="1600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3657600"/>
            <a:ext cx="666750" cy="666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7500" y="3819525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362700"/>
            <a:ext cx="12192000" cy="4953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304800"/>
            <a:ext cx="82978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📘 Ⅰ. 여러분의 롤모델은 누구입니까? / 你的榜样是谁？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11264503" y="342900"/>
            <a:ext cx="3178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6/8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609600" y="1181100"/>
            <a:ext cx="1086394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🔹 5. 롤모델처럼 살기 위한 方法 / 实现榜样的方法</a:t>
            </a:r>
            <a:endParaRPr lang="en-US" sz="2700" dirty="0"/>
          </a:p>
        </p:txBody>
      </p:sp>
      <p:sp>
        <p:nvSpPr>
          <p:cNvPr id="20" name="Text 3"/>
          <p:cNvSpPr/>
          <p:nvPr/>
        </p:nvSpPr>
        <p:spPr>
          <a:xfrm>
            <a:off x="1695450" y="2019300"/>
            <a:ext cx="395513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사고방식 / 思维方式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1695450" y="2400300"/>
            <a:ext cx="39551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문제의 근본 요소를 묻는 제1원칙 사고 습관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1695450" y="2705100"/>
            <a:ext cx="39551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养成问问题根本要素的第一性原理思维习惯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7334250" y="2019300"/>
            <a:ext cx="381014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학업 / 学业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7334250" y="2400300"/>
            <a:ext cx="45721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전자공학 외 경제·물리·수학 등 다학제적 기초 강화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7334250" y="2705100"/>
            <a:ext cx="45721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除电子工程外，加强经济、物理、数学等多学科基础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1695450" y="3657600"/>
            <a:ext cx="40195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실행 / 执行</a:t>
            </a:r>
            <a:endParaRPr lang="en-US" sz="1800" dirty="0"/>
          </a:p>
        </p:txBody>
      </p:sp>
      <p:sp>
        <p:nvSpPr>
          <p:cNvPr id="27" name="Text 10"/>
          <p:cNvSpPr/>
          <p:nvPr/>
        </p:nvSpPr>
        <p:spPr>
          <a:xfrm>
            <a:off x="1695450" y="4038600"/>
            <a:ext cx="4019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실패 두려움 없이 프로젝트 시도, 민첩성과 문제 해결 동기 강화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1695450" y="4610100"/>
            <a:ext cx="4823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不惧失败，积极尝试项目，培养敏锐性和解决问题的动机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7334250" y="3657600"/>
            <a:ext cx="40195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국제화 / 国际化</a:t>
            </a:r>
            <a:endParaRPr lang="en-US" sz="1800" dirty="0"/>
          </a:p>
        </p:txBody>
      </p:sp>
      <p:sp>
        <p:nvSpPr>
          <p:cNvPr id="30" name="Text 13"/>
          <p:cNvSpPr/>
          <p:nvPr/>
        </p:nvSpPr>
        <p:spPr>
          <a:xfrm>
            <a:off x="7334250" y="4038600"/>
            <a:ext cx="4019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전문 영어 능력 향상, 글로벌 기술 트렌드 이해와 소통</a:t>
            </a:r>
            <a:endParaRPr lang="en-US" sz="1350" dirty="0"/>
          </a:p>
        </p:txBody>
      </p:sp>
      <p:sp>
        <p:nvSpPr>
          <p:cNvPr id="31" name="Text 14"/>
          <p:cNvSpPr/>
          <p:nvPr/>
        </p:nvSpPr>
        <p:spPr>
          <a:xfrm>
            <a:off x="7334250" y="4610100"/>
            <a:ext cx="4823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提升专业英语能力，理解全球技术趋势并能沟通</a:t>
            </a:r>
            <a:endParaRPr lang="en-US" sz="1050" dirty="0"/>
          </a:p>
        </p:txBody>
      </p:sp>
      <p:sp>
        <p:nvSpPr>
          <p:cNvPr id="32" name="Text 15"/>
          <p:cNvSpPr/>
          <p:nvPr/>
        </p:nvSpPr>
        <p:spPr>
          <a:xfrm>
            <a:off x="609600" y="6515100"/>
            <a:ext cx="29219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 HANQING | 전자공학과 / 电子工程学</a:t>
            </a:r>
            <a:endParaRPr lang="en-US" sz="1050" dirty="0"/>
          </a:p>
        </p:txBody>
      </p:sp>
      <p:sp>
        <p:nvSpPr>
          <p:cNvPr id="33" name="Text 16"/>
          <p:cNvSpPr/>
          <p:nvPr/>
        </p:nvSpPr>
        <p:spPr>
          <a:xfrm>
            <a:off x="10840641" y="6515100"/>
            <a:ext cx="8901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2025106286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676400"/>
            <a:ext cx="5181600" cy="2247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495800"/>
            <a:ext cx="5181600" cy="1676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638300"/>
            <a:ext cx="2533650" cy="1943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2825" y="179070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8088" y="1924050"/>
            <a:ext cx="219075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0" y="1638300"/>
            <a:ext cx="2533650" cy="1943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0775" y="17907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2700" y="19240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695700"/>
            <a:ext cx="2533650" cy="1943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2825" y="38481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0" y="398145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0" y="3695700"/>
            <a:ext cx="2533650" cy="1943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10775" y="3848100"/>
            <a:ext cx="6096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06038" y="3981450"/>
            <a:ext cx="219075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362700"/>
            <a:ext cx="12192000" cy="4953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304800"/>
            <a:ext cx="387834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📘 Ⅱ. 미래 모습 / 未来形象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11264503" y="342900"/>
            <a:ext cx="3178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7/8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609600" y="1143000"/>
            <a:ext cx="62179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🔹 1. 미래 모습 / 未来自己</a:t>
            </a:r>
            <a:endParaRPr lang="en-US" sz="2700" dirty="0"/>
          </a:p>
        </p:txBody>
      </p:sp>
      <p:sp>
        <p:nvSpPr>
          <p:cNvPr id="22" name="Text 3"/>
          <p:cNvSpPr/>
          <p:nvPr/>
        </p:nvSpPr>
        <p:spPr>
          <a:xfrm>
            <a:off x="800100" y="1866900"/>
            <a:ext cx="5760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电子工程领域创新者 / 电子工程领域的创新者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800100" y="2209800"/>
            <a:ext cx="4800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전자공학 분야에서 제1원칙 사고방식을 적용하여 혁신적 제품·시스템 설계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800100" y="2857500"/>
            <a:ext cx="5760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工程师兼企业家 / 工程师兼企业家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800100" y="3200400"/>
            <a:ext cx="4800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대규모 기술 프로젝트를 주도하며, 논리·수학적 사고로 문제를 돌파하고 인류 삶을 개선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6400800" y="1143000"/>
            <a:ext cx="5181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혁신 영역 / 创新领域</a:t>
            </a:r>
            <a:endParaRPr lang="en-US" sz="2250" dirty="0"/>
          </a:p>
        </p:txBody>
      </p:sp>
      <p:sp>
        <p:nvSpPr>
          <p:cNvPr id="27" name="Text 8"/>
          <p:cNvSpPr/>
          <p:nvPr/>
        </p:nvSpPr>
        <p:spPr>
          <a:xfrm>
            <a:off x="6397481" y="2476500"/>
            <a:ext cx="25401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에너지 효율성 / 能源效率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6553200" y="2781300"/>
            <a:ext cx="2228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제1원칙 사고로 에너지 효율 문제를 재정의하고 해결책을 제시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9201150" y="2476500"/>
            <a:ext cx="22288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인공지능 통합 / 人工智能集成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9201150" y="3048000"/>
            <a:ext cx="2228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인공지능 기술을 전자공학에 통합하여 새로운 가능성을 창출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6626081" y="4533900"/>
            <a:ext cx="20829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우주 통신 / 太空通信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6553200" y="4838700"/>
            <a:ext cx="2228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우주 환경에适한 통신 기술 개발로 인류의 공간 탐색 지원</a:t>
            </a:r>
            <a:endParaRPr lang="en-US" sz="1050" dirty="0"/>
          </a:p>
        </p:txBody>
      </p:sp>
      <p:sp>
        <p:nvSpPr>
          <p:cNvPr id="33" name="Text 14"/>
          <p:cNvSpPr/>
          <p:nvPr/>
        </p:nvSpPr>
        <p:spPr>
          <a:xfrm>
            <a:off x="9201150" y="4533900"/>
            <a:ext cx="22288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제1원칙 사고 / 第一性原理思维</a:t>
            </a:r>
            <a:endParaRPr lang="en-US" sz="1500" dirty="0"/>
          </a:p>
        </p:txBody>
      </p:sp>
      <p:sp>
        <p:nvSpPr>
          <p:cNvPr id="34" name="Text 15"/>
          <p:cNvSpPr/>
          <p:nvPr/>
        </p:nvSpPr>
        <p:spPr>
          <a:xfrm>
            <a:off x="9201150" y="5105400"/>
            <a:ext cx="2228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근본적인 질문으로 문제를 재정의하고 혁신적인 해결책을 도출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609600" y="6515100"/>
            <a:ext cx="29219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 HANQING | 전자공학과 / 电子工程学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10840641" y="6515100"/>
            <a:ext cx="8901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2025106286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90700"/>
            <a:ext cx="5372100" cy="1409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1981200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4384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25527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790700"/>
            <a:ext cx="5372100" cy="1409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1300" y="1981200"/>
            <a:ext cx="3429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43840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2725" y="2552700"/>
            <a:ext cx="2476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429000"/>
            <a:ext cx="5372100" cy="1409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3619500"/>
            <a:ext cx="34290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0767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25" y="4191000"/>
            <a:ext cx="3238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429000"/>
            <a:ext cx="5372100" cy="1409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3619500"/>
            <a:ext cx="34290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0767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43675" y="4191000"/>
            <a:ext cx="2857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362700"/>
            <a:ext cx="12192000" cy="4953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304800"/>
            <a:ext cx="387834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📘 Ⅱ. 미래 모습 / 未来形象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11264503" y="342900"/>
            <a:ext cx="3178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8/8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609600" y="11811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🔹 2. 미래 실현을 위한 현재 행동 / 实现未来的行动</a:t>
            </a:r>
            <a:endParaRPr lang="en-US" sz="2700" dirty="0"/>
          </a:p>
        </p:txBody>
      </p:sp>
      <p:sp>
        <p:nvSpPr>
          <p:cNvPr id="24" name="Text 3"/>
          <p:cNvSpPr/>
          <p:nvPr/>
        </p:nvSpPr>
        <p:spPr>
          <a:xfrm>
            <a:off x="1111151" y="1981200"/>
            <a:ext cx="4114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40" dirty="0"/>
          </a:p>
        </p:txBody>
      </p:sp>
      <p:sp>
        <p:nvSpPr>
          <p:cNvPr id="25" name="Text 4"/>
          <p:cNvSpPr/>
          <p:nvPr/>
        </p:nvSpPr>
        <p:spPr>
          <a:xfrm>
            <a:off x="1676400" y="1981200"/>
            <a:ext cx="36450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제1원칙 사고 훈련 / 第一性原理思维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1676400" y="2324100"/>
            <a:ext cx="303758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매일 문제에 대해 "왜?" 반복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1676400" y="2552700"/>
            <a:ext cx="364509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每天对遇到的问题重复问"为什么？"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6711851" y="1981200"/>
            <a:ext cx="4114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40" dirty="0"/>
          </a:p>
        </p:txBody>
      </p:sp>
      <p:sp>
        <p:nvSpPr>
          <p:cNvPr id="29" name="Text 8"/>
          <p:cNvSpPr/>
          <p:nvPr/>
        </p:nvSpPr>
        <p:spPr>
          <a:xfrm>
            <a:off x="7277100" y="1981200"/>
            <a:ext cx="2720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전공 심화 / 专业基础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7277100" y="2324100"/>
            <a:ext cx="2720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과목 원리 완벽 이해, 응용력 강화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7277100" y="2552700"/>
            <a:ext cx="2720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完全理解核心课程原理，强化应用能力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1111151" y="3619500"/>
            <a:ext cx="4114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40" dirty="0"/>
          </a:p>
        </p:txBody>
      </p:sp>
      <p:sp>
        <p:nvSpPr>
          <p:cNvPr id="33" name="Text 12"/>
          <p:cNvSpPr/>
          <p:nvPr/>
        </p:nvSpPr>
        <p:spPr>
          <a:xfrm>
            <a:off x="1676400" y="3619500"/>
            <a:ext cx="457860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실제 프로젝트 경험 / 实践项目</a:t>
            </a:r>
            <a:endParaRPr lang="en-US" sz="1500" dirty="0"/>
          </a:p>
        </p:txBody>
      </p:sp>
      <p:sp>
        <p:nvSpPr>
          <p:cNvPr id="34" name="Text 13"/>
          <p:cNvSpPr/>
          <p:nvPr/>
        </p:nvSpPr>
        <p:spPr>
          <a:xfrm>
            <a:off x="1676400" y="3962400"/>
            <a:ext cx="45786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MCU·프로그래밍 활용, 실생활 문제 해결 프로젝트 최소 3회 수행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1676400" y="4191000"/>
            <a:ext cx="45786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使用微控制器或编程，至少完成3个解决实际问题的小项目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6711851" y="3619500"/>
            <a:ext cx="4114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40" dirty="0"/>
          </a:p>
        </p:txBody>
      </p:sp>
      <p:sp>
        <p:nvSpPr>
          <p:cNvPr id="37" name="Text 16"/>
          <p:cNvSpPr/>
          <p:nvPr/>
        </p:nvSpPr>
        <p:spPr>
          <a:xfrm>
            <a:off x="7277100" y="3619500"/>
            <a:ext cx="4480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외국어 및 경제 학습 / 外语与经济</a:t>
            </a:r>
            <a:endParaRPr lang="en-US" sz="1500" dirty="0"/>
          </a:p>
        </p:txBody>
      </p:sp>
      <p:sp>
        <p:nvSpPr>
          <p:cNvPr id="38" name="Text 17"/>
          <p:cNvSpPr/>
          <p:nvPr/>
        </p:nvSpPr>
        <p:spPr>
          <a:xfrm>
            <a:off x="7277100" y="3962400"/>
            <a:ext cx="44805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영어 원서 학습, 경제·경영 기초 학습, 기술 사업화 능력 확보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7277100" y="4191000"/>
            <a:ext cx="44805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阅读英文原版资料，学习经济与管理基础，掌握技术商业化能力</a:t>
            </a:r>
            <a:endParaRPr lang="en-US" sz="1050" dirty="0"/>
          </a:p>
        </p:txBody>
      </p:sp>
      <p:sp>
        <p:nvSpPr>
          <p:cNvPr id="40" name="Text 19"/>
          <p:cNvSpPr/>
          <p:nvPr/>
        </p:nvSpPr>
        <p:spPr>
          <a:xfrm>
            <a:off x="609600" y="6515100"/>
            <a:ext cx="29219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 HANQING | 전자공학과 / 电子工程学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10840641" y="6515100"/>
            <a:ext cx="8901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2025106286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PresentationFormat>宽屏</PresentationFormat>
  <Paragraphs>145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Montserrat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瀚庆 吴</cp:lastModifiedBy>
  <cp:revision>16</cp:revision>
  <dcterms:created xsi:type="dcterms:W3CDTF">2025-11-17T10:00:39Z</dcterms:created>
  <dcterms:modified xsi:type="dcterms:W3CDTF">2025-11-17T10:12:55Z</dcterms:modified>
</cp:coreProperties>
</file>